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770e7a8419e4daa" /><Relationship Type="http://schemas.openxmlformats.org/officeDocument/2006/relationships/extended-properties" Target="/docProps/app.xml" Id="R0f5ee0792dd74c43" /><Relationship Type="http://schemas.openxmlformats.org/officeDocument/2006/relationships/officeDocument" Target="/ppt/presentation.xml" Id="Rb991b70472524b60" /></Relationships>
</file>

<file path=ppt/presentation.xml><?xml version="1.0" encoding="utf-8"?>
<p:presentation xmlns:p="http://schemas.openxmlformats.org/presentationml/2006/main">
  <p:sldMasterIdLst>
    <p:sldMasterId xmlns:r="http://schemas.openxmlformats.org/officeDocument/2006/relationships" id="2147483648" r:id="R842063fbc1144fd3"/>
  </p:sldMasterIdLst>
  <p:notesMasterIdLst>
    <p:notesMasterId xmlns:r="http://schemas.openxmlformats.org/officeDocument/2006/relationships" r:id="Rf0c6269868b94c8f"/>
  </p:notesMasterIdLst>
  <p:sldIdLst>
    <p:sldId xmlns:r="http://schemas.openxmlformats.org/officeDocument/2006/relationships" id="256" r:id="R8c2e70ecd75b4a42"/>
    <p:sldId xmlns:r="http://schemas.openxmlformats.org/officeDocument/2006/relationships" id="257" r:id="Rf12b8231a5e84007"/>
    <p:sldId xmlns:r="http://schemas.openxmlformats.org/officeDocument/2006/relationships" id="258" r:id="R41691f23f4494d5a"/>
    <p:sldId xmlns:r="http://schemas.openxmlformats.org/officeDocument/2006/relationships" id="259" r:id="R21fb1271fc224028"/>
    <p:sldId xmlns:r="http://schemas.openxmlformats.org/officeDocument/2006/relationships" id="260" r:id="R42afdbfc424e4870"/>
    <p:sldId xmlns:r="http://schemas.openxmlformats.org/officeDocument/2006/relationships" id="261" r:id="R8215af2aa363488c"/>
    <p:sldId xmlns:r="http://schemas.openxmlformats.org/officeDocument/2006/relationships" id="262" r:id="R73456f9b384a4492"/>
    <p:sldId xmlns:r="http://schemas.openxmlformats.org/officeDocument/2006/relationships" id="263" r:id="Rb1f50dd29556460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0702ecf2f145dc" /><Relationship Type="http://schemas.openxmlformats.org/officeDocument/2006/relationships/slideMaster" Target="/ppt/slideMasters/slideMaster1.xml" Id="R842063fbc1144fd3" /><Relationship Type="http://schemas.openxmlformats.org/officeDocument/2006/relationships/notesMaster" Target="/ppt/notesMasters/notesMaster1.xml" Id="Rf0c6269868b94c8f" /><Relationship Type="http://schemas.openxmlformats.org/officeDocument/2006/relationships/presProps" Target="/ppt/presProps.xml" Id="Ra6018a28784d4e95" /><Relationship Type="http://schemas.openxmlformats.org/officeDocument/2006/relationships/tableStyles" Target="/ppt/tableStyles.xml" Id="Rf63586f1b7774959" /><Relationship Type="http://schemas.openxmlformats.org/officeDocument/2006/relationships/slide" Target="/ppt/slides/slide1.xml" Id="R8c2e70ecd75b4a42" /><Relationship Type="http://schemas.openxmlformats.org/officeDocument/2006/relationships/slide" Target="/ppt/slides/slide2.xml" Id="Rf12b8231a5e84007" /><Relationship Type="http://schemas.openxmlformats.org/officeDocument/2006/relationships/slide" Target="/ppt/slides/slide3.xml" Id="R41691f23f4494d5a" /><Relationship Type="http://schemas.openxmlformats.org/officeDocument/2006/relationships/slide" Target="/ppt/slides/slide4.xml" Id="R21fb1271fc224028" /><Relationship Type="http://schemas.openxmlformats.org/officeDocument/2006/relationships/slide" Target="/ppt/slides/slide5.xml" Id="R42afdbfc424e4870" /><Relationship Type="http://schemas.openxmlformats.org/officeDocument/2006/relationships/slide" Target="/ppt/slides/slide6.xml" Id="R8215af2aa363488c" /><Relationship Type="http://schemas.openxmlformats.org/officeDocument/2006/relationships/slide" Target="/ppt/slides/slide7.xml" Id="R73456f9b384a4492" /><Relationship Type="http://schemas.openxmlformats.org/officeDocument/2006/relationships/slide" Target="/ppt/slides/slide8.xml" Id="Rb1f50dd29556460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459560babb44e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5e5a068d64450a" /><Relationship Type="http://schemas.openxmlformats.org/officeDocument/2006/relationships/notesMaster" Target="/ppt/notesMasters/notesMaster1.xml" Id="R6908249273fc47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2c8364e4424f0c" /><Relationship Type="http://schemas.openxmlformats.org/officeDocument/2006/relationships/notesMaster" Target="/ppt/notesMasters/notesMaster1.xml" Id="R8e3135c693064c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45df739f2946b6" /><Relationship Type="http://schemas.openxmlformats.org/officeDocument/2006/relationships/notesMaster" Target="/ppt/notesMasters/notesMaster1.xml" Id="Re7a2008ffb544c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059fe2ed774159" /><Relationship Type="http://schemas.openxmlformats.org/officeDocument/2006/relationships/notesMaster" Target="/ppt/notesMasters/notesMaster1.xml" Id="R8c33e0dfabd54b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d24335e7c34039" /><Relationship Type="http://schemas.openxmlformats.org/officeDocument/2006/relationships/notesMaster" Target="/ppt/notesMasters/notesMaster1.xml" Id="Ra22803f24d3d4b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0308882fab4526" /><Relationship Type="http://schemas.openxmlformats.org/officeDocument/2006/relationships/notesMaster" Target="/ppt/notesMasters/notesMaster1.xml" Id="R2a94fd1e483e439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5d17718f3e4b05" /><Relationship Type="http://schemas.openxmlformats.org/officeDocument/2006/relationships/notesMaster" Target="/ppt/notesMasters/notesMaster1.xml" Id="R95f41efbca174f8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23fa89ee724bea" /><Relationship Type="http://schemas.openxmlformats.org/officeDocument/2006/relationships/notesMaster" Target="/ppt/notesMasters/notesMaster1.xml" Id="Rd04bf4935acf41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 Giới thiệu đề tài và câu hỏi: với cùng dữ liệu/folds, TPE có cải thiện CV AUC so với cấu hình mặc định và chi phí bao nhiêu? Đây là benchmark học thuật. Repo: https://github.com/huyryan220806/random-forest-optuna-optimization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0:25–1:05. 569 mẫu, 30 đặc trưng; nhãn gốc sklearn malignant=0 được đảo thành malignant=1. Split stratified một lần, train 455 và holdout 114. Chỉ train đi vào CV và tuning. Chốt winner trước test. Nguồn: https://scikit-learn.org/1.7/modules/generated/sklearn.datasets.load_breast_cancer.html ; https://doi.org/10.24432/C5DW2B . Nguồn số liệu: results/baseline.json, best_config.json, trials.csv, final_metrics.json trong repository. Thực nghiệm chính 25/10/2026, seed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1:05–1:50. x là ba tham số trong bảng. Ω có 5×7×8=280 cấu hình. Min âm mean AUC tương đương maximize trong code. Baseline mặc định nằm trong miền. 30 trials, 3-fold/trial; baseline ngoài budget search. Thời gian là chi phí đo, không phải ràng buộc cứng. Nguồn số liệu: results/baseline.json, best_config.json, trials.csv, final_metrics.json trong repository. Thực nghiệm chính 25/10/2026, seed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1:50–2:35. Baseline giữ mọi mặc định trừ seed và n_jobs. TPE phân nhóm lịch sử theo điểm tốt/còn lại, ước lượng l(x), g(x), ưu tiên tỷ lệ cao. Optuna dùng 10 startup trials; smoke 3 trials chưa đi vào giai đoạn khai thác lịch sử. Log cập nhật sau mỗi trial, có state và error; lỗi không gán score giả. Nguồn: https://optuna.readthedocs.io/en/v4.5.0/reference/samplers/generated/optuna.samplers.TPESampler.html ; https://papers.nips.cc/paper/4443-algorithms-for-hyper-parameter-optimization.pdf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2:35–3:20. Đường best-so-far không giảm theo định nghĩa. Best #10 là lần đánh giá 11. Delta CV 0.000395726, khoảng 0.0396 điểm phần trăm. Std 0.003436 baseline và 0.004250 optimized; không phải CI nhiều seed. Trục AUC thu hẹp để đọc chênh lệch nhỏ. Nguồn số liệu: results/baseline.json, best_config.json, trials.csv, final_metrics.json trong repository. Thực nghiệm chính 25/10/2026, seed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3:20–4:00. Một điểm là một trial COMPLETE; x là duration_sec gồm sampling, tạo model, CV và metric logging. Search tổng bao gồm checkpoint CSV, loại trừ baseline CV. Không có latency constraint. Đo thời gian một lần. Nguồn số liệu: results/baseline.json, best_config.json, trials.csv, final_metrics.json trong repository. Thực nghiệm chính 25/10/2026, seed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4:00–4:45. 114 mẫu test. Winner từ CV, không đổi ngưỡng. AUC tăng nhẹ nhưng các chỉ số phân loại không đổi, do AUC đánh giá thứ tự xác suất còn F1 tại ngưỡng 0.5. Matrix [[72,0],[3,39]] hàng thật, cột dự đoán. Một predict_proba batch 114 mẫu/model. Nguồn số liệu: results/baseline.json, best_config.json, trials.csv, final_metrics.json trong repository. Thực nghiệm chính 25/10/2026, seed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4:45–5:20. Giữ optimized theo quy tắc CV trước test, ít cây hơn, chi phí search thêm gần 25 giây. Không tuyên bố ý nghĩa thống kê/hiệu quả lâm sàng. 5:20–6:30 chuyển terminal theo report/DEMO.md: smoke 3, đọc cached final, sinh hình riêng; chỉ ra source code objective không nhận holdout. Chốt kết luận và nguồn. Nguồn số liệu: results/baseline.json, best_config.json, trials.csv, final_metrics.json trong repository. Thực nghiệm chính 25/10/2026, seed 42. Repo: https://github.com/huyryan220806/random-forest-optuna-optimization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ec6033f6764b1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08c2a2ebf364ec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9828d3aa8a04a0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dfeb597fd30493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5a04ec28ae04d1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33189f4dc5a49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8F17E2-CEDB-4766-996E-F9200292D99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7409093-EAD1-4A72-BE54-DE306AA4FE0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4F118E0-2251-4846-912B-68A789A8793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9ECFD5-B3D2-4D89-B05B-83A8C4AB74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1F4B34F-C3F8-4A9F-A2BB-F1117A9C8FF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88A7E91-E1AF-462D-A3B0-DA978E180C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4E25FC-8797-432F-8371-FF3E93F81C7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9CE7AAB-F284-4C17-A9FE-05910AA3716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0784BC-0EFE-48A1-9F6C-B03C6D5304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6E3E9A2-1A40-4F04-ADBB-49E8AD03E3A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132989c50b475e" /><Relationship Type="http://schemas.openxmlformats.org/officeDocument/2006/relationships/slideLayout" Target="/ppt/slideLayouts/slideLayout1.xml" Id="R58c3cf33b6f54518" /><Relationship Type="http://schemas.openxmlformats.org/officeDocument/2006/relationships/slideLayout" Target="/ppt/slideLayouts/slideLayout2.xml" Id="R12886a34522d4e76" /><Relationship Type="http://schemas.openxmlformats.org/officeDocument/2006/relationships/slideLayout" Target="/ppt/slideLayouts/slideLayout3.xml" Id="Re7f51efabc6f4d49" /><Relationship Type="http://schemas.openxmlformats.org/officeDocument/2006/relationships/slideLayout" Target="/ppt/slideLayouts/slideLayout4.xml" Id="Rfc1eeebd60a740f9" /><Relationship Type="http://schemas.openxmlformats.org/officeDocument/2006/relationships/slideLayout" Target="/ppt/slideLayouts/slideLayout5.xml" Id="R73b5f97c17cc4b3d" /><Relationship Type="http://schemas.openxmlformats.org/officeDocument/2006/relationships/slideLayout" Target="/ppt/slideLayouts/slideLayout6.xml" Id="Reb6ba071ab0b4c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c3cf33b6f54518"/>
    <p:sldLayoutId xmlns:r="http://schemas.openxmlformats.org/officeDocument/2006/relationships" id="2147483650" r:id="R12886a34522d4e76"/>
    <p:sldLayoutId xmlns:r="http://schemas.openxmlformats.org/officeDocument/2006/relationships" id="2147483651" r:id="Re7f51efabc6f4d49"/>
    <p:sldLayoutId xmlns:r="http://schemas.openxmlformats.org/officeDocument/2006/relationships" id="2147483652" r:id="Rfc1eeebd60a740f9"/>
    <p:sldLayoutId xmlns:r="http://schemas.openxmlformats.org/officeDocument/2006/relationships" id="2147483653" r:id="R73b5f97c17cc4b3d"/>
    <p:sldLayoutId xmlns:r="http://schemas.openxmlformats.org/officeDocument/2006/relationships" id="2147483654" r:id="Reb6ba071ab0b4c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6232f61e9c54449" /><Relationship Type="http://schemas.openxmlformats.org/officeDocument/2006/relationships/notesSlide" Target="/ppt/notesSlides/notesSlide1.xml" Id="R1044714f5b9a49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73f84cf1b274b30" /><Relationship Type="http://schemas.openxmlformats.org/officeDocument/2006/relationships/notesSlide" Target="/ppt/notesSlides/notesSlide2.xml" Id="Rac7d2d1f588b4b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b0d489ba4364141" /><Relationship Type="http://schemas.openxmlformats.org/officeDocument/2006/relationships/notesSlide" Target="/ppt/notesSlides/notesSlide3.xml" Id="R6e8f6494e9cb4a0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de0cfdb411f43b9" /><Relationship Type="http://schemas.openxmlformats.org/officeDocument/2006/relationships/notesSlide" Target="/ppt/notesSlides/notesSlide4.xml" Id="R9baf727b08b841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65e3caac05f406f" /><Relationship Type="http://schemas.openxmlformats.org/officeDocument/2006/relationships/chart" Target="/ppt/slides/charts/chart1.xml" Id="R15eed2e49fe448cf" /><Relationship Type="http://schemas.openxmlformats.org/officeDocument/2006/relationships/notesSlide" Target="/ppt/notesSlides/notesSlide5.xml" Id="Rdb4beab9f1354f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28369f7823f44b8" /><Relationship Type="http://schemas.openxmlformats.org/officeDocument/2006/relationships/chart" Target="/ppt/slides/charts/chart2.xml" Id="R8e3366289a334e11" /><Relationship Type="http://schemas.openxmlformats.org/officeDocument/2006/relationships/notesSlide" Target="/ppt/notesSlides/notesSlide6.xml" Id="Rbb29237547e24e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87fcd7f6e4d4739" /><Relationship Type="http://schemas.openxmlformats.org/officeDocument/2006/relationships/notesSlide" Target="/ppt/notesSlides/notesSlide7.xml" Id="R7a9f3e167982451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6f4e3b698264d86" /><Relationship Type="http://schemas.openxmlformats.org/officeDocument/2006/relationships/notesSlide" Target="/ppt/notesSlides/notesSlide8.xml" Id="R134d1908da61442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Best so far</c:v>
          </c:tx>
          <c:spPr>
            <a:ln xmlns:a="http://schemas.openxmlformats.org/drawingml/2006/main" w="28575">
              <a:solidFill>
                <a:srgbClr val="087E8B"/>
              </a:solidFill>
            </a:ln>
          </c:spPr>
          <c:marker>
            <c:symbol val="none"/>
          </c:marker>
          <c:cat>
            <c:numRef>
              <c:f>'Chart Data'!$A$2:$A$31</c:f>
              <c:numCache>
                <c:formatCode>0</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'Chart Data'!$B$2:$B$31</c:f>
              <c:numCache>
                <c:formatCode>0.000</c:formatCode>
                <c:ptCount val="30"/>
                <c:pt idx="0">
                  <c:v>0.9863947149</c:v>
                </c:pt>
                <c:pt idx="1">
                  <c:v>0.9871454953</c:v>
                </c:pt>
                <c:pt idx="2">
                  <c:v>0.98794794</c:v>
                </c:pt>
                <c:pt idx="3">
                  <c:v>0.98794794</c:v>
                </c:pt>
                <c:pt idx="4">
                  <c:v>0.9881606428</c:v>
                </c:pt>
                <c:pt idx="5">
                  <c:v>0.9881606428</c:v>
                </c:pt>
                <c:pt idx="6">
                  <c:v>0.9881606428</c:v>
                </c:pt>
                <c:pt idx="7">
                  <c:v>0.988692125</c:v>
                </c:pt>
                <c:pt idx="8">
                  <c:v>0.988692125</c:v>
                </c:pt>
                <c:pt idx="9">
                  <c:v>0.988692125</c:v>
                </c:pt>
                <c:pt idx="10">
                  <c:v>0.9899337159</c:v>
                </c:pt>
                <c:pt idx="11">
                  <c:v>0.9899337159</c:v>
                </c:pt>
                <c:pt idx="12">
                  <c:v>0.9899337159</c:v>
                </c:pt>
                <c:pt idx="13">
                  <c:v>0.9899337159</c:v>
                </c:pt>
                <c:pt idx="14">
                  <c:v>0.9899337159</c:v>
                </c:pt>
                <c:pt idx="15">
                  <c:v>0.9899337159</c:v>
                </c:pt>
                <c:pt idx="16">
                  <c:v>0.9899337159</c:v>
                </c:pt>
                <c:pt idx="17">
                  <c:v>0.9899337159</c:v>
                </c:pt>
                <c:pt idx="18">
                  <c:v>0.9899337159</c:v>
                </c:pt>
                <c:pt idx="19">
                  <c:v>0.9899337159</c:v>
                </c:pt>
                <c:pt idx="20">
                  <c:v>0.9899337159</c:v>
                </c:pt>
                <c:pt idx="21">
                  <c:v>0.9899337159</c:v>
                </c:pt>
                <c:pt idx="22">
                  <c:v>0.9899337159</c:v>
                </c:pt>
                <c:pt idx="23">
                  <c:v>0.9899337159</c:v>
                </c:pt>
                <c:pt idx="24">
                  <c:v>0.9899337159</c:v>
                </c:pt>
                <c:pt idx="25">
                  <c:v>0.9899337159</c:v>
                </c:pt>
                <c:pt idx="26">
                  <c:v>0.9899337159</c:v>
                </c:pt>
                <c:pt idx="27">
                  <c:v>0.9899337159</c:v>
                </c:pt>
                <c:pt idx="28">
                  <c:v>0.9899337159</c:v>
                </c:pt>
                <c:pt idx="29">
                  <c:v>0.9899337159</c:v>
                </c:pt>
              </c:numCache>
            </c:numRef>
          </c:val>
          <c:smooth val="0"/>
        </c:ser>
        <c:ser>
          <c:idx val="1"/>
          <c:order val="1"/>
          <c:tx>
            <c:v>Baseline</c:v>
          </c:tx>
          <c:spPr>
            <a:ln xmlns:a="http://schemas.openxmlformats.org/drawingml/2006/main" w="19050">
              <a:solidFill>
                <a:srgbClr val="BD6D20"/>
              </a:solidFill>
            </a:ln>
          </c:spPr>
          <c:marker>
            <c:symbol val="none"/>
          </c:marker>
          <c:cat>
            <c:numRef>
              <c:f>'Chart Data'!$C$2:$C$31</c:f>
              <c:numCache>
                <c:formatCode>0</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'Chart Data'!$D$2:$D$31</c:f>
              <c:numCache>
                <c:formatCode>0.000</c:formatCode>
                <c:ptCount val="30"/>
                <c:pt idx="0">
                  <c:v>0.9895379897</c:v>
                </c:pt>
                <c:pt idx="1">
                  <c:v>0.9895379897</c:v>
                </c:pt>
                <c:pt idx="2">
                  <c:v>0.9895379897</c:v>
                </c:pt>
                <c:pt idx="3">
                  <c:v>0.9895379897</c:v>
                </c:pt>
                <c:pt idx="4">
                  <c:v>0.9895379897</c:v>
                </c:pt>
                <c:pt idx="5">
                  <c:v>0.9895379897</c:v>
                </c:pt>
                <c:pt idx="6">
                  <c:v>0.9895379897</c:v>
                </c:pt>
                <c:pt idx="7">
                  <c:v>0.9895379897</c:v>
                </c:pt>
                <c:pt idx="8">
                  <c:v>0.9895379897</c:v>
                </c:pt>
                <c:pt idx="9">
                  <c:v>0.9895379897</c:v>
                </c:pt>
                <c:pt idx="10">
                  <c:v>0.9895379897</c:v>
                </c:pt>
                <c:pt idx="11">
                  <c:v>0.9895379897</c:v>
                </c:pt>
                <c:pt idx="12">
                  <c:v>0.9895379897</c:v>
                </c:pt>
                <c:pt idx="13">
                  <c:v>0.9895379897</c:v>
                </c:pt>
                <c:pt idx="14">
                  <c:v>0.9895379897</c:v>
                </c:pt>
                <c:pt idx="15">
                  <c:v>0.9895379897</c:v>
                </c:pt>
                <c:pt idx="16">
                  <c:v>0.9895379897</c:v>
                </c:pt>
                <c:pt idx="17">
                  <c:v>0.9895379897</c:v>
                </c:pt>
                <c:pt idx="18">
                  <c:v>0.9895379897</c:v>
                </c:pt>
                <c:pt idx="19">
                  <c:v>0.9895379897</c:v>
                </c:pt>
                <c:pt idx="20">
                  <c:v>0.9895379897</c:v>
                </c:pt>
                <c:pt idx="21">
                  <c:v>0.9895379897</c:v>
                </c:pt>
                <c:pt idx="22">
                  <c:v>0.9895379897</c:v>
                </c:pt>
                <c:pt idx="23">
                  <c:v>0.9895379897</c:v>
                </c:pt>
                <c:pt idx="24">
                  <c:v>0.9895379897</c:v>
                </c:pt>
                <c:pt idx="25">
                  <c:v>0.9895379897</c:v>
                </c:pt>
                <c:pt idx="26">
                  <c:v>0.9895379897</c:v>
                </c:pt>
                <c:pt idx="27">
                  <c:v>0.9895379897</c:v>
                </c:pt>
                <c:pt idx="28">
                  <c:v>0.9895379897</c:v>
                </c:pt>
                <c:pt idx="29">
                  <c:v>0.9895379897</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Số trial hoàn thành</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max val="0.9905"/>
          <c:min val="0.986"/>
        </c:scaling>
        <c:delete val="0"/>
        <c:axPos val="l"/>
        <c:majorGridlines>
          <c:spPr>
            <a:ln xmlns:a="http://schemas.openxmlformats.org/drawingml/2006/main" w="9525">
              <a:solidFill>
                <a:srgbClr val="D9E0E5"/>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CV ROC-AUC</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majorUnit val="0.00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Trials</c:v>
          </c:tx>
          <c:spPr>
            <a:ln xmlns:a="http://schemas.openxmlformats.org/drawingml/2006/main" w="0">
              <a:noFill/>
            </a:ln>
          </c:spPr>
          <c:marker>
            <c:symbol val="circle"/>
            <c:size val="7"/>
            <c:spPr>
              <a:solidFill xmlns:a="http://schemas.openxmlformats.org/drawingml/2006/main">
                <a:srgbClr val="087E8B"/>
              </a:solidFill>
            </c:spPr>
          </c:marker>
          <c:xVal>
            <c:numRef>
              <c:f>'Chart Data'!$A$2:$A$31</c:f>
              <c:numCache>
                <c:formatCode>General</c:formatCode>
                <c:ptCount val="30"/>
                <c:pt idx="0">
                  <c:v>0.7254344</c:v>
                </c:pt>
                <c:pt idx="1">
                  <c:v>1.51431</c:v>
                </c:pt>
                <c:pt idx="2">
                  <c:v>1.1588584001</c:v>
                </c:pt>
                <c:pt idx="3">
                  <c:v>1.1082019</c:v>
                </c:pt>
                <c:pt idx="4">
                  <c:v>0.7992013</c:v>
                </c:pt>
                <c:pt idx="5">
                  <c:v>1.4940475</c:v>
                </c:pt>
                <c:pt idx="6">
                  <c:v>1.1665919999</c:v>
                </c:pt>
                <c:pt idx="7">
                  <c:v>0.7692671999</c:v>
                </c:pt>
                <c:pt idx="8">
                  <c:v>0.387297</c:v>
                </c:pt>
                <c:pt idx="9">
                  <c:v>1.6318656999</c:v>
                </c:pt>
                <c:pt idx="10">
                  <c:v>0.4371155</c:v>
                </c:pt>
                <c:pt idx="11">
                  <c:v>0.4342747</c:v>
                </c:pt>
                <c:pt idx="12">
                  <c:v>0.4231929</c:v>
                </c:pt>
                <c:pt idx="13">
                  <c:v>0.39212</c:v>
                </c:pt>
                <c:pt idx="14">
                  <c:v>0.4169869999</c:v>
                </c:pt>
                <c:pt idx="15">
                  <c:v>1.975997</c:v>
                </c:pt>
                <c:pt idx="16">
                  <c:v>0.8356946</c:v>
                </c:pt>
                <c:pt idx="17">
                  <c:v>0.4058918001</c:v>
                </c:pt>
                <c:pt idx="18">
                  <c:v>0.8109235</c:v>
                </c:pt>
                <c:pt idx="19">
                  <c:v>0.4145939</c:v>
                </c:pt>
                <c:pt idx="20">
                  <c:v>1.1316487</c:v>
                </c:pt>
                <c:pt idx="21">
                  <c:v>0.4215707999</c:v>
                </c:pt>
                <c:pt idx="22">
                  <c:v>0.4329723</c:v>
                </c:pt>
                <c:pt idx="23">
                  <c:v>0.7769235</c:v>
                </c:pt>
                <c:pt idx="24">
                  <c:v>0.4361432</c:v>
                </c:pt>
                <c:pt idx="25">
                  <c:v>0.8416216</c:v>
                </c:pt>
                <c:pt idx="26">
                  <c:v>0.3989118</c:v>
                </c:pt>
                <c:pt idx="27">
                  <c:v>1.8985428</c:v>
                </c:pt>
                <c:pt idx="28">
                  <c:v>0.7923627</c:v>
                </c:pt>
                <c:pt idx="29">
                  <c:v>0.3958912001</c:v>
                </c:pt>
              </c:numCache>
            </c:numRef>
          </c:xVal>
          <c:yVal>
            <c:numRef>
              <c:f>'Chart Data'!$B$2:$B$31</c:f>
              <c:numCache>
                <c:formatCode>0.000</c:formatCode>
                <c:ptCount val="30"/>
                <c:pt idx="0">
                  <c:v>0.9863947149</c:v>
                </c:pt>
                <c:pt idx="1">
                  <c:v>0.9871454953</c:v>
                </c:pt>
                <c:pt idx="2">
                  <c:v>0.98794794</c:v>
                </c:pt>
                <c:pt idx="3">
                  <c:v>0.9875291298</c:v>
                </c:pt>
                <c:pt idx="4">
                  <c:v>0.9881606428</c:v>
                </c:pt>
                <c:pt idx="5">
                  <c:v>0.9868443037</c:v>
                </c:pt>
                <c:pt idx="6">
                  <c:v>0.9875291298</c:v>
                </c:pt>
                <c:pt idx="7">
                  <c:v>0.988692125</c:v>
                </c:pt>
                <c:pt idx="8">
                  <c:v>0.9860588972</c:v>
                </c:pt>
                <c:pt idx="9">
                  <c:v>0.9870146858</c:v>
                </c:pt>
                <c:pt idx="10">
                  <c:v>0.9899337159</c:v>
                </c:pt>
                <c:pt idx="11">
                  <c:v>0.9899337159</c:v>
                </c:pt>
                <c:pt idx="12">
                  <c:v>0.9899337159</c:v>
                </c:pt>
                <c:pt idx="13">
                  <c:v>0.9898413798</c:v>
                </c:pt>
                <c:pt idx="14">
                  <c:v>0.9865964253</c:v>
                </c:pt>
                <c:pt idx="15">
                  <c:v>0.9887613771</c:v>
                </c:pt>
                <c:pt idx="16">
                  <c:v>0.988692125</c:v>
                </c:pt>
                <c:pt idx="17">
                  <c:v>0.9865964253</c:v>
                </c:pt>
                <c:pt idx="18">
                  <c:v>0.9873257706</c:v>
                </c:pt>
                <c:pt idx="19">
                  <c:v>0.9877467792</c:v>
                </c:pt>
                <c:pt idx="20">
                  <c:v>0.98794794</c:v>
                </c:pt>
                <c:pt idx="21">
                  <c:v>0.9899337159</c:v>
                </c:pt>
                <c:pt idx="22">
                  <c:v>0.9899337159</c:v>
                </c:pt>
                <c:pt idx="23">
                  <c:v>0.988692125</c:v>
                </c:pt>
                <c:pt idx="24">
                  <c:v>0.9865964253</c:v>
                </c:pt>
                <c:pt idx="25">
                  <c:v>0.9895379897</c:v>
                </c:pt>
                <c:pt idx="26">
                  <c:v>0.9882447346</c:v>
                </c:pt>
                <c:pt idx="27">
                  <c:v>0.987897375</c:v>
                </c:pt>
                <c:pt idx="28">
                  <c:v>0.9895379897</c:v>
                </c:pt>
                <c:pt idx="29">
                  <c:v>0.9850151695</c:v>
                </c:pt>
              </c:numCache>
            </c:numRef>
          </c:yVal>
        </c:ser>
        <c:ser>
          <c:idx val="1"/>
          <c:order val="1"/>
          <c:tx>
            <c:v>Best #10</c:v>
          </c:tx>
          <c:spPr>
            <a:ln xmlns:a="http://schemas.openxmlformats.org/drawingml/2006/main" w="0">
              <a:noFill/>
            </a:ln>
          </c:spPr>
          <c:marker>
            <c:symbol val="diamond"/>
            <c:size val="12"/>
            <c:spPr>
              <a:solidFill xmlns:a="http://schemas.openxmlformats.org/drawingml/2006/main">
                <a:srgbClr val="BD6D20"/>
              </a:solidFill>
            </c:spPr>
          </c:marker>
          <c:xVal>
            <c:numRef>
              <c:f>'Chart Data'!$C$2:$C$2</c:f>
              <c:numCache>
                <c:formatCode>General</c:formatCode>
                <c:ptCount val="1"/>
                <c:pt idx="0">
                  <c:v>0.4371155</c:v>
                </c:pt>
              </c:numCache>
            </c:numRef>
          </c:xVal>
          <c:yVal>
            <c:numRef>
              <c:f>'Chart Data'!$D$2:$D$2</c:f>
              <c:numCache>
                <c:formatCode>0.000</c:formatCode>
                <c:ptCount val="1"/>
                <c:pt idx="0">
                  <c:v>0.9899337159</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995"/>
          <c:min val="0.975"/>
        </c:scaling>
        <c:delete val="0"/>
        <c:axPos val="l"/>
        <c:majorGridlines>
          <c:spPr>
            <a:ln xmlns:a="http://schemas.openxmlformats.org/drawingml/2006/main" w="9525">
              <a:solidFill>
                <a:srgbClr val="D9E0E5"/>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CV ROC-AUC</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majorUnit val="0.005"/>
      </c:valAx>
      <c:valAx>
        <c:axId val="48650112"/>
        <c:scaling>
          <c:orientation val="minMax"/>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Thời gian trial (giây)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419BDB46-7E54-49BA-B105-5366AA8CFC49}"/>
              </a:ext>
            </a:extLst>
          </p:cNvPr>
          <p:cNvSpPr>
            <a:spLocks xmlns:a="http://schemas.openxmlformats.org/drawingml/2006/main" noGrp="1"/>
          </p:cNvSpPr>
          <p:nvPr/>
        </p:nvSpPr>
        <p:spPr>
          <a:xfrm xmlns:a="http://schemas.openxmlformats.org/drawingml/2006/main">
            <a:off x="609600" y="6096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87E8B"/>
                </a:solidFill>
                <a:latin typeface="Arial"/>
                <a:ea typeface="Arial"/>
                <a:cs typeface="Arial"/>
              </a:defRPr>
            </a:defPPr>
            <a:lvl1pPr>
              <a:defRPr sz="1725" b="1">
                <a:solidFill>
                  <a:srgbClr val="087E8B"/>
                </a:solidFill>
                <a:latin typeface="Arial"/>
                <a:ea typeface="Arial"/>
                <a:cs typeface="Arial"/>
              </a:defRPr>
            </a:lvl1pPr>
            <a:lvl2pPr>
              <a:defRPr sz="1725" b="1">
                <a:solidFill>
                  <a:srgbClr val="087E8B"/>
                </a:solidFill>
                <a:latin typeface="Arial"/>
                <a:ea typeface="Arial"/>
                <a:cs typeface="Arial"/>
              </a:defRPr>
            </a:lvl2pPr>
            <a:lvl3pPr>
              <a:defRPr sz="1725" b="1">
                <a:solidFill>
                  <a:srgbClr val="087E8B"/>
                </a:solidFill>
                <a:latin typeface="Arial"/>
                <a:ea typeface="Arial"/>
                <a:cs typeface="Arial"/>
              </a:defRPr>
            </a:lvl3pPr>
            <a:lvl4pPr>
              <a:defRPr sz="1725" b="1">
                <a:solidFill>
                  <a:srgbClr val="087E8B"/>
                </a:solidFill>
                <a:latin typeface="Arial"/>
                <a:ea typeface="Arial"/>
                <a:cs typeface="Arial"/>
              </a:defRPr>
            </a:lvl4pPr>
            <a:lvl5pPr>
              <a:defRPr sz="1725" b="1">
                <a:solidFill>
                  <a:srgbClr val="087E8B"/>
                </a:solidFill>
                <a:latin typeface="Arial"/>
                <a:ea typeface="Arial"/>
                <a:cs typeface="Arial"/>
              </a:defRPr>
            </a:lvl5pPr>
            <a:lvl6pPr>
              <a:defRPr sz="1725" b="1">
                <a:solidFill>
                  <a:srgbClr val="087E8B"/>
                </a:solidFill>
                <a:latin typeface="Arial"/>
                <a:ea typeface="Arial"/>
                <a:cs typeface="Arial"/>
              </a:defRPr>
            </a:lvl6pPr>
            <a:lvl7pPr>
              <a:defRPr sz="1725" b="1">
                <a:solidFill>
                  <a:srgbClr val="087E8B"/>
                </a:solidFill>
                <a:latin typeface="Arial"/>
                <a:ea typeface="Arial"/>
                <a:cs typeface="Arial"/>
              </a:defRPr>
            </a:lvl7pPr>
            <a:lvl8pPr>
              <a:defRPr sz="1725" b="1">
                <a:solidFill>
                  <a:srgbClr val="087E8B"/>
                </a:solidFill>
                <a:latin typeface="Arial"/>
                <a:ea typeface="Arial"/>
                <a:cs typeface="Arial"/>
              </a:defRPr>
            </a:lvl8pPr>
            <a:lvl9pPr>
              <a:defRPr sz="1725" b="1">
                <a:solidFill>
                  <a:srgbClr val="087E8B"/>
                </a:solidFill>
                <a:latin typeface="Arial"/>
                <a:ea typeface="Arial"/>
                <a:cs typeface="Arial"/>
              </a:defRPr>
            </a:lvl9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BÀI TẬP LỚN CÁ NHÂN</a:t>
            </a:r>
          </a:p>
        </p:txBody>
      </p:sp>
      <p:sp>
        <p:nvSpPr>
          <p:cNvPr id="2" name="primary-heading">
            <a:extLst xmlns:a="http://schemas.openxmlformats.org/drawingml/2006/main">
              <a:ext uri="{FF2B5EF4-FFF2-40B4-BE49-F238E27FC236}">
                <a16:creationId xmlns:a16="http://schemas.microsoft.com/office/drawing/2014/main" id="{63C4835B-1AB7-4A2D-A748-4BD9EC669202}"/>
              </a:ext>
            </a:extLst>
          </p:cNvPr>
          <p:cNvSpPr>
            <a:spLocks xmlns:a="http://schemas.openxmlformats.org/drawingml/2006/main" noGrp="1"/>
          </p:cNvSpPr>
          <p:nvPr/>
        </p:nvSpPr>
        <p:spPr>
          <a:xfrm xmlns:a="http://schemas.openxmlformats.org/drawingml/2006/main">
            <a:off x="609600" y="1438275"/>
            <a:ext cx="109728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32D46"/>
                </a:solidFill>
                <a:latin typeface="Arial"/>
                <a:ea typeface="Arial"/>
                <a:cs typeface="Arial"/>
              </a:defRPr>
            </a:defPPr>
            <a:lvl1pPr>
              <a:defRPr sz="4800" b="1">
                <a:solidFill>
                  <a:srgbClr val="132D46"/>
                </a:solidFill>
                <a:latin typeface="Arial"/>
                <a:ea typeface="Arial"/>
                <a:cs typeface="Arial"/>
              </a:defRPr>
            </a:lvl1pPr>
            <a:lvl2pPr>
              <a:defRPr sz="4800" b="1">
                <a:solidFill>
                  <a:srgbClr val="132D46"/>
                </a:solidFill>
                <a:latin typeface="Arial"/>
                <a:ea typeface="Arial"/>
                <a:cs typeface="Arial"/>
              </a:defRPr>
            </a:lvl2pPr>
            <a:lvl3pPr>
              <a:defRPr sz="4800" b="1">
                <a:solidFill>
                  <a:srgbClr val="132D46"/>
                </a:solidFill>
                <a:latin typeface="Arial"/>
                <a:ea typeface="Arial"/>
                <a:cs typeface="Arial"/>
              </a:defRPr>
            </a:lvl3pPr>
            <a:lvl4pPr>
              <a:defRPr sz="4800" b="1">
                <a:solidFill>
                  <a:srgbClr val="132D46"/>
                </a:solidFill>
                <a:latin typeface="Arial"/>
                <a:ea typeface="Arial"/>
                <a:cs typeface="Arial"/>
              </a:defRPr>
            </a:lvl4pPr>
            <a:lvl5pPr>
              <a:defRPr sz="4800" b="1">
                <a:solidFill>
                  <a:srgbClr val="132D46"/>
                </a:solidFill>
                <a:latin typeface="Arial"/>
                <a:ea typeface="Arial"/>
                <a:cs typeface="Arial"/>
              </a:defRPr>
            </a:lvl5pPr>
            <a:lvl6pPr>
              <a:defRPr sz="4800" b="1">
                <a:solidFill>
                  <a:srgbClr val="132D46"/>
                </a:solidFill>
                <a:latin typeface="Arial"/>
                <a:ea typeface="Arial"/>
                <a:cs typeface="Arial"/>
              </a:defRPr>
            </a:lvl6pPr>
            <a:lvl7pPr>
              <a:defRPr sz="4800" b="1">
                <a:solidFill>
                  <a:srgbClr val="132D46"/>
                </a:solidFill>
                <a:latin typeface="Arial"/>
                <a:ea typeface="Arial"/>
                <a:cs typeface="Arial"/>
              </a:defRPr>
            </a:lvl7pPr>
            <a:lvl8pPr>
              <a:defRPr sz="4800" b="1">
                <a:solidFill>
                  <a:srgbClr val="132D46"/>
                </a:solidFill>
                <a:latin typeface="Arial"/>
                <a:ea typeface="Arial"/>
                <a:cs typeface="Arial"/>
              </a:defRPr>
            </a:lvl8pPr>
            <a:lvl9pPr>
              <a:defRPr sz="4800" b="1">
                <a:solidFill>
                  <a:srgbClr val="132D46"/>
                </a:solidFill>
                <a:latin typeface="Arial"/>
                <a:ea typeface="Arial"/>
                <a:cs typeface="Arial"/>
              </a:defRPr>
            </a:lvl9pPr>
          </a:lstStyle>
          <a:p xmlns:a="http://schemas.openxmlformats.org/drawingml/2006/main">
            <a:pPr>
              <a:defRPr sz="4800" b="1">
                <a:solidFill>
                  <a:srgbClr val="132D46"/>
                </a:solidFill>
                <a:latin typeface="Arial"/>
                <a:ea typeface="Arial"/>
                <a:cs typeface="Arial"/>
              </a:defRPr>
            </a:pPr>
            <a:r>
              <a:rPr sz="4800" b="1">
                <a:solidFill>
                  <a:srgbClr val="132D46"/>
                </a:solidFill>
                <a:latin typeface="Arial"/>
                <a:ea typeface="Arial"/>
                <a:cs typeface="Arial"/>
              </a:rPr>
              <a:t>Tối ưu Random Forest</a:t>
            </a:r>
          </a:p>
          <a:p xmlns:a="http://schemas.openxmlformats.org/drawingml/2006/main">
            <a:pPr>
              <a:defRPr sz="4800" b="1">
                <a:solidFill>
                  <a:srgbClr val="132D46"/>
                </a:solidFill>
                <a:latin typeface="Arial"/>
                <a:ea typeface="Arial"/>
                <a:cs typeface="Arial"/>
              </a:defRPr>
            </a:pPr>
            <a:r>
              <a:rPr sz="4800" b="1">
                <a:solidFill>
                  <a:srgbClr val="132D46"/>
                </a:solidFill>
                <a:latin typeface="Arial"/>
                <a:ea typeface="Arial"/>
                <a:cs typeface="Arial"/>
              </a:rPr>
              <a:t>bằng Optuna</a:t>
            </a:r>
          </a:p>
        </p:txBody>
      </p:sp>
      <p:sp>
        <p:nvSpPr>
          <p:cNvPr id="3" name="text">
            <a:extLst xmlns:a="http://schemas.openxmlformats.org/drawingml/2006/main">
              <a:ext uri="{FF2B5EF4-FFF2-40B4-BE49-F238E27FC236}">
                <a16:creationId xmlns:a16="http://schemas.microsoft.com/office/drawing/2014/main" id="{EA1D4A3D-B20D-4208-A0BF-12D20147337B}"/>
              </a:ext>
            </a:extLst>
          </p:cNvPr>
          <p:cNvSpPr>
            <a:spLocks xmlns:a="http://schemas.openxmlformats.org/drawingml/2006/main" noGrp="1"/>
          </p:cNvSpPr>
          <p:nvPr/>
        </p:nvSpPr>
        <p:spPr>
          <a:xfrm xmlns:a="http://schemas.openxmlformats.org/drawingml/2006/main">
            <a:off x="609600" y="34766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16273"/>
                </a:solidFill>
                <a:latin typeface="Arial"/>
                <a:ea typeface="Arial"/>
                <a:cs typeface="Arial"/>
              </a:defRPr>
            </a:defPPr>
            <a:lvl1pPr>
              <a:defRPr sz="2250" b="0">
                <a:solidFill>
                  <a:srgbClr val="516273"/>
                </a:solidFill>
                <a:latin typeface="Arial"/>
                <a:ea typeface="Arial"/>
                <a:cs typeface="Arial"/>
              </a:defRPr>
            </a:lvl1pPr>
            <a:lvl2pPr>
              <a:defRPr sz="2250" b="0">
                <a:solidFill>
                  <a:srgbClr val="516273"/>
                </a:solidFill>
                <a:latin typeface="Arial"/>
                <a:ea typeface="Arial"/>
                <a:cs typeface="Arial"/>
              </a:defRPr>
            </a:lvl2pPr>
            <a:lvl3pPr>
              <a:defRPr sz="2250" b="0">
                <a:solidFill>
                  <a:srgbClr val="516273"/>
                </a:solidFill>
                <a:latin typeface="Arial"/>
                <a:ea typeface="Arial"/>
                <a:cs typeface="Arial"/>
              </a:defRPr>
            </a:lvl3pPr>
            <a:lvl4pPr>
              <a:defRPr sz="2250" b="0">
                <a:solidFill>
                  <a:srgbClr val="516273"/>
                </a:solidFill>
                <a:latin typeface="Arial"/>
                <a:ea typeface="Arial"/>
                <a:cs typeface="Arial"/>
              </a:defRPr>
            </a:lvl4pPr>
            <a:lvl5pPr>
              <a:defRPr sz="2250" b="0">
                <a:solidFill>
                  <a:srgbClr val="516273"/>
                </a:solidFill>
                <a:latin typeface="Arial"/>
                <a:ea typeface="Arial"/>
                <a:cs typeface="Arial"/>
              </a:defRPr>
            </a:lvl5pPr>
            <a:lvl6pPr>
              <a:defRPr sz="2250" b="0">
                <a:solidFill>
                  <a:srgbClr val="516273"/>
                </a:solidFill>
                <a:latin typeface="Arial"/>
                <a:ea typeface="Arial"/>
                <a:cs typeface="Arial"/>
              </a:defRPr>
            </a:lvl6pPr>
            <a:lvl7pPr>
              <a:defRPr sz="2250" b="0">
                <a:solidFill>
                  <a:srgbClr val="516273"/>
                </a:solidFill>
                <a:latin typeface="Arial"/>
                <a:ea typeface="Arial"/>
                <a:cs typeface="Arial"/>
              </a:defRPr>
            </a:lvl7pPr>
            <a:lvl8pPr>
              <a:defRPr sz="2250" b="0">
                <a:solidFill>
                  <a:srgbClr val="516273"/>
                </a:solidFill>
                <a:latin typeface="Arial"/>
                <a:ea typeface="Arial"/>
                <a:cs typeface="Arial"/>
              </a:defRPr>
            </a:lvl8pPr>
            <a:lvl9pPr>
              <a:defRPr sz="2250" b="0">
                <a:solidFill>
                  <a:srgbClr val="516273"/>
                </a:solidFill>
                <a:latin typeface="Arial"/>
                <a:ea typeface="Arial"/>
                <a:cs typeface="Arial"/>
              </a:defRPr>
            </a:lvl9pPr>
          </a:lstStyle>
          <a:p xmlns:a="http://schemas.openxmlformats.org/drawingml/2006/main">
            <a:pPr>
              <a:defRPr sz="2250" b="0">
                <a:solidFill>
                  <a:srgbClr val="516273"/>
                </a:solidFill>
                <a:latin typeface="Arial"/>
                <a:ea typeface="Arial"/>
                <a:cs typeface="Arial"/>
              </a:defRPr>
            </a:pPr>
            <a:r>
              <a:rPr sz="2250" b="0">
                <a:solidFill>
                  <a:srgbClr val="516273"/>
                </a:solidFill>
                <a:latin typeface="Arial"/>
                <a:ea typeface="Arial"/>
                <a:cs typeface="Arial"/>
              </a:rPr>
              <a:t>Phân loại trên Breast Cancer Wisconsin Diagnostic</a:t>
            </a:r>
          </a:p>
        </p:txBody>
      </p:sp>
      <p:sp>
        <p:nvSpPr>
          <p:cNvPr id="4" name="text">
            <a:extLst xmlns:a="http://schemas.openxmlformats.org/drawingml/2006/main">
              <a:ext uri="{FF2B5EF4-FFF2-40B4-BE49-F238E27FC236}">
                <a16:creationId xmlns:a16="http://schemas.microsoft.com/office/drawing/2014/main" id="{A49100F7-1E52-4BA4-8D81-6D8002C4FF29}"/>
              </a:ext>
            </a:extLst>
          </p:cNvPr>
          <p:cNvSpPr>
            <a:spLocks xmlns:a="http://schemas.openxmlformats.org/drawingml/2006/main" noGrp="1"/>
          </p:cNvSpPr>
          <p:nvPr/>
        </p:nvSpPr>
        <p:spPr>
          <a:xfrm xmlns:a="http://schemas.openxmlformats.org/drawingml/2006/main">
            <a:off x="609600" y="43815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32D46"/>
                </a:solidFill>
                <a:latin typeface="Arial"/>
                <a:ea typeface="Arial"/>
                <a:cs typeface="Arial"/>
              </a:defRPr>
            </a:defPPr>
            <a:lvl1pPr>
              <a:defRPr sz="1875" b="0">
                <a:solidFill>
                  <a:srgbClr val="132D46"/>
                </a:solidFill>
                <a:latin typeface="Arial"/>
                <a:ea typeface="Arial"/>
                <a:cs typeface="Arial"/>
              </a:defRPr>
            </a:lvl1pPr>
            <a:lvl2pPr>
              <a:defRPr sz="1875" b="0">
                <a:solidFill>
                  <a:srgbClr val="132D46"/>
                </a:solidFill>
                <a:latin typeface="Arial"/>
                <a:ea typeface="Arial"/>
                <a:cs typeface="Arial"/>
              </a:defRPr>
            </a:lvl2pPr>
            <a:lvl3pPr>
              <a:defRPr sz="1875" b="0">
                <a:solidFill>
                  <a:srgbClr val="132D46"/>
                </a:solidFill>
                <a:latin typeface="Arial"/>
                <a:ea typeface="Arial"/>
                <a:cs typeface="Arial"/>
              </a:defRPr>
            </a:lvl3pPr>
            <a:lvl4pPr>
              <a:defRPr sz="1875" b="0">
                <a:solidFill>
                  <a:srgbClr val="132D46"/>
                </a:solidFill>
                <a:latin typeface="Arial"/>
                <a:ea typeface="Arial"/>
                <a:cs typeface="Arial"/>
              </a:defRPr>
            </a:lvl4pPr>
            <a:lvl5pPr>
              <a:defRPr sz="1875" b="0">
                <a:solidFill>
                  <a:srgbClr val="132D46"/>
                </a:solidFill>
                <a:latin typeface="Arial"/>
                <a:ea typeface="Arial"/>
                <a:cs typeface="Arial"/>
              </a:defRPr>
            </a:lvl5pPr>
            <a:lvl6pPr>
              <a:defRPr sz="1875" b="0">
                <a:solidFill>
                  <a:srgbClr val="132D46"/>
                </a:solidFill>
                <a:latin typeface="Arial"/>
                <a:ea typeface="Arial"/>
                <a:cs typeface="Arial"/>
              </a:defRPr>
            </a:lvl6pPr>
            <a:lvl7pPr>
              <a:defRPr sz="1875" b="0">
                <a:solidFill>
                  <a:srgbClr val="132D46"/>
                </a:solidFill>
                <a:latin typeface="Arial"/>
                <a:ea typeface="Arial"/>
                <a:cs typeface="Arial"/>
              </a:defRPr>
            </a:lvl7pPr>
            <a:lvl8pPr>
              <a:defRPr sz="1875" b="0">
                <a:solidFill>
                  <a:srgbClr val="132D46"/>
                </a:solidFill>
                <a:latin typeface="Arial"/>
                <a:ea typeface="Arial"/>
                <a:cs typeface="Arial"/>
              </a:defRPr>
            </a:lvl8pPr>
            <a:lvl9pPr>
              <a:defRPr sz="1875" b="0">
                <a:solidFill>
                  <a:srgbClr val="132D46"/>
                </a:solidFill>
                <a:latin typeface="Arial"/>
                <a:ea typeface="Arial"/>
                <a:cs typeface="Arial"/>
              </a:defRPr>
            </a:lvl9pPr>
          </a:lstStyle>
          <a:p xmlns:a="http://schemas.openxmlformats.org/drawingml/2006/main">
            <a:pPr>
              <a:defRPr sz="1875" b="0">
                <a:solidFill>
                  <a:srgbClr val="132D46"/>
                </a:solidFill>
                <a:latin typeface="Arial"/>
                <a:ea typeface="Arial"/>
                <a:cs typeface="Arial"/>
              </a:defRPr>
            </a:pPr>
            <a:r>
              <a:rPr sz="1875" b="0">
                <a:solidFill>
                  <a:srgbClr val="132D46"/>
                </a:solidFill>
                <a:latin typeface="Arial"/>
                <a:ea typeface="Arial"/>
                <a:cs typeface="Arial"/>
              </a:rPr>
              <a:t>Họ tên: (tự điền)     •     MSSV: (tự điền)</a:t>
            </a:r>
          </a:p>
          <a:p xmlns:a="http://schemas.openxmlformats.org/drawingml/2006/main">
            <a:pPr>
              <a:defRPr sz="1875" b="0">
                <a:solidFill>
                  <a:srgbClr val="132D46"/>
                </a:solidFill>
                <a:latin typeface="Arial"/>
                <a:ea typeface="Arial"/>
                <a:cs typeface="Arial"/>
              </a:defRPr>
            </a:pPr>
            <a:r>
              <a:rPr sz="1875" b="0">
                <a:solidFill>
                  <a:srgbClr val="132D46"/>
                </a:solidFill>
                <a:latin typeface="Arial"/>
                <a:ea typeface="Arial"/>
                <a:cs typeface="Arial"/>
              </a:rPr>
              <a:t>Lớp: (tự điền)     •     Giảng viên: (tự điền)</a:t>
            </a:r>
          </a:p>
        </p:txBody>
      </p:sp>
      <p:sp>
        <p:nvSpPr>
          <p:cNvPr id="5" name="text">
            <a:extLst xmlns:a="http://schemas.openxmlformats.org/drawingml/2006/main">
              <a:ext uri="{FF2B5EF4-FFF2-40B4-BE49-F238E27FC236}">
                <a16:creationId xmlns:a16="http://schemas.microsoft.com/office/drawing/2014/main" id="{C06D2A20-95B5-4359-A147-8D8973ABE4E2}"/>
              </a:ext>
            </a:extLst>
          </p:cNvPr>
          <p:cNvSpPr>
            <a:spLocks xmlns:a="http://schemas.openxmlformats.org/drawingml/2006/main" noGrp="1"/>
          </p:cNvSpPr>
          <p:nvPr/>
        </p:nvSpPr>
        <p:spPr>
          <a:xfrm xmlns:a="http://schemas.openxmlformats.org/drawingml/2006/main">
            <a:off x="609600" y="595312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16273"/>
                </a:solidFill>
                <a:latin typeface="Arial"/>
                <a:ea typeface="Arial"/>
                <a:cs typeface="Arial"/>
              </a:defRPr>
            </a:defPPr>
            <a:lvl1pPr>
              <a:defRPr sz="1500" b="0">
                <a:solidFill>
                  <a:srgbClr val="516273"/>
                </a:solidFill>
                <a:latin typeface="Arial"/>
                <a:ea typeface="Arial"/>
                <a:cs typeface="Arial"/>
              </a:defRPr>
            </a:lvl1pPr>
            <a:lvl2pPr>
              <a:defRPr sz="1500" b="0">
                <a:solidFill>
                  <a:srgbClr val="516273"/>
                </a:solidFill>
                <a:latin typeface="Arial"/>
                <a:ea typeface="Arial"/>
                <a:cs typeface="Arial"/>
              </a:defRPr>
            </a:lvl2pPr>
            <a:lvl3pPr>
              <a:defRPr sz="1500" b="0">
                <a:solidFill>
                  <a:srgbClr val="516273"/>
                </a:solidFill>
                <a:latin typeface="Arial"/>
                <a:ea typeface="Arial"/>
                <a:cs typeface="Arial"/>
              </a:defRPr>
            </a:lvl3pPr>
            <a:lvl4pPr>
              <a:defRPr sz="1500" b="0">
                <a:solidFill>
                  <a:srgbClr val="516273"/>
                </a:solidFill>
                <a:latin typeface="Arial"/>
                <a:ea typeface="Arial"/>
                <a:cs typeface="Arial"/>
              </a:defRPr>
            </a:lvl4pPr>
            <a:lvl5pPr>
              <a:defRPr sz="1500" b="0">
                <a:solidFill>
                  <a:srgbClr val="516273"/>
                </a:solidFill>
                <a:latin typeface="Arial"/>
                <a:ea typeface="Arial"/>
                <a:cs typeface="Arial"/>
              </a:defRPr>
            </a:lvl5pPr>
            <a:lvl6pPr>
              <a:defRPr sz="1500" b="0">
                <a:solidFill>
                  <a:srgbClr val="516273"/>
                </a:solidFill>
                <a:latin typeface="Arial"/>
                <a:ea typeface="Arial"/>
                <a:cs typeface="Arial"/>
              </a:defRPr>
            </a:lvl6pPr>
            <a:lvl7pPr>
              <a:defRPr sz="1500" b="0">
                <a:solidFill>
                  <a:srgbClr val="516273"/>
                </a:solidFill>
                <a:latin typeface="Arial"/>
                <a:ea typeface="Arial"/>
                <a:cs typeface="Arial"/>
              </a:defRPr>
            </a:lvl7pPr>
            <a:lvl8pPr>
              <a:defRPr sz="1500" b="0">
                <a:solidFill>
                  <a:srgbClr val="516273"/>
                </a:solidFill>
                <a:latin typeface="Arial"/>
                <a:ea typeface="Arial"/>
                <a:cs typeface="Arial"/>
              </a:defRPr>
            </a:lvl8pPr>
            <a:lvl9pPr>
              <a:defRPr sz="1500" b="0">
                <a:solidFill>
                  <a:srgbClr val="516273"/>
                </a:solidFill>
                <a:latin typeface="Arial"/>
                <a:ea typeface="Arial"/>
                <a:cs typeface="Arial"/>
              </a:defRPr>
            </a:lvl9pPr>
          </a:lstStyle>
          <a:p xmlns:a="http://schemas.openxmlformats.org/drawingml/2006/main">
            <a:pPr>
              <a:defRPr sz="1500" b="0">
                <a:solidFill>
                  <a:srgbClr val="516273"/>
                </a:solidFill>
                <a:latin typeface="Arial"/>
                <a:ea typeface="Arial"/>
                <a:cs typeface="Arial"/>
              </a:defRPr>
            </a:pPr>
            <a:r>
              <a:rPr sz="1500" b="0">
                <a:solidFill>
                  <a:srgbClr val="516273"/>
                </a:solidFill>
                <a:latin typeface="Arial"/>
                <a:ea typeface="Arial"/>
                <a:cs typeface="Arial"/>
              </a:rPr>
              <a:t>Nhập môn Tối ưu hóa   •   Bản bàn giao 30/10/2026</a:t>
            </a:r>
          </a:p>
        </p:txBody>
      </p:sp>
    </p:spTree>
    <p:extLst>
      <p:ext uri="{BB962C8B-B14F-4D97-AF65-F5344CB8AC3E}">
        <p14:creationId xmlns:p14="http://schemas.microsoft.com/office/powerpoint/2010/main" val="67969742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primary-heading">
            <a:extLst xmlns:a="http://schemas.openxmlformats.org/drawingml/2006/main">
              <a:ext uri="{FF2B5EF4-FFF2-40B4-BE49-F238E27FC236}">
                <a16:creationId xmlns:a16="http://schemas.microsoft.com/office/drawing/2014/main" id="{C4C06F18-5FB9-4C41-BC1E-D955F3360DCC}"/>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32D46"/>
                </a:solidFill>
                <a:latin typeface="Arial"/>
                <a:ea typeface="Arial"/>
                <a:cs typeface="Arial"/>
              </a:defRPr>
            </a:defPPr>
            <a:lvl1pPr>
              <a:defRPr sz="3300" b="1">
                <a:solidFill>
                  <a:srgbClr val="132D46"/>
                </a:solidFill>
                <a:latin typeface="Arial"/>
                <a:ea typeface="Arial"/>
                <a:cs typeface="Arial"/>
              </a:defRPr>
            </a:lvl1pPr>
            <a:lvl2pPr>
              <a:defRPr sz="3300" b="1">
                <a:solidFill>
                  <a:srgbClr val="132D46"/>
                </a:solidFill>
                <a:latin typeface="Arial"/>
                <a:ea typeface="Arial"/>
                <a:cs typeface="Arial"/>
              </a:defRPr>
            </a:lvl2pPr>
            <a:lvl3pPr>
              <a:defRPr sz="3300" b="1">
                <a:solidFill>
                  <a:srgbClr val="132D46"/>
                </a:solidFill>
                <a:latin typeface="Arial"/>
                <a:ea typeface="Arial"/>
                <a:cs typeface="Arial"/>
              </a:defRPr>
            </a:lvl3pPr>
            <a:lvl4pPr>
              <a:defRPr sz="3300" b="1">
                <a:solidFill>
                  <a:srgbClr val="132D46"/>
                </a:solidFill>
                <a:latin typeface="Arial"/>
                <a:ea typeface="Arial"/>
                <a:cs typeface="Arial"/>
              </a:defRPr>
            </a:lvl4pPr>
            <a:lvl5pPr>
              <a:defRPr sz="3300" b="1">
                <a:solidFill>
                  <a:srgbClr val="132D46"/>
                </a:solidFill>
                <a:latin typeface="Arial"/>
                <a:ea typeface="Arial"/>
                <a:cs typeface="Arial"/>
              </a:defRPr>
            </a:lvl5pPr>
            <a:lvl6pPr>
              <a:defRPr sz="3300" b="1">
                <a:solidFill>
                  <a:srgbClr val="132D46"/>
                </a:solidFill>
                <a:latin typeface="Arial"/>
                <a:ea typeface="Arial"/>
                <a:cs typeface="Arial"/>
              </a:defRPr>
            </a:lvl6pPr>
            <a:lvl7pPr>
              <a:defRPr sz="3300" b="1">
                <a:solidFill>
                  <a:srgbClr val="132D46"/>
                </a:solidFill>
                <a:latin typeface="Arial"/>
                <a:ea typeface="Arial"/>
                <a:cs typeface="Arial"/>
              </a:defRPr>
            </a:lvl7pPr>
            <a:lvl8pPr>
              <a:defRPr sz="3300" b="1">
                <a:solidFill>
                  <a:srgbClr val="132D46"/>
                </a:solidFill>
                <a:latin typeface="Arial"/>
                <a:ea typeface="Arial"/>
                <a:cs typeface="Arial"/>
              </a:defRPr>
            </a:lvl8pPr>
            <a:lvl9pPr>
              <a:defRPr sz="3300" b="1">
                <a:solidFill>
                  <a:srgbClr val="132D46"/>
                </a:solidFill>
                <a:latin typeface="Arial"/>
                <a:ea typeface="Arial"/>
                <a:cs typeface="Arial"/>
              </a:defRPr>
            </a:lvl9pPr>
          </a:lstStyle>
          <a:p xmlns:a="http://schemas.openxmlformats.org/drawingml/2006/main">
            <a:pPr>
              <a:defRPr sz="3300" b="1">
                <a:solidFill>
                  <a:srgbClr val="132D46"/>
                </a:solidFill>
                <a:latin typeface="Arial"/>
                <a:ea typeface="Arial"/>
                <a:cs typeface="Arial"/>
              </a:defRPr>
            </a:pPr>
            <a:r>
              <a:rPr sz="3300" b="1">
                <a:solidFill>
                  <a:srgbClr val="132D46"/>
                </a:solidFill>
                <a:latin typeface="Arial"/>
                <a:ea typeface="Arial"/>
                <a:cs typeface="Arial"/>
              </a:rPr>
              <a:t>Dữ liệu và protocol đánh giá</a:t>
            </a:r>
          </a:p>
        </p:txBody>
      </p:sp>
      <p:sp>
        <p:nvSpPr>
          <p:cNvPr id="2" name="text">
            <a:extLst xmlns:a="http://schemas.openxmlformats.org/drawingml/2006/main">
              <a:ext uri="{FF2B5EF4-FFF2-40B4-BE49-F238E27FC236}">
                <a16:creationId xmlns:a16="http://schemas.microsoft.com/office/drawing/2014/main" id="{4959FF95-126F-4542-9BB5-CD47C22FBE2A}"/>
              </a:ext>
            </a:extLst>
          </p:cNvPr>
          <p:cNvSpPr>
            <a:spLocks xmlns:a="http://schemas.openxmlformats.org/drawingml/2006/main" noGrp="1"/>
          </p:cNvSpPr>
          <p:nvPr/>
        </p:nvSpPr>
        <p:spPr>
          <a:xfrm xmlns:a="http://schemas.openxmlformats.org/drawingml/2006/main">
            <a:off x="609600" y="6410325"/>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273"/>
                </a:solidFill>
                <a:latin typeface="Arial"/>
                <a:ea typeface="Arial"/>
                <a:cs typeface="Arial"/>
              </a:defRPr>
            </a:defPPr>
            <a:lvl1pPr>
              <a:defRPr sz="1200" b="0">
                <a:solidFill>
                  <a:srgbClr val="516273"/>
                </a:solidFill>
                <a:latin typeface="Arial"/>
                <a:ea typeface="Arial"/>
                <a:cs typeface="Arial"/>
              </a:defRPr>
            </a:lvl1pPr>
            <a:lvl2pPr>
              <a:defRPr sz="1200" b="0">
                <a:solidFill>
                  <a:srgbClr val="516273"/>
                </a:solidFill>
                <a:latin typeface="Arial"/>
                <a:ea typeface="Arial"/>
                <a:cs typeface="Arial"/>
              </a:defRPr>
            </a:lvl2pPr>
            <a:lvl3pPr>
              <a:defRPr sz="1200" b="0">
                <a:solidFill>
                  <a:srgbClr val="516273"/>
                </a:solidFill>
                <a:latin typeface="Arial"/>
                <a:ea typeface="Arial"/>
                <a:cs typeface="Arial"/>
              </a:defRPr>
            </a:lvl3pPr>
            <a:lvl4pPr>
              <a:defRPr sz="1200" b="0">
                <a:solidFill>
                  <a:srgbClr val="516273"/>
                </a:solidFill>
                <a:latin typeface="Arial"/>
                <a:ea typeface="Arial"/>
                <a:cs typeface="Arial"/>
              </a:defRPr>
            </a:lvl4pPr>
            <a:lvl5pPr>
              <a:defRPr sz="1200" b="0">
                <a:solidFill>
                  <a:srgbClr val="516273"/>
                </a:solidFill>
                <a:latin typeface="Arial"/>
                <a:ea typeface="Arial"/>
                <a:cs typeface="Arial"/>
              </a:defRPr>
            </a:lvl5pPr>
            <a:lvl6pPr>
              <a:defRPr sz="1200" b="0">
                <a:solidFill>
                  <a:srgbClr val="516273"/>
                </a:solidFill>
                <a:latin typeface="Arial"/>
                <a:ea typeface="Arial"/>
                <a:cs typeface="Arial"/>
              </a:defRPr>
            </a:lvl6pPr>
            <a:lvl7pPr>
              <a:defRPr sz="1200" b="0">
                <a:solidFill>
                  <a:srgbClr val="516273"/>
                </a:solidFill>
                <a:latin typeface="Arial"/>
                <a:ea typeface="Arial"/>
                <a:cs typeface="Arial"/>
              </a:defRPr>
            </a:lvl7pPr>
            <a:lvl8pPr>
              <a:defRPr sz="1200" b="0">
                <a:solidFill>
                  <a:srgbClr val="516273"/>
                </a:solidFill>
                <a:latin typeface="Arial"/>
                <a:ea typeface="Arial"/>
                <a:cs typeface="Arial"/>
              </a:defRPr>
            </a:lvl8pPr>
            <a:lvl9pPr>
              <a:defRPr sz="1200" b="0">
                <a:solidFill>
                  <a:srgbClr val="516273"/>
                </a:solidFill>
                <a:latin typeface="Arial"/>
                <a:ea typeface="Arial"/>
                <a:cs typeface="Arial"/>
              </a:defRPr>
            </a:lvl9pPr>
          </a:lstStyle>
          <a:p xmlns:a="http://schemas.openxmlformats.org/drawingml/2006/main">
            <a:pPr>
              <a:defRPr sz="1200" b="0">
                <a:solidFill>
                  <a:srgbClr val="516273"/>
                </a:solidFill>
                <a:latin typeface="Arial"/>
                <a:ea typeface="Arial"/>
                <a:cs typeface="Arial"/>
              </a:defRPr>
            </a:pPr>
            <a:r>
              <a:rPr sz="1200" b="0">
                <a:solidFill>
                  <a:srgbClr val="516273"/>
                </a:solidFill>
                <a:latin typeface="Arial"/>
                <a:ea typeface="Arial"/>
                <a:cs typeface="Arial"/>
              </a:rPr>
              <a:t>NHẬP MÔN TỐI ƯU HÓA   •   RANDOM FOREST VÀ OPTUNA</a:t>
            </a:r>
          </a:p>
        </p:txBody>
      </p:sp>
      <p:sp>
        <p:nvSpPr>
          <p:cNvPr id="3" name="text">
            <a:extLst xmlns:a="http://schemas.openxmlformats.org/drawingml/2006/main">
              <a:ext uri="{FF2B5EF4-FFF2-40B4-BE49-F238E27FC236}">
                <a16:creationId xmlns:a16="http://schemas.microsoft.com/office/drawing/2014/main" id="{24EC3713-AB6B-49DF-B7F2-1FFD22FCA419}"/>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16273"/>
                </a:solidFill>
                <a:latin typeface="Arial"/>
                <a:ea typeface="Arial"/>
                <a:cs typeface="Arial"/>
              </a:defRPr>
            </a:defPPr>
            <a:lvl1pPr>
              <a:defRPr sz="1350" b="0">
                <a:solidFill>
                  <a:srgbClr val="516273"/>
                </a:solidFill>
                <a:latin typeface="Arial"/>
                <a:ea typeface="Arial"/>
                <a:cs typeface="Arial"/>
              </a:defRPr>
            </a:lvl1pPr>
            <a:lvl2pPr>
              <a:defRPr sz="1350" b="0">
                <a:solidFill>
                  <a:srgbClr val="516273"/>
                </a:solidFill>
                <a:latin typeface="Arial"/>
                <a:ea typeface="Arial"/>
                <a:cs typeface="Arial"/>
              </a:defRPr>
            </a:lvl2pPr>
            <a:lvl3pPr>
              <a:defRPr sz="1350" b="0">
                <a:solidFill>
                  <a:srgbClr val="516273"/>
                </a:solidFill>
                <a:latin typeface="Arial"/>
                <a:ea typeface="Arial"/>
                <a:cs typeface="Arial"/>
              </a:defRPr>
            </a:lvl3pPr>
            <a:lvl4pPr>
              <a:defRPr sz="1350" b="0">
                <a:solidFill>
                  <a:srgbClr val="516273"/>
                </a:solidFill>
                <a:latin typeface="Arial"/>
                <a:ea typeface="Arial"/>
                <a:cs typeface="Arial"/>
              </a:defRPr>
            </a:lvl4pPr>
            <a:lvl5pPr>
              <a:defRPr sz="1350" b="0">
                <a:solidFill>
                  <a:srgbClr val="516273"/>
                </a:solidFill>
                <a:latin typeface="Arial"/>
                <a:ea typeface="Arial"/>
                <a:cs typeface="Arial"/>
              </a:defRPr>
            </a:lvl5pPr>
            <a:lvl6pPr>
              <a:defRPr sz="1350" b="0">
                <a:solidFill>
                  <a:srgbClr val="516273"/>
                </a:solidFill>
                <a:latin typeface="Arial"/>
                <a:ea typeface="Arial"/>
                <a:cs typeface="Arial"/>
              </a:defRPr>
            </a:lvl6pPr>
            <a:lvl7pPr>
              <a:defRPr sz="1350" b="0">
                <a:solidFill>
                  <a:srgbClr val="516273"/>
                </a:solidFill>
                <a:latin typeface="Arial"/>
                <a:ea typeface="Arial"/>
                <a:cs typeface="Arial"/>
              </a:defRPr>
            </a:lvl7pPr>
            <a:lvl8pPr>
              <a:defRPr sz="1350" b="0">
                <a:solidFill>
                  <a:srgbClr val="516273"/>
                </a:solidFill>
                <a:latin typeface="Arial"/>
                <a:ea typeface="Arial"/>
                <a:cs typeface="Arial"/>
              </a:defRPr>
            </a:lvl8pPr>
            <a:lvl9pPr>
              <a:defRPr sz="1350" b="0">
                <a:solidFill>
                  <a:srgbClr val="516273"/>
                </a:solidFill>
                <a:latin typeface="Arial"/>
                <a:ea typeface="Arial"/>
                <a:cs typeface="Arial"/>
              </a:defRPr>
            </a:lvl9pPr>
          </a:lstStyle>
          <a:p xmlns:a="http://schemas.openxmlformats.org/drawingml/2006/main">
            <a:pPr>
              <a:defRPr sz="1350" b="0">
                <a:solidFill>
                  <a:srgbClr val="516273"/>
                </a:solidFill>
                <a:latin typeface="Arial"/>
                <a:ea typeface="Arial"/>
                <a:cs typeface="Arial"/>
              </a:defRPr>
            </a:pPr>
            <a:r>
              <a:rPr sz="1350" b="0">
                <a:solidFill>
                  <a:srgbClr val="516273"/>
                </a:solidFill>
                <a:latin typeface="Arial"/>
                <a:ea typeface="Arial"/>
                <a:cs typeface="Arial"/>
              </a:rPr>
              <a:t>02</a:t>
            </a:r>
          </a:p>
        </p:txBody>
      </p:sp>
      <p:sp>
        <p:nvSpPr>
          <p:cNvPr id="4" name="text">
            <a:extLst xmlns:a="http://schemas.openxmlformats.org/drawingml/2006/main">
              <a:ext uri="{FF2B5EF4-FFF2-40B4-BE49-F238E27FC236}">
                <a16:creationId xmlns:a16="http://schemas.microsoft.com/office/drawing/2014/main" id="{D010DCFD-23E3-4613-B8D7-3405683A8B7D}"/>
              </a:ext>
            </a:extLst>
          </p:cNvPr>
          <p:cNvSpPr>
            <a:spLocks xmlns:a="http://schemas.openxmlformats.org/drawingml/2006/main" noGrp="1"/>
          </p:cNvSpPr>
          <p:nvPr/>
        </p:nvSpPr>
        <p:spPr>
          <a:xfrm xmlns:a="http://schemas.openxmlformats.org/drawingml/2006/main">
            <a:off x="609600" y="15430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87E8B"/>
                </a:solidFill>
                <a:latin typeface="Arial"/>
                <a:ea typeface="Arial"/>
                <a:cs typeface="Arial"/>
              </a:defRPr>
            </a:defPPr>
            <a:lvl1pPr>
              <a:defRPr sz="2550" b="1">
                <a:solidFill>
                  <a:srgbClr val="087E8B"/>
                </a:solidFill>
                <a:latin typeface="Arial"/>
                <a:ea typeface="Arial"/>
                <a:cs typeface="Arial"/>
              </a:defRPr>
            </a:lvl1pPr>
            <a:lvl2pPr>
              <a:defRPr sz="2550" b="1">
                <a:solidFill>
                  <a:srgbClr val="087E8B"/>
                </a:solidFill>
                <a:latin typeface="Arial"/>
                <a:ea typeface="Arial"/>
                <a:cs typeface="Arial"/>
              </a:defRPr>
            </a:lvl2pPr>
            <a:lvl3pPr>
              <a:defRPr sz="2550" b="1">
                <a:solidFill>
                  <a:srgbClr val="087E8B"/>
                </a:solidFill>
                <a:latin typeface="Arial"/>
                <a:ea typeface="Arial"/>
                <a:cs typeface="Arial"/>
              </a:defRPr>
            </a:lvl3pPr>
            <a:lvl4pPr>
              <a:defRPr sz="2550" b="1">
                <a:solidFill>
                  <a:srgbClr val="087E8B"/>
                </a:solidFill>
                <a:latin typeface="Arial"/>
                <a:ea typeface="Arial"/>
                <a:cs typeface="Arial"/>
              </a:defRPr>
            </a:lvl4pPr>
            <a:lvl5pPr>
              <a:defRPr sz="2550" b="1">
                <a:solidFill>
                  <a:srgbClr val="087E8B"/>
                </a:solidFill>
                <a:latin typeface="Arial"/>
                <a:ea typeface="Arial"/>
                <a:cs typeface="Arial"/>
              </a:defRPr>
            </a:lvl5pPr>
            <a:lvl6pPr>
              <a:defRPr sz="2550" b="1">
                <a:solidFill>
                  <a:srgbClr val="087E8B"/>
                </a:solidFill>
                <a:latin typeface="Arial"/>
                <a:ea typeface="Arial"/>
                <a:cs typeface="Arial"/>
              </a:defRPr>
            </a:lvl6pPr>
            <a:lvl7pPr>
              <a:defRPr sz="2550" b="1">
                <a:solidFill>
                  <a:srgbClr val="087E8B"/>
                </a:solidFill>
                <a:latin typeface="Arial"/>
                <a:ea typeface="Arial"/>
                <a:cs typeface="Arial"/>
              </a:defRPr>
            </a:lvl7pPr>
            <a:lvl8pPr>
              <a:defRPr sz="2550" b="1">
                <a:solidFill>
                  <a:srgbClr val="087E8B"/>
                </a:solidFill>
                <a:latin typeface="Arial"/>
                <a:ea typeface="Arial"/>
                <a:cs typeface="Arial"/>
              </a:defRPr>
            </a:lvl8pPr>
            <a:lvl9pPr>
              <a:defRPr sz="2550" b="1">
                <a:solidFill>
                  <a:srgbClr val="087E8B"/>
                </a:solidFill>
                <a:latin typeface="Arial"/>
                <a:ea typeface="Arial"/>
                <a:cs typeface="Arial"/>
              </a:defRPr>
            </a:lvl9pPr>
          </a:lstStyle>
          <a:p xmlns:a="http://schemas.openxmlformats.org/drawingml/2006/main">
            <a:pPr>
              <a:defRPr sz="2550" b="1">
                <a:solidFill>
                  <a:srgbClr val="087E8B"/>
                </a:solidFill>
                <a:latin typeface="Arial"/>
                <a:ea typeface="Arial"/>
                <a:cs typeface="Arial"/>
              </a:defRPr>
            </a:pPr>
            <a:r>
              <a:rPr sz="2550" b="1">
                <a:solidFill>
                  <a:srgbClr val="087E8B"/>
                </a:solidFill>
                <a:latin typeface="Arial"/>
                <a:ea typeface="Arial"/>
                <a:cs typeface="Arial"/>
              </a:rPr>
              <a:t>569 mẫu  •  30 đặc trưng  •  malignant = 1</a:t>
            </a:r>
          </a:p>
        </p:txBody>
      </p:sp>
      <p:graphicFrame>
        <p:nvGraphicFramePr>
          <p:cNvPr id="5" name="">
            <a:extLst xmlns:a="http://schemas.openxmlformats.org/drawingml/2006/main">
              <a:ext uri="{FF2B5EF4-FFF2-40B4-BE49-F238E27FC236}">
                <a16:creationId xmlns:a16="http://schemas.microsoft.com/office/drawing/2014/main" id="{38C7E26F-E354-443B-9904-70D3FC0F2702}"/>
              </a:ext>
            </a:extLst>
          </p:cNvPr>
          <p:cNvGraphicFramePr/>
          <p:nvPr/>
        </p:nvGraphicFramePr>
        <p:xfrm>
          <a:off xmlns:a="http://schemas.openxmlformats.org/drawingml/2006/main" x="609600" y="2324100"/>
          <a:ext xmlns:a="http://schemas.openxmlformats.org/drawingml/2006/main" cx="10972800" cy="1714500"/>
        </p:xfrm>
        <a:graphic xmlns:a="http://schemas.openxmlformats.org/drawingml/2006/main">
          <a:graphicData uri="http://schemas.openxmlformats.org/drawingml/2006/table">
            <a:tbl>
              <a:tblPr/>
              <a:tblGrid>
                <a:gridCol w="4000500"/>
                <a:gridCol w="2324100"/>
                <a:gridCol w="2324100"/>
                <a:gridCol w="2324100"/>
              </a:tblGrid>
              <a:tr h="571500">
                <a:tc>
                  <a:txBody>
                    <a:bodyPr lIns="114300" tIns="114300" rIns="114300" bIns="114300">
                      <a:noAutofit/>
                    </a:bodyPr>
                    <a:lstStyle/>
                    <a:p>
                      <a:r>
                        <a:rPr sz="1725" b="1">
                          <a:solidFill>
                            <a:srgbClr val="FFFFFF"/>
                          </a:solidFill>
                          <a:latin typeface="Arial"/>
                          <a:ea typeface="Arial"/>
                          <a:cs typeface="Arial"/>
                        </a:rPr>
                        <a:t>Tập dữ liệu</a:t>
                      </a:r>
                    </a:p>
                  </a:txBody>
                  <a:tcPr marL="91440" marR="91440" marT="45720" marB="45720" anchor="ctr">
                    <a:lnL w="9525">
                      <a:solidFill>
                        <a:srgbClr val="D9E0E5"/>
                      </a:solidFill>
                      <a:prstDash val="solid"/>
                    </a:lnL>
                    <a:lnR w="9525">
                      <a:solidFill>
                        <a:srgbClr val="D9E0E5"/>
                      </a:solidFill>
                      <a:prstDash val="solid"/>
                    </a:lnR>
                    <a:lnT w="9525">
                      <a:solidFill>
                        <a:srgbClr val="D9E0E5"/>
                      </a:solidFill>
                      <a:prstDash val="solid"/>
                    </a:lnT>
                    <a:lnB w="9525">
                      <a:solidFill>
                        <a:srgbClr val="D9E0E5"/>
                      </a:solidFill>
                      <a:prstDash val="solid"/>
                    </a:lnB>
                    <a:solidFill>
                      <a:srgbClr val="132D46"/>
                    </a:solidFill>
                  </a:tcPr>
                </a:tc>
                <a:tc>
                  <a:txBody>
                    <a:bodyPr lIns="114300" tIns="114300" rIns="114300" bIns="114300">
                      <a:noAutofit/>
                    </a:bodyPr>
                    <a:lstStyle/>
                    <a:p>
                      <a:r>
                        <a:rPr sz="1725" b="1">
                          <a:solidFill>
                            <a:srgbClr val="FFFFFF"/>
                          </a:solidFill>
                          <a:latin typeface="Arial"/>
                          <a:ea typeface="Arial"/>
                          <a:cs typeface="Arial"/>
                        </a:rPr>
                        <a:t>Benign 0</a:t>
                      </a:r>
                    </a:p>
                  </a:txBody>
                  <a:tcPr marL="91440" marR="91440" marT="45720" marB="45720" anchor="ctr">
                    <a:lnR w="9525">
                      <a:solidFill>
                        <a:srgbClr val="D9E0E5"/>
                      </a:solidFill>
                      <a:prstDash val="solid"/>
                    </a:lnR>
                    <a:lnT w="9525">
                      <a:solidFill>
                        <a:srgbClr val="D9E0E5"/>
                      </a:solidFill>
                      <a:prstDash val="solid"/>
                    </a:lnT>
                    <a:lnB w="9525">
                      <a:solidFill>
                        <a:srgbClr val="D9E0E5"/>
                      </a:solidFill>
                      <a:prstDash val="solid"/>
                    </a:lnB>
                    <a:solidFill>
                      <a:srgbClr val="132D46"/>
                    </a:solidFill>
                  </a:tcPr>
                </a:tc>
                <a:tc>
                  <a:txBody>
                    <a:bodyPr lIns="114300" tIns="114300" rIns="114300" bIns="114300">
                      <a:noAutofit/>
                    </a:bodyPr>
                    <a:lstStyle/>
                    <a:p>
                      <a:r>
                        <a:rPr sz="1725" b="1">
                          <a:solidFill>
                            <a:srgbClr val="FFFFFF"/>
                          </a:solidFill>
                          <a:latin typeface="Arial"/>
                          <a:ea typeface="Arial"/>
                          <a:cs typeface="Arial"/>
                        </a:rPr>
                        <a:t>Malignant 1</a:t>
                      </a:r>
                    </a:p>
                  </a:txBody>
                  <a:tcPr marL="91440" marR="91440" marT="45720" marB="45720" anchor="ctr">
                    <a:lnR w="9525">
                      <a:solidFill>
                        <a:srgbClr val="D9E0E5"/>
                      </a:solidFill>
                      <a:prstDash val="solid"/>
                    </a:lnR>
                    <a:lnT w="9525">
                      <a:solidFill>
                        <a:srgbClr val="D9E0E5"/>
                      </a:solidFill>
                      <a:prstDash val="solid"/>
                    </a:lnT>
                    <a:lnB w="9525">
                      <a:solidFill>
                        <a:srgbClr val="D9E0E5"/>
                      </a:solidFill>
                      <a:prstDash val="solid"/>
                    </a:lnB>
                    <a:solidFill>
                      <a:srgbClr val="132D46"/>
                    </a:solidFill>
                  </a:tcPr>
                </a:tc>
                <a:tc>
                  <a:txBody>
                    <a:bodyPr lIns="114300" tIns="114300" rIns="114300" bIns="114300">
                      <a:noAutofit/>
                    </a:bodyPr>
                    <a:lstStyle/>
                    <a:p>
                      <a:r>
                        <a:rPr sz="1725" b="1">
                          <a:solidFill>
                            <a:srgbClr val="FFFFFF"/>
                          </a:solidFill>
                          <a:latin typeface="Arial"/>
                          <a:ea typeface="Arial"/>
                          <a:cs typeface="Arial"/>
                        </a:rPr>
                        <a:t>Tổng</a:t>
                      </a:r>
                    </a:p>
                  </a:txBody>
                  <a:tcPr marL="91440" marR="91440" marT="45720" marB="45720" anchor="ctr">
                    <a:lnR w="9525">
                      <a:solidFill>
                        <a:srgbClr val="D9E0E5"/>
                      </a:solidFill>
                      <a:prstDash val="solid"/>
                    </a:lnR>
                    <a:lnT w="9525">
                      <a:solidFill>
                        <a:srgbClr val="D9E0E5"/>
                      </a:solidFill>
                      <a:prstDash val="solid"/>
                    </a:lnT>
                    <a:lnB w="9525">
                      <a:solidFill>
                        <a:srgbClr val="D9E0E5"/>
                      </a:solidFill>
                      <a:prstDash val="solid"/>
                    </a:lnB>
                    <a:solidFill>
                      <a:srgbClr val="132D46"/>
                    </a:solidFill>
                  </a:tcPr>
                </a:tc>
              </a:tr>
              <a:tr h="571500">
                <a:tc>
                  <a:txBody>
                    <a:bodyPr lIns="114300" tIns="114300" rIns="114300" bIns="114300">
                      <a:noAutofit/>
                    </a:bodyPr>
                    <a:lstStyle/>
                    <a:p>
                      <a:r>
                        <a:rPr sz="1725" b="0">
                          <a:solidFill>
                            <a:srgbClr val="132D46"/>
                          </a:solidFill>
                          <a:latin typeface="Arial"/>
                          <a:ea typeface="Arial"/>
                          <a:cs typeface="Arial"/>
                        </a:rPr>
                        <a:t>Train</a:t>
                      </a:r>
                    </a:p>
                  </a:txBody>
                  <a:tcPr marL="91440" marR="91440" marT="45720" marB="45720" anchor="ctr">
                    <a:lnL w="9525">
                      <a:solidFill>
                        <a:srgbClr val="D9E0E5"/>
                      </a:solidFill>
                      <a:prstDash val="solid"/>
                    </a:lnL>
                    <a:lnR w="9525">
                      <a:solidFill>
                        <a:srgbClr val="D9E0E5"/>
                      </a:solidFill>
                      <a:prstDash val="solid"/>
                    </a:lnR>
                    <a:lnB w="9525">
                      <a:solidFill>
                        <a:srgbClr val="D9E0E5"/>
                      </a:solidFill>
                      <a:prstDash val="solid"/>
                    </a:lnB>
                    <a:solidFill>
                      <a:srgbClr val="F1F5F7"/>
                    </a:solidFill>
                  </a:tcPr>
                </a:tc>
                <a:tc>
                  <a:txBody>
                    <a:bodyPr lIns="114300" tIns="114300" rIns="114300" bIns="114300">
                      <a:noAutofit/>
                    </a:bodyPr>
                    <a:lstStyle/>
                    <a:p>
                      <a:r>
                        <a:rPr sz="1725" b="0">
                          <a:solidFill>
                            <a:srgbClr val="132D46"/>
                          </a:solidFill>
                          <a:latin typeface="Arial"/>
                          <a:ea typeface="Arial"/>
                          <a:cs typeface="Arial"/>
                        </a:rPr>
                        <a:t>285</a:t>
                      </a:r>
                    </a:p>
                  </a:txBody>
                  <a:tcPr marL="91440" marR="91440" marT="45720" marB="45720" anchor="ctr">
                    <a:lnR w="9525">
                      <a:solidFill>
                        <a:srgbClr val="D9E0E5"/>
                      </a:solidFill>
                      <a:prstDash val="solid"/>
                    </a:lnR>
                    <a:lnB w="9525">
                      <a:solidFill>
                        <a:srgbClr val="D9E0E5"/>
                      </a:solidFill>
                      <a:prstDash val="solid"/>
                    </a:lnB>
                    <a:solidFill>
                      <a:srgbClr val="F1F5F7"/>
                    </a:solidFill>
                  </a:tcPr>
                </a:tc>
                <a:tc>
                  <a:txBody>
                    <a:bodyPr lIns="114300" tIns="114300" rIns="114300" bIns="114300">
                      <a:noAutofit/>
                    </a:bodyPr>
                    <a:lstStyle/>
                    <a:p>
                      <a:r>
                        <a:rPr sz="1725" b="0">
                          <a:solidFill>
                            <a:srgbClr val="132D46"/>
                          </a:solidFill>
                          <a:latin typeface="Arial"/>
                          <a:ea typeface="Arial"/>
                          <a:cs typeface="Arial"/>
                        </a:rPr>
                        <a:t>170</a:t>
                      </a:r>
                    </a:p>
                  </a:txBody>
                  <a:tcPr marL="91440" marR="91440" marT="45720" marB="45720" anchor="ctr">
                    <a:lnR w="9525">
                      <a:solidFill>
                        <a:srgbClr val="D9E0E5"/>
                      </a:solidFill>
                      <a:prstDash val="solid"/>
                    </a:lnR>
                    <a:lnB w="9525">
                      <a:solidFill>
                        <a:srgbClr val="D9E0E5"/>
                      </a:solidFill>
                      <a:prstDash val="solid"/>
                    </a:lnB>
                    <a:solidFill>
                      <a:srgbClr val="F1F5F7"/>
                    </a:solidFill>
                  </a:tcPr>
                </a:tc>
                <a:tc>
                  <a:txBody>
                    <a:bodyPr lIns="114300" tIns="114300" rIns="114300" bIns="114300">
                      <a:noAutofit/>
                    </a:bodyPr>
                    <a:lstStyle/>
                    <a:p>
                      <a:r>
                        <a:rPr sz="1725" b="0">
                          <a:solidFill>
                            <a:srgbClr val="132D46"/>
                          </a:solidFill>
                          <a:latin typeface="Arial"/>
                          <a:ea typeface="Arial"/>
                          <a:cs typeface="Arial"/>
                        </a:rPr>
                        <a:t>455</a:t>
                      </a:r>
                    </a:p>
                  </a:txBody>
                  <a:tcPr marL="91440" marR="91440" marT="45720" marB="45720" anchor="ctr">
                    <a:lnR w="9525">
                      <a:solidFill>
                        <a:srgbClr val="D9E0E5"/>
                      </a:solidFill>
                      <a:prstDash val="solid"/>
                    </a:lnR>
                    <a:lnB w="9525">
                      <a:solidFill>
                        <a:srgbClr val="D9E0E5"/>
                      </a:solidFill>
                      <a:prstDash val="solid"/>
                    </a:lnB>
                    <a:solidFill>
                      <a:srgbClr val="F1F5F7"/>
                    </a:solidFill>
                  </a:tcPr>
                </a:tc>
              </a:tr>
              <a:tr h="571500">
                <a:tc>
                  <a:txBody>
                    <a:bodyPr lIns="114300" tIns="114300" rIns="114300" bIns="114300">
                      <a:noAutofit/>
                    </a:bodyPr>
                    <a:lstStyle/>
                    <a:p>
                      <a:r>
                        <a:rPr sz="1725" b="0">
                          <a:solidFill>
                            <a:srgbClr val="132D46"/>
                          </a:solidFill>
                          <a:latin typeface="Arial"/>
                          <a:ea typeface="Arial"/>
                          <a:cs typeface="Arial"/>
                        </a:rPr>
                        <a:t>Holdout</a:t>
                      </a:r>
                    </a:p>
                  </a:txBody>
                  <a:tcPr marL="91440" marR="91440" marT="45720" marB="45720" anchor="ctr">
                    <a:lnL w="9525">
                      <a:solidFill>
                        <a:srgbClr val="D9E0E5"/>
                      </a:solidFill>
                      <a:prstDash val="solid"/>
                    </a:lnL>
                    <a:lnR w="9525">
                      <a:solidFill>
                        <a:srgbClr val="D9E0E5"/>
                      </a:solidFill>
                      <a:prstDash val="solid"/>
                    </a:lnR>
                    <a:lnB w="9525">
                      <a:solidFill>
                        <a:srgbClr val="D9E0E5"/>
                      </a:solidFill>
                      <a:prstDash val="solid"/>
                    </a:lnB>
                    <a:solidFill>
                      <a:srgbClr val="FFFFFF"/>
                    </a:solidFill>
                  </a:tcPr>
                </a:tc>
                <a:tc>
                  <a:txBody>
                    <a:bodyPr lIns="114300" tIns="114300" rIns="114300" bIns="114300">
                      <a:noAutofit/>
                    </a:bodyPr>
                    <a:lstStyle/>
                    <a:p>
                      <a:r>
                        <a:rPr sz="1725" b="0">
                          <a:solidFill>
                            <a:srgbClr val="132D46"/>
                          </a:solidFill>
                          <a:latin typeface="Arial"/>
                          <a:ea typeface="Arial"/>
                          <a:cs typeface="Arial"/>
                        </a:rPr>
                        <a:t>72</a:t>
                      </a:r>
                    </a:p>
                  </a:txBody>
                  <a:tcPr marL="91440" marR="91440" marT="45720" marB="45720" anchor="ctr">
                    <a:lnR w="9525">
                      <a:solidFill>
                        <a:srgbClr val="D9E0E5"/>
                      </a:solidFill>
                      <a:prstDash val="solid"/>
                    </a:lnR>
                    <a:lnB w="9525">
                      <a:solidFill>
                        <a:srgbClr val="D9E0E5"/>
                      </a:solidFill>
                      <a:prstDash val="solid"/>
                    </a:lnB>
                    <a:solidFill>
                      <a:srgbClr val="FFFFFF"/>
                    </a:solidFill>
                  </a:tcPr>
                </a:tc>
                <a:tc>
                  <a:txBody>
                    <a:bodyPr lIns="114300" tIns="114300" rIns="114300" bIns="114300">
                      <a:noAutofit/>
                    </a:bodyPr>
                    <a:lstStyle/>
                    <a:p>
                      <a:r>
                        <a:rPr sz="1725" b="0">
                          <a:solidFill>
                            <a:srgbClr val="132D46"/>
                          </a:solidFill>
                          <a:latin typeface="Arial"/>
                          <a:ea typeface="Arial"/>
                          <a:cs typeface="Arial"/>
                        </a:rPr>
                        <a:t>42</a:t>
                      </a:r>
                    </a:p>
                  </a:txBody>
                  <a:tcPr marL="91440" marR="91440" marT="45720" marB="45720" anchor="ctr">
                    <a:lnR w="9525">
                      <a:solidFill>
                        <a:srgbClr val="D9E0E5"/>
                      </a:solidFill>
                      <a:prstDash val="solid"/>
                    </a:lnR>
                    <a:lnB w="9525">
                      <a:solidFill>
                        <a:srgbClr val="D9E0E5"/>
                      </a:solidFill>
                      <a:prstDash val="solid"/>
                    </a:lnB>
                    <a:solidFill>
                      <a:srgbClr val="FFFFFF"/>
                    </a:solidFill>
                  </a:tcPr>
                </a:tc>
                <a:tc>
                  <a:txBody>
                    <a:bodyPr lIns="114300" tIns="114300" rIns="114300" bIns="114300">
                      <a:noAutofit/>
                    </a:bodyPr>
                    <a:lstStyle/>
                    <a:p>
                      <a:r>
                        <a:rPr sz="1725" b="0">
                          <a:solidFill>
                            <a:srgbClr val="132D46"/>
                          </a:solidFill>
                          <a:latin typeface="Arial"/>
                          <a:ea typeface="Arial"/>
                          <a:cs typeface="Arial"/>
                        </a:rPr>
                        <a:t>114</a:t>
                      </a:r>
                    </a:p>
                  </a:txBody>
                  <a:tcPr marL="91440" marR="91440" marT="45720" marB="45720" anchor="ctr">
                    <a:lnR w="9525">
                      <a:solidFill>
                        <a:srgbClr val="D9E0E5"/>
                      </a:solidFill>
                      <a:prstDash val="solid"/>
                    </a:lnR>
                    <a:lnB w="9525">
                      <a:solidFill>
                        <a:srgbClr val="D9E0E5"/>
                      </a:solidFill>
                      <a:prstDash val="solid"/>
                    </a:lnB>
                    <a:solidFill>
                      <a:srgbClr val="FFFFFF"/>
                    </a:solidFill>
                  </a:tcPr>
                </a:tc>
              </a:tr>
            </a:tbl>
          </a:graphicData>
        </a:graphic>
      </p:graphicFrame>
      <p:sp>
        <p:nvSpPr>
          <p:cNvPr id="6" name="text">
            <a:extLst xmlns:a="http://schemas.openxmlformats.org/drawingml/2006/main">
              <a:ext uri="{FF2B5EF4-FFF2-40B4-BE49-F238E27FC236}">
                <a16:creationId xmlns:a16="http://schemas.microsoft.com/office/drawing/2014/main" id="{1A8001E7-17E3-46D1-A276-25695CAF8BED}"/>
              </a:ext>
            </a:extLst>
          </p:cNvPr>
          <p:cNvSpPr>
            <a:spLocks xmlns:a="http://schemas.openxmlformats.org/drawingml/2006/main" noGrp="1"/>
          </p:cNvSpPr>
          <p:nvPr/>
        </p:nvSpPr>
        <p:spPr>
          <a:xfrm xmlns:a="http://schemas.openxmlformats.org/drawingml/2006/main">
            <a:off x="609600" y="44767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32D46"/>
                </a:solidFill>
                <a:latin typeface="Arial"/>
                <a:ea typeface="Arial"/>
                <a:cs typeface="Arial"/>
              </a:defRPr>
            </a:defPPr>
            <a:lvl1pPr>
              <a:defRPr sz="2175" b="0">
                <a:solidFill>
                  <a:srgbClr val="132D46"/>
                </a:solidFill>
                <a:latin typeface="Arial"/>
                <a:ea typeface="Arial"/>
                <a:cs typeface="Arial"/>
              </a:defRPr>
            </a:lvl1pPr>
            <a:lvl2pPr>
              <a:defRPr sz="2175" b="0">
                <a:solidFill>
                  <a:srgbClr val="132D46"/>
                </a:solidFill>
                <a:latin typeface="Arial"/>
                <a:ea typeface="Arial"/>
                <a:cs typeface="Arial"/>
              </a:defRPr>
            </a:lvl2pPr>
            <a:lvl3pPr>
              <a:defRPr sz="2175" b="0">
                <a:solidFill>
                  <a:srgbClr val="132D46"/>
                </a:solidFill>
                <a:latin typeface="Arial"/>
                <a:ea typeface="Arial"/>
                <a:cs typeface="Arial"/>
              </a:defRPr>
            </a:lvl3pPr>
            <a:lvl4pPr>
              <a:defRPr sz="2175" b="0">
                <a:solidFill>
                  <a:srgbClr val="132D46"/>
                </a:solidFill>
                <a:latin typeface="Arial"/>
                <a:ea typeface="Arial"/>
                <a:cs typeface="Arial"/>
              </a:defRPr>
            </a:lvl4pPr>
            <a:lvl5pPr>
              <a:defRPr sz="2175" b="0">
                <a:solidFill>
                  <a:srgbClr val="132D46"/>
                </a:solidFill>
                <a:latin typeface="Arial"/>
                <a:ea typeface="Arial"/>
                <a:cs typeface="Arial"/>
              </a:defRPr>
            </a:lvl5pPr>
            <a:lvl6pPr>
              <a:defRPr sz="2175" b="0">
                <a:solidFill>
                  <a:srgbClr val="132D46"/>
                </a:solidFill>
                <a:latin typeface="Arial"/>
                <a:ea typeface="Arial"/>
                <a:cs typeface="Arial"/>
              </a:defRPr>
            </a:lvl6pPr>
            <a:lvl7pPr>
              <a:defRPr sz="2175" b="0">
                <a:solidFill>
                  <a:srgbClr val="132D46"/>
                </a:solidFill>
                <a:latin typeface="Arial"/>
                <a:ea typeface="Arial"/>
                <a:cs typeface="Arial"/>
              </a:defRPr>
            </a:lvl7pPr>
            <a:lvl8pPr>
              <a:defRPr sz="2175" b="0">
                <a:solidFill>
                  <a:srgbClr val="132D46"/>
                </a:solidFill>
                <a:latin typeface="Arial"/>
                <a:ea typeface="Arial"/>
                <a:cs typeface="Arial"/>
              </a:defRPr>
            </a:lvl8pPr>
            <a:lvl9pPr>
              <a:defRPr sz="2175" b="0">
                <a:solidFill>
                  <a:srgbClr val="132D46"/>
                </a:solidFill>
                <a:latin typeface="Arial"/>
                <a:ea typeface="Arial"/>
                <a:cs typeface="Arial"/>
              </a:defRPr>
            </a:lvl9pPr>
          </a:lstStyle>
          <a:p xmlns:a="http://schemas.openxmlformats.org/drawingml/2006/main">
            <a:pPr>
              <a:defRPr sz="2175" b="0">
                <a:solidFill>
                  <a:srgbClr val="132D46"/>
                </a:solidFill>
                <a:latin typeface="Arial"/>
                <a:ea typeface="Arial"/>
                <a:cs typeface="Arial"/>
              </a:defRPr>
            </a:pPr>
            <a:r>
              <a:rPr sz="2175" b="0">
                <a:solidFill>
                  <a:srgbClr val="132D46"/>
                </a:solidFill>
                <a:latin typeface="Arial"/>
                <a:ea typeface="Arial"/>
                <a:cs typeface="Arial"/>
              </a:rPr>
              <a:t>3-fold stratified CV chỉ trên train</a:t>
            </a:r>
          </a:p>
          <a:p xmlns:a="http://schemas.openxmlformats.org/drawingml/2006/main">
            <a:pPr>
              <a:defRPr sz="2175" b="0">
                <a:solidFill>
                  <a:srgbClr val="132D46"/>
                </a:solidFill>
                <a:latin typeface="Arial"/>
                <a:ea typeface="Arial"/>
                <a:cs typeface="Arial"/>
              </a:defRPr>
            </a:pPr>
            <a:r>
              <a:rPr sz="2175" b="0">
                <a:solidFill>
                  <a:srgbClr val="132D46"/>
                </a:solidFill>
                <a:latin typeface="Arial"/>
                <a:ea typeface="Arial"/>
                <a:cs typeface="Arial"/>
              </a:rPr>
              <a:t>Cùng folds, seed 42 và n_jobs=1 cho baseline và mọi trial</a:t>
            </a:r>
          </a:p>
        </p:txBody>
      </p:sp>
      <p:sp>
        <p:nvSpPr>
          <p:cNvPr id="7" name="text">
            <a:extLst xmlns:a="http://schemas.openxmlformats.org/drawingml/2006/main">
              <a:ext uri="{FF2B5EF4-FFF2-40B4-BE49-F238E27FC236}">
                <a16:creationId xmlns:a16="http://schemas.microsoft.com/office/drawing/2014/main" id="{D02E008D-A5F9-4CA7-AA96-25DB6C748CE6}"/>
              </a:ext>
            </a:extLst>
          </p:cNvPr>
          <p:cNvSpPr>
            <a:spLocks xmlns:a="http://schemas.openxmlformats.org/drawingml/2006/main" noGrp="1"/>
          </p:cNvSpPr>
          <p:nvPr/>
        </p:nvSpPr>
        <p:spPr>
          <a:xfrm xmlns:a="http://schemas.openxmlformats.org/drawingml/2006/main">
            <a:off x="609600" y="56483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8B"/>
                </a:solidFill>
                <a:latin typeface="Arial"/>
                <a:ea typeface="Arial"/>
                <a:cs typeface="Arial"/>
              </a:defRPr>
            </a:defPPr>
            <a:lvl1pPr>
              <a:defRPr sz="1950" b="1">
                <a:solidFill>
                  <a:srgbClr val="087E8B"/>
                </a:solidFill>
                <a:latin typeface="Arial"/>
                <a:ea typeface="Arial"/>
                <a:cs typeface="Arial"/>
              </a:defRPr>
            </a:lvl1pPr>
            <a:lvl2pPr>
              <a:defRPr sz="1950" b="1">
                <a:solidFill>
                  <a:srgbClr val="087E8B"/>
                </a:solidFill>
                <a:latin typeface="Arial"/>
                <a:ea typeface="Arial"/>
                <a:cs typeface="Arial"/>
              </a:defRPr>
            </a:lvl2pPr>
            <a:lvl3pPr>
              <a:defRPr sz="1950" b="1">
                <a:solidFill>
                  <a:srgbClr val="087E8B"/>
                </a:solidFill>
                <a:latin typeface="Arial"/>
                <a:ea typeface="Arial"/>
                <a:cs typeface="Arial"/>
              </a:defRPr>
            </a:lvl3pPr>
            <a:lvl4pPr>
              <a:defRPr sz="1950" b="1">
                <a:solidFill>
                  <a:srgbClr val="087E8B"/>
                </a:solidFill>
                <a:latin typeface="Arial"/>
                <a:ea typeface="Arial"/>
                <a:cs typeface="Arial"/>
              </a:defRPr>
            </a:lvl4pPr>
            <a:lvl5pPr>
              <a:defRPr sz="1950" b="1">
                <a:solidFill>
                  <a:srgbClr val="087E8B"/>
                </a:solidFill>
                <a:latin typeface="Arial"/>
                <a:ea typeface="Arial"/>
                <a:cs typeface="Arial"/>
              </a:defRPr>
            </a:lvl5pPr>
            <a:lvl6pPr>
              <a:defRPr sz="1950" b="1">
                <a:solidFill>
                  <a:srgbClr val="087E8B"/>
                </a:solidFill>
                <a:latin typeface="Arial"/>
                <a:ea typeface="Arial"/>
                <a:cs typeface="Arial"/>
              </a:defRPr>
            </a:lvl6pPr>
            <a:lvl7pPr>
              <a:defRPr sz="1950" b="1">
                <a:solidFill>
                  <a:srgbClr val="087E8B"/>
                </a:solidFill>
                <a:latin typeface="Arial"/>
                <a:ea typeface="Arial"/>
                <a:cs typeface="Arial"/>
              </a:defRPr>
            </a:lvl7pPr>
            <a:lvl8pPr>
              <a:defRPr sz="1950" b="1">
                <a:solidFill>
                  <a:srgbClr val="087E8B"/>
                </a:solidFill>
                <a:latin typeface="Arial"/>
                <a:ea typeface="Arial"/>
                <a:cs typeface="Arial"/>
              </a:defRPr>
            </a:lvl8pPr>
            <a:lvl9pPr>
              <a:defRPr sz="1950" b="1">
                <a:solidFill>
                  <a:srgbClr val="087E8B"/>
                </a:solidFill>
                <a:latin typeface="Arial"/>
                <a:ea typeface="Arial"/>
                <a:cs typeface="Arial"/>
              </a:defRPr>
            </a:lvl9pPr>
          </a:lstStyle>
          <a:p xmlns:a="http://schemas.openxmlformats.org/drawingml/2006/main">
            <a:pPr>
              <a:defRPr sz="1950" b="1">
                <a:solidFill>
                  <a:srgbClr val="087E8B"/>
                </a:solidFill>
                <a:latin typeface="Arial"/>
                <a:ea typeface="Arial"/>
                <a:cs typeface="Arial"/>
              </a:defRPr>
            </a:pPr>
            <a:r>
              <a:rPr sz="1950" b="1">
                <a:solidFill>
                  <a:srgbClr val="087E8B"/>
                </a:solidFill>
                <a:latin typeface="Arial"/>
                <a:ea typeface="Arial"/>
                <a:cs typeface="Arial"/>
              </a:rPr>
              <a:t>Chốt tham số bằng CV trước khi đánh giá holdout.</a:t>
            </a:r>
          </a:p>
        </p:txBody>
      </p:sp>
    </p:spTree>
    <p:extLst>
      <p:ext uri="{BB962C8B-B14F-4D97-AF65-F5344CB8AC3E}">
        <p14:creationId xmlns:p14="http://schemas.microsoft.com/office/powerpoint/2010/main" val="65748762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primary-heading">
            <a:extLst xmlns:a="http://schemas.openxmlformats.org/drawingml/2006/main">
              <a:ext uri="{FF2B5EF4-FFF2-40B4-BE49-F238E27FC236}">
                <a16:creationId xmlns:a16="http://schemas.microsoft.com/office/drawing/2014/main" id="{613E7FD5-2E88-4132-AD08-041CE52BE682}"/>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32D46"/>
                </a:solidFill>
                <a:latin typeface="Arial"/>
                <a:ea typeface="Arial"/>
                <a:cs typeface="Arial"/>
              </a:defRPr>
            </a:defPPr>
            <a:lvl1pPr>
              <a:defRPr sz="3300" b="1">
                <a:solidFill>
                  <a:srgbClr val="132D46"/>
                </a:solidFill>
                <a:latin typeface="Arial"/>
                <a:ea typeface="Arial"/>
                <a:cs typeface="Arial"/>
              </a:defRPr>
            </a:lvl1pPr>
            <a:lvl2pPr>
              <a:defRPr sz="3300" b="1">
                <a:solidFill>
                  <a:srgbClr val="132D46"/>
                </a:solidFill>
                <a:latin typeface="Arial"/>
                <a:ea typeface="Arial"/>
                <a:cs typeface="Arial"/>
              </a:defRPr>
            </a:lvl2pPr>
            <a:lvl3pPr>
              <a:defRPr sz="3300" b="1">
                <a:solidFill>
                  <a:srgbClr val="132D46"/>
                </a:solidFill>
                <a:latin typeface="Arial"/>
                <a:ea typeface="Arial"/>
                <a:cs typeface="Arial"/>
              </a:defRPr>
            </a:lvl3pPr>
            <a:lvl4pPr>
              <a:defRPr sz="3300" b="1">
                <a:solidFill>
                  <a:srgbClr val="132D46"/>
                </a:solidFill>
                <a:latin typeface="Arial"/>
                <a:ea typeface="Arial"/>
                <a:cs typeface="Arial"/>
              </a:defRPr>
            </a:lvl4pPr>
            <a:lvl5pPr>
              <a:defRPr sz="3300" b="1">
                <a:solidFill>
                  <a:srgbClr val="132D46"/>
                </a:solidFill>
                <a:latin typeface="Arial"/>
                <a:ea typeface="Arial"/>
                <a:cs typeface="Arial"/>
              </a:defRPr>
            </a:lvl5pPr>
            <a:lvl6pPr>
              <a:defRPr sz="3300" b="1">
                <a:solidFill>
                  <a:srgbClr val="132D46"/>
                </a:solidFill>
                <a:latin typeface="Arial"/>
                <a:ea typeface="Arial"/>
                <a:cs typeface="Arial"/>
              </a:defRPr>
            </a:lvl6pPr>
            <a:lvl7pPr>
              <a:defRPr sz="3300" b="1">
                <a:solidFill>
                  <a:srgbClr val="132D46"/>
                </a:solidFill>
                <a:latin typeface="Arial"/>
                <a:ea typeface="Arial"/>
                <a:cs typeface="Arial"/>
              </a:defRPr>
            </a:lvl7pPr>
            <a:lvl8pPr>
              <a:defRPr sz="3300" b="1">
                <a:solidFill>
                  <a:srgbClr val="132D46"/>
                </a:solidFill>
                <a:latin typeface="Arial"/>
                <a:ea typeface="Arial"/>
                <a:cs typeface="Arial"/>
              </a:defRPr>
            </a:lvl8pPr>
            <a:lvl9pPr>
              <a:defRPr sz="3300" b="1">
                <a:solidFill>
                  <a:srgbClr val="132D46"/>
                </a:solidFill>
                <a:latin typeface="Arial"/>
                <a:ea typeface="Arial"/>
                <a:cs typeface="Arial"/>
              </a:defRPr>
            </a:lvl9pPr>
          </a:lstStyle>
          <a:p xmlns:a="http://schemas.openxmlformats.org/drawingml/2006/main">
            <a:pPr>
              <a:defRPr sz="3300" b="1">
                <a:solidFill>
                  <a:srgbClr val="132D46"/>
                </a:solidFill>
                <a:latin typeface="Arial"/>
                <a:ea typeface="Arial"/>
                <a:cs typeface="Arial"/>
              </a:defRPr>
            </a:pPr>
            <a:r>
              <a:rPr sz="3300" b="1">
                <a:solidFill>
                  <a:srgbClr val="132D46"/>
                </a:solidFill>
                <a:latin typeface="Arial"/>
                <a:ea typeface="Arial"/>
                <a:cs typeface="Arial"/>
              </a:rPr>
              <a:t>Mô hình hóa bài toán tối ưu</a:t>
            </a:r>
          </a:p>
        </p:txBody>
      </p:sp>
      <p:sp>
        <p:nvSpPr>
          <p:cNvPr id="2" name="text">
            <a:extLst xmlns:a="http://schemas.openxmlformats.org/drawingml/2006/main">
              <a:ext uri="{FF2B5EF4-FFF2-40B4-BE49-F238E27FC236}">
                <a16:creationId xmlns:a16="http://schemas.microsoft.com/office/drawing/2014/main" id="{BA91CF07-8F17-4C2B-80F8-4C4D9DC4570D}"/>
              </a:ext>
            </a:extLst>
          </p:cNvPr>
          <p:cNvSpPr>
            <a:spLocks xmlns:a="http://schemas.openxmlformats.org/drawingml/2006/main" noGrp="1"/>
          </p:cNvSpPr>
          <p:nvPr/>
        </p:nvSpPr>
        <p:spPr>
          <a:xfrm xmlns:a="http://schemas.openxmlformats.org/drawingml/2006/main">
            <a:off x="609600" y="6410325"/>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273"/>
                </a:solidFill>
                <a:latin typeface="Arial"/>
                <a:ea typeface="Arial"/>
                <a:cs typeface="Arial"/>
              </a:defRPr>
            </a:defPPr>
            <a:lvl1pPr>
              <a:defRPr sz="1200" b="0">
                <a:solidFill>
                  <a:srgbClr val="516273"/>
                </a:solidFill>
                <a:latin typeface="Arial"/>
                <a:ea typeface="Arial"/>
                <a:cs typeface="Arial"/>
              </a:defRPr>
            </a:lvl1pPr>
            <a:lvl2pPr>
              <a:defRPr sz="1200" b="0">
                <a:solidFill>
                  <a:srgbClr val="516273"/>
                </a:solidFill>
                <a:latin typeface="Arial"/>
                <a:ea typeface="Arial"/>
                <a:cs typeface="Arial"/>
              </a:defRPr>
            </a:lvl2pPr>
            <a:lvl3pPr>
              <a:defRPr sz="1200" b="0">
                <a:solidFill>
                  <a:srgbClr val="516273"/>
                </a:solidFill>
                <a:latin typeface="Arial"/>
                <a:ea typeface="Arial"/>
                <a:cs typeface="Arial"/>
              </a:defRPr>
            </a:lvl3pPr>
            <a:lvl4pPr>
              <a:defRPr sz="1200" b="0">
                <a:solidFill>
                  <a:srgbClr val="516273"/>
                </a:solidFill>
                <a:latin typeface="Arial"/>
                <a:ea typeface="Arial"/>
                <a:cs typeface="Arial"/>
              </a:defRPr>
            </a:lvl4pPr>
            <a:lvl5pPr>
              <a:defRPr sz="1200" b="0">
                <a:solidFill>
                  <a:srgbClr val="516273"/>
                </a:solidFill>
                <a:latin typeface="Arial"/>
                <a:ea typeface="Arial"/>
                <a:cs typeface="Arial"/>
              </a:defRPr>
            </a:lvl5pPr>
            <a:lvl6pPr>
              <a:defRPr sz="1200" b="0">
                <a:solidFill>
                  <a:srgbClr val="516273"/>
                </a:solidFill>
                <a:latin typeface="Arial"/>
                <a:ea typeface="Arial"/>
                <a:cs typeface="Arial"/>
              </a:defRPr>
            </a:lvl6pPr>
            <a:lvl7pPr>
              <a:defRPr sz="1200" b="0">
                <a:solidFill>
                  <a:srgbClr val="516273"/>
                </a:solidFill>
                <a:latin typeface="Arial"/>
                <a:ea typeface="Arial"/>
                <a:cs typeface="Arial"/>
              </a:defRPr>
            </a:lvl7pPr>
            <a:lvl8pPr>
              <a:defRPr sz="1200" b="0">
                <a:solidFill>
                  <a:srgbClr val="516273"/>
                </a:solidFill>
                <a:latin typeface="Arial"/>
                <a:ea typeface="Arial"/>
                <a:cs typeface="Arial"/>
              </a:defRPr>
            </a:lvl8pPr>
            <a:lvl9pPr>
              <a:defRPr sz="1200" b="0">
                <a:solidFill>
                  <a:srgbClr val="516273"/>
                </a:solidFill>
                <a:latin typeface="Arial"/>
                <a:ea typeface="Arial"/>
                <a:cs typeface="Arial"/>
              </a:defRPr>
            </a:lvl9pPr>
          </a:lstStyle>
          <a:p xmlns:a="http://schemas.openxmlformats.org/drawingml/2006/main">
            <a:pPr>
              <a:defRPr sz="1200" b="0">
                <a:solidFill>
                  <a:srgbClr val="516273"/>
                </a:solidFill>
                <a:latin typeface="Arial"/>
                <a:ea typeface="Arial"/>
                <a:cs typeface="Arial"/>
              </a:defRPr>
            </a:pPr>
            <a:r>
              <a:rPr sz="1200" b="0">
                <a:solidFill>
                  <a:srgbClr val="516273"/>
                </a:solidFill>
                <a:latin typeface="Arial"/>
                <a:ea typeface="Arial"/>
                <a:cs typeface="Arial"/>
              </a:rPr>
              <a:t>NHẬP MÔN TỐI ƯU HÓA   •   RANDOM FOREST VÀ OPTUNA</a:t>
            </a:r>
          </a:p>
        </p:txBody>
      </p:sp>
      <p:sp>
        <p:nvSpPr>
          <p:cNvPr id="3" name="text">
            <a:extLst xmlns:a="http://schemas.openxmlformats.org/drawingml/2006/main">
              <a:ext uri="{FF2B5EF4-FFF2-40B4-BE49-F238E27FC236}">
                <a16:creationId xmlns:a16="http://schemas.microsoft.com/office/drawing/2014/main" id="{EF3CB688-ADAB-4806-B533-3B8CC9D13E6C}"/>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16273"/>
                </a:solidFill>
                <a:latin typeface="Arial"/>
                <a:ea typeface="Arial"/>
                <a:cs typeface="Arial"/>
              </a:defRPr>
            </a:defPPr>
            <a:lvl1pPr>
              <a:defRPr sz="1350" b="0">
                <a:solidFill>
                  <a:srgbClr val="516273"/>
                </a:solidFill>
                <a:latin typeface="Arial"/>
                <a:ea typeface="Arial"/>
                <a:cs typeface="Arial"/>
              </a:defRPr>
            </a:lvl1pPr>
            <a:lvl2pPr>
              <a:defRPr sz="1350" b="0">
                <a:solidFill>
                  <a:srgbClr val="516273"/>
                </a:solidFill>
                <a:latin typeface="Arial"/>
                <a:ea typeface="Arial"/>
                <a:cs typeface="Arial"/>
              </a:defRPr>
            </a:lvl2pPr>
            <a:lvl3pPr>
              <a:defRPr sz="1350" b="0">
                <a:solidFill>
                  <a:srgbClr val="516273"/>
                </a:solidFill>
                <a:latin typeface="Arial"/>
                <a:ea typeface="Arial"/>
                <a:cs typeface="Arial"/>
              </a:defRPr>
            </a:lvl3pPr>
            <a:lvl4pPr>
              <a:defRPr sz="1350" b="0">
                <a:solidFill>
                  <a:srgbClr val="516273"/>
                </a:solidFill>
                <a:latin typeface="Arial"/>
                <a:ea typeface="Arial"/>
                <a:cs typeface="Arial"/>
              </a:defRPr>
            </a:lvl4pPr>
            <a:lvl5pPr>
              <a:defRPr sz="1350" b="0">
                <a:solidFill>
                  <a:srgbClr val="516273"/>
                </a:solidFill>
                <a:latin typeface="Arial"/>
                <a:ea typeface="Arial"/>
                <a:cs typeface="Arial"/>
              </a:defRPr>
            </a:lvl5pPr>
            <a:lvl6pPr>
              <a:defRPr sz="1350" b="0">
                <a:solidFill>
                  <a:srgbClr val="516273"/>
                </a:solidFill>
                <a:latin typeface="Arial"/>
                <a:ea typeface="Arial"/>
                <a:cs typeface="Arial"/>
              </a:defRPr>
            </a:lvl6pPr>
            <a:lvl7pPr>
              <a:defRPr sz="1350" b="0">
                <a:solidFill>
                  <a:srgbClr val="516273"/>
                </a:solidFill>
                <a:latin typeface="Arial"/>
                <a:ea typeface="Arial"/>
                <a:cs typeface="Arial"/>
              </a:defRPr>
            </a:lvl7pPr>
            <a:lvl8pPr>
              <a:defRPr sz="1350" b="0">
                <a:solidFill>
                  <a:srgbClr val="516273"/>
                </a:solidFill>
                <a:latin typeface="Arial"/>
                <a:ea typeface="Arial"/>
                <a:cs typeface="Arial"/>
              </a:defRPr>
            </a:lvl8pPr>
            <a:lvl9pPr>
              <a:defRPr sz="1350" b="0">
                <a:solidFill>
                  <a:srgbClr val="516273"/>
                </a:solidFill>
                <a:latin typeface="Arial"/>
                <a:ea typeface="Arial"/>
                <a:cs typeface="Arial"/>
              </a:defRPr>
            </a:lvl9pPr>
          </a:lstStyle>
          <a:p xmlns:a="http://schemas.openxmlformats.org/drawingml/2006/main">
            <a:pPr>
              <a:defRPr sz="1350" b="0">
                <a:solidFill>
                  <a:srgbClr val="516273"/>
                </a:solidFill>
                <a:latin typeface="Arial"/>
                <a:ea typeface="Arial"/>
                <a:cs typeface="Arial"/>
              </a:defRPr>
            </a:pPr>
            <a:r>
              <a:rPr sz="1350" b="0">
                <a:solidFill>
                  <a:srgbClr val="516273"/>
                </a:solidFill>
                <a:latin typeface="Arial"/>
                <a:ea typeface="Arial"/>
                <a:cs typeface="Arial"/>
              </a:rPr>
              <a:t>03</a:t>
            </a:r>
          </a:p>
        </p:txBody>
      </p:sp>
      <p:sp>
        <p:nvSpPr>
          <p:cNvPr id="4" name="text">
            <a:extLst xmlns:a="http://schemas.openxmlformats.org/drawingml/2006/main">
              <a:ext uri="{FF2B5EF4-FFF2-40B4-BE49-F238E27FC236}">
                <a16:creationId xmlns:a16="http://schemas.microsoft.com/office/drawing/2014/main" id="{C740D2F8-84AB-49A4-B228-7151CE8BCA1F}"/>
              </a:ext>
            </a:extLst>
          </p:cNvPr>
          <p:cNvSpPr>
            <a:spLocks xmlns:a="http://schemas.openxmlformats.org/drawingml/2006/main" noGrp="1"/>
          </p:cNvSpPr>
          <p:nvPr/>
        </p:nvSpPr>
        <p:spPr>
          <a:xfrm xmlns:a="http://schemas.openxmlformats.org/drawingml/2006/main">
            <a:off x="609600" y="14859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87E8B"/>
                </a:solidFill>
                <a:latin typeface="Arial"/>
                <a:ea typeface="Arial"/>
                <a:cs typeface="Arial"/>
              </a:defRPr>
            </a:defPPr>
            <a:lvl1pPr>
              <a:defRPr sz="2250" b="1">
                <a:solidFill>
                  <a:srgbClr val="087E8B"/>
                </a:solidFill>
                <a:latin typeface="Arial"/>
                <a:ea typeface="Arial"/>
                <a:cs typeface="Arial"/>
              </a:defRPr>
            </a:lvl1pPr>
            <a:lvl2pPr>
              <a:defRPr sz="2250" b="1">
                <a:solidFill>
                  <a:srgbClr val="087E8B"/>
                </a:solidFill>
                <a:latin typeface="Arial"/>
                <a:ea typeface="Arial"/>
                <a:cs typeface="Arial"/>
              </a:defRPr>
            </a:lvl2pPr>
            <a:lvl3pPr>
              <a:defRPr sz="2250" b="1">
                <a:solidFill>
                  <a:srgbClr val="087E8B"/>
                </a:solidFill>
                <a:latin typeface="Arial"/>
                <a:ea typeface="Arial"/>
                <a:cs typeface="Arial"/>
              </a:defRPr>
            </a:lvl3pPr>
            <a:lvl4pPr>
              <a:defRPr sz="2250" b="1">
                <a:solidFill>
                  <a:srgbClr val="087E8B"/>
                </a:solidFill>
                <a:latin typeface="Arial"/>
                <a:ea typeface="Arial"/>
                <a:cs typeface="Arial"/>
              </a:defRPr>
            </a:lvl4pPr>
            <a:lvl5pPr>
              <a:defRPr sz="2250" b="1">
                <a:solidFill>
                  <a:srgbClr val="087E8B"/>
                </a:solidFill>
                <a:latin typeface="Arial"/>
                <a:ea typeface="Arial"/>
                <a:cs typeface="Arial"/>
              </a:defRPr>
            </a:lvl5pPr>
            <a:lvl6pPr>
              <a:defRPr sz="2250" b="1">
                <a:solidFill>
                  <a:srgbClr val="087E8B"/>
                </a:solidFill>
                <a:latin typeface="Arial"/>
                <a:ea typeface="Arial"/>
                <a:cs typeface="Arial"/>
              </a:defRPr>
            </a:lvl6pPr>
            <a:lvl7pPr>
              <a:defRPr sz="2250" b="1">
                <a:solidFill>
                  <a:srgbClr val="087E8B"/>
                </a:solidFill>
                <a:latin typeface="Arial"/>
                <a:ea typeface="Arial"/>
                <a:cs typeface="Arial"/>
              </a:defRPr>
            </a:lvl7pPr>
            <a:lvl8pPr>
              <a:defRPr sz="2250" b="1">
                <a:solidFill>
                  <a:srgbClr val="087E8B"/>
                </a:solidFill>
                <a:latin typeface="Arial"/>
                <a:ea typeface="Arial"/>
                <a:cs typeface="Arial"/>
              </a:defRPr>
            </a:lvl8pPr>
            <a:lvl9pPr>
              <a:defRPr sz="2250" b="1">
                <a:solidFill>
                  <a:srgbClr val="087E8B"/>
                </a:solidFill>
                <a:latin typeface="Arial"/>
                <a:ea typeface="Arial"/>
                <a:cs typeface="Arial"/>
              </a:defRPr>
            </a:lvl9pPr>
          </a:lstStyle>
          <a:p xmlns:a="http://schemas.openxmlformats.org/drawingml/2006/main">
            <a:pPr>
              <a:defRPr sz="2250" b="1">
                <a:solidFill>
                  <a:srgbClr val="087E8B"/>
                </a:solidFill>
                <a:latin typeface="Arial"/>
                <a:ea typeface="Arial"/>
                <a:cs typeface="Arial"/>
              </a:defRPr>
            </a:pPr>
            <a:r>
              <a:rPr sz="2250" b="1">
                <a:solidFill>
                  <a:srgbClr val="087E8B"/>
                </a:solidFill>
                <a:latin typeface="Arial"/>
                <a:ea typeface="Arial"/>
                <a:cs typeface="Arial"/>
              </a:rPr>
              <a:t>Mục tiêu   Tối đa hóa ROC-AUC trung bình của 3 folds train</a:t>
            </a:r>
          </a:p>
        </p:txBody>
      </p:sp>
      <p:graphicFrame>
        <p:nvGraphicFramePr>
          <p:cNvPr id="5" name="">
            <a:extLst xmlns:a="http://schemas.openxmlformats.org/drawingml/2006/main">
              <a:ext uri="{FF2B5EF4-FFF2-40B4-BE49-F238E27FC236}">
                <a16:creationId xmlns:a16="http://schemas.microsoft.com/office/drawing/2014/main" id="{BC21FBF6-1C2B-4904-B737-02E46D50C457}"/>
              </a:ext>
            </a:extLst>
          </p:cNvPr>
          <p:cNvGraphicFramePr/>
          <p:nvPr/>
        </p:nvGraphicFramePr>
        <p:xfrm>
          <a:off xmlns:a="http://schemas.openxmlformats.org/drawingml/2006/main" x="609600" y="2371725"/>
          <a:ext xmlns:a="http://schemas.openxmlformats.org/drawingml/2006/main" cx="10972800" cy="2362200"/>
        </p:xfrm>
        <a:graphic xmlns:a="http://schemas.openxmlformats.org/drawingml/2006/main">
          <a:graphicData uri="http://schemas.openxmlformats.org/drawingml/2006/table">
            <a:tbl>
              <a:tblPr/>
              <a:tblGrid>
                <a:gridCol w="3619500"/>
                <a:gridCol w="5391150"/>
                <a:gridCol w="1962150"/>
              </a:tblGrid>
              <a:tr h="590550">
                <a:tc>
                  <a:txBody>
                    <a:bodyPr lIns="114300" tIns="114300" rIns="114300" bIns="114300">
                      <a:noAutofit/>
                    </a:bodyPr>
                    <a:lstStyle/>
                    <a:p>
                      <a:r>
                        <a:rPr sz="1725" b="1">
                          <a:solidFill>
                            <a:srgbClr val="FFFFFF"/>
                          </a:solidFill>
                          <a:latin typeface="Arial"/>
                          <a:ea typeface="Arial"/>
                          <a:cs typeface="Arial"/>
                        </a:rPr>
                        <a:t>Biến quyết định</a:t>
                      </a:r>
                    </a:p>
                  </a:txBody>
                  <a:tcPr marL="91440" marR="91440" marT="45720" marB="45720" anchor="ctr">
                    <a:lnL w="9525">
                      <a:solidFill>
                        <a:srgbClr val="D9E0E5"/>
                      </a:solidFill>
                      <a:prstDash val="solid"/>
                    </a:lnL>
                    <a:lnR w="9525">
                      <a:solidFill>
                        <a:srgbClr val="D9E0E5"/>
                      </a:solidFill>
                      <a:prstDash val="solid"/>
                    </a:lnR>
                    <a:lnT w="9525">
                      <a:solidFill>
                        <a:srgbClr val="D9E0E5"/>
                      </a:solidFill>
                      <a:prstDash val="solid"/>
                    </a:lnT>
                    <a:lnB w="9525">
                      <a:solidFill>
                        <a:srgbClr val="D9E0E5"/>
                      </a:solidFill>
                      <a:prstDash val="solid"/>
                    </a:lnB>
                    <a:solidFill>
                      <a:srgbClr val="132D46"/>
                    </a:solidFill>
                  </a:tcPr>
                </a:tc>
                <a:tc>
                  <a:txBody>
                    <a:bodyPr lIns="114300" tIns="114300" rIns="114300" bIns="114300">
                      <a:noAutofit/>
                    </a:bodyPr>
                    <a:lstStyle/>
                    <a:p>
                      <a:r>
                        <a:rPr sz="1725" b="1">
                          <a:solidFill>
                            <a:srgbClr val="FFFFFF"/>
                          </a:solidFill>
                          <a:latin typeface="Arial"/>
                          <a:ea typeface="Arial"/>
                          <a:cs typeface="Arial"/>
                        </a:rPr>
                        <a:t>Miền Ω</a:t>
                      </a:r>
                    </a:p>
                  </a:txBody>
                  <a:tcPr marL="91440" marR="91440" marT="45720" marB="45720" anchor="ctr">
                    <a:lnR w="9525">
                      <a:solidFill>
                        <a:srgbClr val="D9E0E5"/>
                      </a:solidFill>
                      <a:prstDash val="solid"/>
                    </a:lnR>
                    <a:lnT w="9525">
                      <a:solidFill>
                        <a:srgbClr val="D9E0E5"/>
                      </a:solidFill>
                      <a:prstDash val="solid"/>
                    </a:lnT>
                    <a:lnB w="9525">
                      <a:solidFill>
                        <a:srgbClr val="D9E0E5"/>
                      </a:solidFill>
                      <a:prstDash val="solid"/>
                    </a:lnB>
                    <a:solidFill>
                      <a:srgbClr val="132D46"/>
                    </a:solidFill>
                  </a:tcPr>
                </a:tc>
                <a:tc>
                  <a:txBody>
                    <a:bodyPr lIns="114300" tIns="114300" rIns="114300" bIns="114300">
                      <a:noAutofit/>
                    </a:bodyPr>
                    <a:lstStyle/>
                    <a:p>
                      <a:r>
                        <a:rPr sz="1725" b="1">
                          <a:solidFill>
                            <a:srgbClr val="FFFFFF"/>
                          </a:solidFill>
                          <a:latin typeface="Arial"/>
                          <a:ea typeface="Arial"/>
                          <a:cs typeface="Arial"/>
                        </a:rPr>
                        <a:t>Baseline</a:t>
                      </a:r>
                    </a:p>
                  </a:txBody>
                  <a:tcPr marL="91440" marR="91440" marT="45720" marB="45720" anchor="ctr">
                    <a:lnR w="9525">
                      <a:solidFill>
                        <a:srgbClr val="D9E0E5"/>
                      </a:solidFill>
                      <a:prstDash val="solid"/>
                    </a:lnR>
                    <a:lnT w="9525">
                      <a:solidFill>
                        <a:srgbClr val="D9E0E5"/>
                      </a:solidFill>
                      <a:prstDash val="solid"/>
                    </a:lnT>
                    <a:lnB w="9525">
                      <a:solidFill>
                        <a:srgbClr val="D9E0E5"/>
                      </a:solidFill>
                      <a:prstDash val="solid"/>
                    </a:lnB>
                    <a:solidFill>
                      <a:srgbClr val="132D46"/>
                    </a:solidFill>
                  </a:tcPr>
                </a:tc>
              </a:tr>
              <a:tr h="590550">
                <a:tc>
                  <a:txBody>
                    <a:bodyPr lIns="114300" tIns="114300" rIns="114300" bIns="114300">
                      <a:noAutofit/>
                    </a:bodyPr>
                    <a:lstStyle/>
                    <a:p>
                      <a:r>
                        <a:rPr sz="1725" b="0">
                          <a:solidFill>
                            <a:srgbClr val="132D46"/>
                          </a:solidFill>
                          <a:latin typeface="Arial"/>
                          <a:ea typeface="Arial"/>
                          <a:cs typeface="Arial"/>
                        </a:rPr>
                        <a:t>n_estimators</a:t>
                      </a:r>
                    </a:p>
                  </a:txBody>
                  <a:tcPr marL="91440" marR="91440" marT="45720" marB="45720" anchor="ctr">
                    <a:lnL w="9525">
                      <a:solidFill>
                        <a:srgbClr val="D9E0E5"/>
                      </a:solidFill>
                      <a:prstDash val="solid"/>
                    </a:lnL>
                    <a:lnR w="9525">
                      <a:solidFill>
                        <a:srgbClr val="D9E0E5"/>
                      </a:solidFill>
                      <a:prstDash val="solid"/>
                    </a:lnR>
                    <a:lnB w="9525">
                      <a:solidFill>
                        <a:srgbClr val="D9E0E5"/>
                      </a:solidFill>
                      <a:prstDash val="solid"/>
                    </a:lnB>
                    <a:solidFill>
                      <a:srgbClr val="F1F5F7"/>
                    </a:solidFill>
                  </a:tcPr>
                </a:tc>
                <a:tc>
                  <a:txBody>
                    <a:bodyPr lIns="114300" tIns="114300" rIns="114300" bIns="114300">
                      <a:noAutofit/>
                    </a:bodyPr>
                    <a:lstStyle/>
                    <a:p>
                      <a:r>
                        <a:rPr sz="1725" b="0">
                          <a:solidFill>
                            <a:srgbClr val="132D46"/>
                          </a:solidFill>
                          <a:latin typeface="Arial"/>
                          <a:ea typeface="Arial"/>
                          <a:cs typeface="Arial"/>
                        </a:rPr>
                        <a:t>50, 100, 150, 200, 250</a:t>
                      </a:r>
                    </a:p>
                  </a:txBody>
                  <a:tcPr marL="91440" marR="91440" marT="45720" marB="45720" anchor="ctr">
                    <a:lnR w="9525">
                      <a:solidFill>
                        <a:srgbClr val="D9E0E5"/>
                      </a:solidFill>
                      <a:prstDash val="solid"/>
                    </a:lnR>
                    <a:lnB w="9525">
                      <a:solidFill>
                        <a:srgbClr val="D9E0E5"/>
                      </a:solidFill>
                      <a:prstDash val="solid"/>
                    </a:lnB>
                    <a:solidFill>
                      <a:srgbClr val="F1F5F7"/>
                    </a:solidFill>
                  </a:tcPr>
                </a:tc>
                <a:tc>
                  <a:txBody>
                    <a:bodyPr lIns="114300" tIns="114300" rIns="114300" bIns="114300">
                      <a:noAutofit/>
                    </a:bodyPr>
                    <a:lstStyle/>
                    <a:p>
                      <a:r>
                        <a:rPr sz="1725" b="0">
                          <a:solidFill>
                            <a:srgbClr val="132D46"/>
                          </a:solidFill>
                          <a:latin typeface="Arial"/>
                          <a:ea typeface="Arial"/>
                          <a:cs typeface="Arial"/>
                        </a:rPr>
                        <a:t>100</a:t>
                      </a:r>
                    </a:p>
                  </a:txBody>
                  <a:tcPr marL="91440" marR="91440" marT="45720" marB="45720" anchor="ctr">
                    <a:lnR w="9525">
                      <a:solidFill>
                        <a:srgbClr val="D9E0E5"/>
                      </a:solidFill>
                      <a:prstDash val="solid"/>
                    </a:lnR>
                    <a:lnB w="9525">
                      <a:solidFill>
                        <a:srgbClr val="D9E0E5"/>
                      </a:solidFill>
                      <a:prstDash val="solid"/>
                    </a:lnB>
                    <a:solidFill>
                      <a:srgbClr val="F1F5F7"/>
                    </a:solidFill>
                  </a:tcPr>
                </a:tc>
              </a:tr>
              <a:tr h="590550">
                <a:tc>
                  <a:txBody>
                    <a:bodyPr lIns="114300" tIns="114300" rIns="114300" bIns="114300">
                      <a:noAutofit/>
                    </a:bodyPr>
                    <a:lstStyle/>
                    <a:p>
                      <a:r>
                        <a:rPr sz="1725" b="0">
                          <a:solidFill>
                            <a:srgbClr val="132D46"/>
                          </a:solidFill>
                          <a:latin typeface="Arial"/>
                          <a:ea typeface="Arial"/>
                          <a:cs typeface="Arial"/>
                        </a:rPr>
                        <a:t>max_depth</a:t>
                      </a:r>
                    </a:p>
                  </a:txBody>
                  <a:tcPr marL="91440" marR="91440" marT="45720" marB="45720" anchor="ctr">
                    <a:lnL w="9525">
                      <a:solidFill>
                        <a:srgbClr val="D9E0E5"/>
                      </a:solidFill>
                      <a:prstDash val="solid"/>
                    </a:lnL>
                    <a:lnR w="9525">
                      <a:solidFill>
                        <a:srgbClr val="D9E0E5"/>
                      </a:solidFill>
                      <a:prstDash val="solid"/>
                    </a:lnR>
                    <a:lnB w="9525">
                      <a:solidFill>
                        <a:srgbClr val="D9E0E5"/>
                      </a:solidFill>
                      <a:prstDash val="solid"/>
                    </a:lnB>
                    <a:solidFill>
                      <a:srgbClr val="FFFFFF"/>
                    </a:solidFill>
                  </a:tcPr>
                </a:tc>
                <a:tc>
                  <a:txBody>
                    <a:bodyPr lIns="114300" tIns="114300" rIns="114300" bIns="114300">
                      <a:noAutofit/>
                    </a:bodyPr>
                    <a:lstStyle/>
                    <a:p>
                      <a:r>
                        <a:rPr sz="1725" b="0">
                          <a:solidFill>
                            <a:srgbClr val="132D46"/>
                          </a:solidFill>
                          <a:latin typeface="Arial"/>
                          <a:ea typeface="Arial"/>
                          <a:cs typeface="Arial"/>
                        </a:rPr>
                        <a:t>None, 4, 6, 8, 12, 16, 24</a:t>
                      </a:r>
                    </a:p>
                  </a:txBody>
                  <a:tcPr marL="91440" marR="91440" marT="45720" marB="45720" anchor="ctr">
                    <a:lnR w="9525">
                      <a:solidFill>
                        <a:srgbClr val="D9E0E5"/>
                      </a:solidFill>
                      <a:prstDash val="solid"/>
                    </a:lnR>
                    <a:lnB w="9525">
                      <a:solidFill>
                        <a:srgbClr val="D9E0E5"/>
                      </a:solidFill>
                      <a:prstDash val="solid"/>
                    </a:lnB>
                    <a:solidFill>
                      <a:srgbClr val="FFFFFF"/>
                    </a:solidFill>
                  </a:tcPr>
                </a:tc>
                <a:tc>
                  <a:txBody>
                    <a:bodyPr lIns="114300" tIns="114300" rIns="114300" bIns="114300">
                      <a:noAutofit/>
                    </a:bodyPr>
                    <a:lstStyle/>
                    <a:p>
                      <a:r>
                        <a:rPr sz="1725" b="0">
                          <a:solidFill>
                            <a:srgbClr val="132D46"/>
                          </a:solidFill>
                          <a:latin typeface="Arial"/>
                          <a:ea typeface="Arial"/>
                          <a:cs typeface="Arial"/>
                        </a:rPr>
                        <a:t>None</a:t>
                      </a:r>
                    </a:p>
                  </a:txBody>
                  <a:tcPr marL="91440" marR="91440" marT="45720" marB="45720" anchor="ctr">
                    <a:lnR w="9525">
                      <a:solidFill>
                        <a:srgbClr val="D9E0E5"/>
                      </a:solidFill>
                      <a:prstDash val="solid"/>
                    </a:lnR>
                    <a:lnB w="9525">
                      <a:solidFill>
                        <a:srgbClr val="D9E0E5"/>
                      </a:solidFill>
                      <a:prstDash val="solid"/>
                    </a:lnB>
                    <a:solidFill>
                      <a:srgbClr val="FFFFFF"/>
                    </a:solidFill>
                  </a:tcPr>
                </a:tc>
              </a:tr>
              <a:tr h="590550">
                <a:tc>
                  <a:txBody>
                    <a:bodyPr lIns="114300" tIns="114300" rIns="114300" bIns="114300">
                      <a:noAutofit/>
                    </a:bodyPr>
                    <a:lstStyle/>
                    <a:p>
                      <a:r>
                        <a:rPr sz="1725" b="0">
                          <a:solidFill>
                            <a:srgbClr val="132D46"/>
                          </a:solidFill>
                          <a:latin typeface="Arial"/>
                          <a:ea typeface="Arial"/>
                          <a:cs typeface="Arial"/>
                        </a:rPr>
                        <a:t>min_samples_leaf</a:t>
                      </a:r>
                    </a:p>
                  </a:txBody>
                  <a:tcPr marL="91440" marR="91440" marT="45720" marB="45720" anchor="ctr">
                    <a:lnL w="9525">
                      <a:solidFill>
                        <a:srgbClr val="D9E0E5"/>
                      </a:solidFill>
                      <a:prstDash val="solid"/>
                    </a:lnL>
                    <a:lnR w="9525">
                      <a:solidFill>
                        <a:srgbClr val="D9E0E5"/>
                      </a:solidFill>
                      <a:prstDash val="solid"/>
                    </a:lnR>
                    <a:lnB w="9525">
                      <a:solidFill>
                        <a:srgbClr val="D9E0E5"/>
                      </a:solidFill>
                      <a:prstDash val="solid"/>
                    </a:lnB>
                    <a:solidFill>
                      <a:srgbClr val="F1F5F7"/>
                    </a:solidFill>
                  </a:tcPr>
                </a:tc>
                <a:tc>
                  <a:txBody>
                    <a:bodyPr lIns="114300" tIns="114300" rIns="114300" bIns="114300">
                      <a:noAutofit/>
                    </a:bodyPr>
                    <a:lstStyle/>
                    <a:p>
                      <a:r>
                        <a:rPr sz="1725" b="0">
                          <a:solidFill>
                            <a:srgbClr val="132D46"/>
                          </a:solidFill>
                          <a:latin typeface="Arial"/>
                          <a:ea typeface="Arial"/>
                          <a:cs typeface="Arial"/>
                        </a:rPr>
                        <a:t>Số nguyên 1 đến 8</a:t>
                      </a:r>
                    </a:p>
                  </a:txBody>
                  <a:tcPr marL="91440" marR="91440" marT="45720" marB="45720" anchor="ctr">
                    <a:lnR w="9525">
                      <a:solidFill>
                        <a:srgbClr val="D9E0E5"/>
                      </a:solidFill>
                      <a:prstDash val="solid"/>
                    </a:lnR>
                    <a:lnB w="9525">
                      <a:solidFill>
                        <a:srgbClr val="D9E0E5"/>
                      </a:solidFill>
                      <a:prstDash val="solid"/>
                    </a:lnB>
                    <a:solidFill>
                      <a:srgbClr val="F1F5F7"/>
                    </a:solidFill>
                  </a:tcPr>
                </a:tc>
                <a:tc>
                  <a:txBody>
                    <a:bodyPr lIns="114300" tIns="114300" rIns="114300" bIns="114300">
                      <a:noAutofit/>
                    </a:bodyPr>
                    <a:lstStyle/>
                    <a:p>
                      <a:r>
                        <a:rPr sz="1725" b="0">
                          <a:solidFill>
                            <a:srgbClr val="132D46"/>
                          </a:solidFill>
                          <a:latin typeface="Arial"/>
                          <a:ea typeface="Arial"/>
                          <a:cs typeface="Arial"/>
                        </a:rPr>
                        <a:t>1</a:t>
                      </a:r>
                    </a:p>
                  </a:txBody>
                  <a:tcPr marL="91440" marR="91440" marT="45720" marB="45720" anchor="ctr">
                    <a:lnR w="9525">
                      <a:solidFill>
                        <a:srgbClr val="D9E0E5"/>
                      </a:solidFill>
                      <a:prstDash val="solid"/>
                    </a:lnR>
                    <a:lnB w="9525">
                      <a:solidFill>
                        <a:srgbClr val="D9E0E5"/>
                      </a:solidFill>
                      <a:prstDash val="solid"/>
                    </a:lnB>
                    <a:solidFill>
                      <a:srgbClr val="F1F5F7"/>
                    </a:solidFill>
                  </a:tcPr>
                </a:tc>
              </a:tr>
            </a:tbl>
          </a:graphicData>
        </a:graphic>
      </p:graphicFrame>
      <p:sp>
        <p:nvSpPr>
          <p:cNvPr id="6" name="text">
            <a:extLst xmlns:a="http://schemas.openxmlformats.org/drawingml/2006/main">
              <a:ext uri="{FF2B5EF4-FFF2-40B4-BE49-F238E27FC236}">
                <a16:creationId xmlns:a16="http://schemas.microsoft.com/office/drawing/2014/main" id="{597067B6-5CB3-4925-A1AA-6957A0D774FA}"/>
              </a:ext>
            </a:extLst>
          </p:cNvPr>
          <p:cNvSpPr>
            <a:spLocks xmlns:a="http://schemas.openxmlformats.org/drawingml/2006/main" noGrp="1"/>
          </p:cNvSpPr>
          <p:nvPr/>
        </p:nvSpPr>
        <p:spPr>
          <a:xfrm xmlns:a="http://schemas.openxmlformats.org/drawingml/2006/main">
            <a:off x="609600" y="51625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32D46"/>
                </a:solidFill>
                <a:latin typeface="Arial"/>
                <a:ea typeface="Arial"/>
                <a:cs typeface="Arial"/>
              </a:defRPr>
            </a:defPPr>
            <a:lvl1pPr>
              <a:defRPr sz="2100" b="0">
                <a:solidFill>
                  <a:srgbClr val="132D46"/>
                </a:solidFill>
                <a:latin typeface="Arial"/>
                <a:ea typeface="Arial"/>
                <a:cs typeface="Arial"/>
              </a:defRPr>
            </a:lvl1pPr>
            <a:lvl2pPr>
              <a:defRPr sz="2100" b="0">
                <a:solidFill>
                  <a:srgbClr val="132D46"/>
                </a:solidFill>
                <a:latin typeface="Arial"/>
                <a:ea typeface="Arial"/>
                <a:cs typeface="Arial"/>
              </a:defRPr>
            </a:lvl2pPr>
            <a:lvl3pPr>
              <a:defRPr sz="2100" b="0">
                <a:solidFill>
                  <a:srgbClr val="132D46"/>
                </a:solidFill>
                <a:latin typeface="Arial"/>
                <a:ea typeface="Arial"/>
                <a:cs typeface="Arial"/>
              </a:defRPr>
            </a:lvl3pPr>
            <a:lvl4pPr>
              <a:defRPr sz="2100" b="0">
                <a:solidFill>
                  <a:srgbClr val="132D46"/>
                </a:solidFill>
                <a:latin typeface="Arial"/>
                <a:ea typeface="Arial"/>
                <a:cs typeface="Arial"/>
              </a:defRPr>
            </a:lvl4pPr>
            <a:lvl5pPr>
              <a:defRPr sz="2100" b="0">
                <a:solidFill>
                  <a:srgbClr val="132D46"/>
                </a:solidFill>
                <a:latin typeface="Arial"/>
                <a:ea typeface="Arial"/>
                <a:cs typeface="Arial"/>
              </a:defRPr>
            </a:lvl5pPr>
            <a:lvl6pPr>
              <a:defRPr sz="2100" b="0">
                <a:solidFill>
                  <a:srgbClr val="132D46"/>
                </a:solidFill>
                <a:latin typeface="Arial"/>
                <a:ea typeface="Arial"/>
                <a:cs typeface="Arial"/>
              </a:defRPr>
            </a:lvl6pPr>
            <a:lvl7pPr>
              <a:defRPr sz="2100" b="0">
                <a:solidFill>
                  <a:srgbClr val="132D46"/>
                </a:solidFill>
                <a:latin typeface="Arial"/>
                <a:ea typeface="Arial"/>
                <a:cs typeface="Arial"/>
              </a:defRPr>
            </a:lvl7pPr>
            <a:lvl8pPr>
              <a:defRPr sz="2100" b="0">
                <a:solidFill>
                  <a:srgbClr val="132D46"/>
                </a:solidFill>
                <a:latin typeface="Arial"/>
                <a:ea typeface="Arial"/>
                <a:cs typeface="Arial"/>
              </a:defRPr>
            </a:lvl8pPr>
            <a:lvl9pPr>
              <a:defRPr sz="2100" b="0">
                <a:solidFill>
                  <a:srgbClr val="132D46"/>
                </a:solidFill>
                <a:latin typeface="Arial"/>
                <a:ea typeface="Arial"/>
                <a:cs typeface="Arial"/>
              </a:defRPr>
            </a:lvl9pPr>
          </a:lstStyle>
          <a:p xmlns:a="http://schemas.openxmlformats.org/drawingml/2006/main">
            <a:pPr>
              <a:defRPr sz="2100" b="0">
                <a:solidFill>
                  <a:srgbClr val="132D46"/>
                </a:solidFill>
                <a:latin typeface="Arial"/>
                <a:ea typeface="Arial"/>
                <a:cs typeface="Arial"/>
              </a:defRPr>
            </a:pPr>
            <a:r>
              <a:rPr sz="2100" b="0">
                <a:solidFill>
                  <a:srgbClr val="132D46"/>
                </a:solidFill>
                <a:latin typeface="Arial"/>
                <a:ea typeface="Arial"/>
                <a:cs typeface="Arial"/>
              </a:rPr>
              <a:t>Budget 30 trials  •  Mỗi trial 3 lần fit  •  Không pruning</a:t>
            </a:r>
          </a:p>
        </p:txBody>
      </p:sp>
      <p:sp>
        <p:nvSpPr>
          <p:cNvPr id="7" name="text">
            <a:extLst xmlns:a="http://schemas.openxmlformats.org/drawingml/2006/main">
              <a:ext uri="{FF2B5EF4-FFF2-40B4-BE49-F238E27FC236}">
                <a16:creationId xmlns:a16="http://schemas.microsoft.com/office/drawing/2014/main" id="{2D838B41-EE5A-41B4-9351-B171FE76DAC5}"/>
              </a:ext>
            </a:extLst>
          </p:cNvPr>
          <p:cNvSpPr>
            <a:spLocks xmlns:a="http://schemas.openxmlformats.org/drawingml/2006/main" noGrp="1"/>
          </p:cNvSpPr>
          <p:nvPr/>
        </p:nvSpPr>
        <p:spPr>
          <a:xfrm xmlns:a="http://schemas.openxmlformats.org/drawingml/2006/main">
            <a:off x="609600" y="57245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273"/>
                </a:solidFill>
                <a:latin typeface="Arial"/>
                <a:ea typeface="Arial"/>
                <a:cs typeface="Arial"/>
              </a:defRPr>
            </a:defPPr>
            <a:lvl1pPr>
              <a:defRPr sz="1875" b="0">
                <a:solidFill>
                  <a:srgbClr val="516273"/>
                </a:solidFill>
                <a:latin typeface="Arial"/>
                <a:ea typeface="Arial"/>
                <a:cs typeface="Arial"/>
              </a:defRPr>
            </a:lvl1pPr>
            <a:lvl2pPr>
              <a:defRPr sz="1875" b="0">
                <a:solidFill>
                  <a:srgbClr val="516273"/>
                </a:solidFill>
                <a:latin typeface="Arial"/>
                <a:ea typeface="Arial"/>
                <a:cs typeface="Arial"/>
              </a:defRPr>
            </a:lvl2pPr>
            <a:lvl3pPr>
              <a:defRPr sz="1875" b="0">
                <a:solidFill>
                  <a:srgbClr val="516273"/>
                </a:solidFill>
                <a:latin typeface="Arial"/>
                <a:ea typeface="Arial"/>
                <a:cs typeface="Arial"/>
              </a:defRPr>
            </a:lvl3pPr>
            <a:lvl4pPr>
              <a:defRPr sz="1875" b="0">
                <a:solidFill>
                  <a:srgbClr val="516273"/>
                </a:solidFill>
                <a:latin typeface="Arial"/>
                <a:ea typeface="Arial"/>
                <a:cs typeface="Arial"/>
              </a:defRPr>
            </a:lvl4pPr>
            <a:lvl5pPr>
              <a:defRPr sz="1875" b="0">
                <a:solidFill>
                  <a:srgbClr val="516273"/>
                </a:solidFill>
                <a:latin typeface="Arial"/>
                <a:ea typeface="Arial"/>
                <a:cs typeface="Arial"/>
              </a:defRPr>
            </a:lvl5pPr>
            <a:lvl6pPr>
              <a:defRPr sz="1875" b="0">
                <a:solidFill>
                  <a:srgbClr val="516273"/>
                </a:solidFill>
                <a:latin typeface="Arial"/>
                <a:ea typeface="Arial"/>
                <a:cs typeface="Arial"/>
              </a:defRPr>
            </a:lvl6pPr>
            <a:lvl7pPr>
              <a:defRPr sz="1875" b="0">
                <a:solidFill>
                  <a:srgbClr val="516273"/>
                </a:solidFill>
                <a:latin typeface="Arial"/>
                <a:ea typeface="Arial"/>
                <a:cs typeface="Arial"/>
              </a:defRPr>
            </a:lvl7pPr>
            <a:lvl8pPr>
              <a:defRPr sz="1875" b="0">
                <a:solidFill>
                  <a:srgbClr val="516273"/>
                </a:solidFill>
                <a:latin typeface="Arial"/>
                <a:ea typeface="Arial"/>
                <a:cs typeface="Arial"/>
              </a:defRPr>
            </a:lvl8pPr>
            <a:lvl9pPr>
              <a:defRPr sz="1875" b="0">
                <a:solidFill>
                  <a:srgbClr val="516273"/>
                </a:solidFill>
                <a:latin typeface="Arial"/>
                <a:ea typeface="Arial"/>
                <a:cs typeface="Arial"/>
              </a:defRPr>
            </a:lvl9pPr>
          </a:lstStyle>
          <a:p xmlns:a="http://schemas.openxmlformats.org/drawingml/2006/main">
            <a:pPr>
              <a:defRPr sz="1875" b="0">
                <a:solidFill>
                  <a:srgbClr val="516273"/>
                </a:solidFill>
                <a:latin typeface="Arial"/>
                <a:ea typeface="Arial"/>
                <a:cs typeface="Arial"/>
              </a:defRPr>
            </a:pPr>
            <a:r>
              <a:rPr sz="1875" b="0">
                <a:solidFill>
                  <a:srgbClr val="516273"/>
                </a:solidFill>
                <a:latin typeface="Arial"/>
                <a:ea typeface="Arial"/>
                <a:cs typeface="Arial"/>
              </a:rPr>
              <a:t>Đo chi phí search, fit và predict; không đặt ngưỡng latency.</a:t>
            </a:r>
          </a:p>
        </p:txBody>
      </p:sp>
    </p:spTree>
    <p:extLst>
      <p:ext uri="{BB962C8B-B14F-4D97-AF65-F5344CB8AC3E}">
        <p14:creationId xmlns:p14="http://schemas.microsoft.com/office/powerpoint/2010/main" val="79471161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primary-heading">
            <a:extLst xmlns:a="http://schemas.openxmlformats.org/drawingml/2006/main">
              <a:ext uri="{FF2B5EF4-FFF2-40B4-BE49-F238E27FC236}">
                <a16:creationId xmlns:a16="http://schemas.microsoft.com/office/drawing/2014/main" id="{EE7B6295-5654-4B14-B4F6-D3AB3926FE06}"/>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32D46"/>
                </a:solidFill>
                <a:latin typeface="Arial"/>
                <a:ea typeface="Arial"/>
                <a:cs typeface="Arial"/>
              </a:defRPr>
            </a:defPPr>
            <a:lvl1pPr>
              <a:defRPr sz="3300" b="1">
                <a:solidFill>
                  <a:srgbClr val="132D46"/>
                </a:solidFill>
                <a:latin typeface="Arial"/>
                <a:ea typeface="Arial"/>
                <a:cs typeface="Arial"/>
              </a:defRPr>
            </a:lvl1pPr>
            <a:lvl2pPr>
              <a:defRPr sz="3300" b="1">
                <a:solidFill>
                  <a:srgbClr val="132D46"/>
                </a:solidFill>
                <a:latin typeface="Arial"/>
                <a:ea typeface="Arial"/>
                <a:cs typeface="Arial"/>
              </a:defRPr>
            </a:lvl2pPr>
            <a:lvl3pPr>
              <a:defRPr sz="3300" b="1">
                <a:solidFill>
                  <a:srgbClr val="132D46"/>
                </a:solidFill>
                <a:latin typeface="Arial"/>
                <a:ea typeface="Arial"/>
                <a:cs typeface="Arial"/>
              </a:defRPr>
            </a:lvl3pPr>
            <a:lvl4pPr>
              <a:defRPr sz="3300" b="1">
                <a:solidFill>
                  <a:srgbClr val="132D46"/>
                </a:solidFill>
                <a:latin typeface="Arial"/>
                <a:ea typeface="Arial"/>
                <a:cs typeface="Arial"/>
              </a:defRPr>
            </a:lvl4pPr>
            <a:lvl5pPr>
              <a:defRPr sz="3300" b="1">
                <a:solidFill>
                  <a:srgbClr val="132D46"/>
                </a:solidFill>
                <a:latin typeface="Arial"/>
                <a:ea typeface="Arial"/>
                <a:cs typeface="Arial"/>
              </a:defRPr>
            </a:lvl5pPr>
            <a:lvl6pPr>
              <a:defRPr sz="3300" b="1">
                <a:solidFill>
                  <a:srgbClr val="132D46"/>
                </a:solidFill>
                <a:latin typeface="Arial"/>
                <a:ea typeface="Arial"/>
                <a:cs typeface="Arial"/>
              </a:defRPr>
            </a:lvl6pPr>
            <a:lvl7pPr>
              <a:defRPr sz="3300" b="1">
                <a:solidFill>
                  <a:srgbClr val="132D46"/>
                </a:solidFill>
                <a:latin typeface="Arial"/>
                <a:ea typeface="Arial"/>
                <a:cs typeface="Arial"/>
              </a:defRPr>
            </a:lvl7pPr>
            <a:lvl8pPr>
              <a:defRPr sz="3300" b="1">
                <a:solidFill>
                  <a:srgbClr val="132D46"/>
                </a:solidFill>
                <a:latin typeface="Arial"/>
                <a:ea typeface="Arial"/>
                <a:cs typeface="Arial"/>
              </a:defRPr>
            </a:lvl8pPr>
            <a:lvl9pPr>
              <a:defRPr sz="3300" b="1">
                <a:solidFill>
                  <a:srgbClr val="132D46"/>
                </a:solidFill>
                <a:latin typeface="Arial"/>
                <a:ea typeface="Arial"/>
                <a:cs typeface="Arial"/>
              </a:defRPr>
            </a:lvl9pPr>
          </a:lstStyle>
          <a:p xmlns:a="http://schemas.openxmlformats.org/drawingml/2006/main">
            <a:pPr>
              <a:defRPr sz="3300" b="1">
                <a:solidFill>
                  <a:srgbClr val="132D46"/>
                </a:solidFill>
                <a:latin typeface="Arial"/>
                <a:ea typeface="Arial"/>
                <a:cs typeface="Arial"/>
              </a:defRPr>
            </a:pPr>
            <a:r>
              <a:rPr sz="3300" b="1">
                <a:solidFill>
                  <a:srgbClr val="132D46"/>
                </a:solidFill>
                <a:latin typeface="Arial"/>
                <a:ea typeface="Arial"/>
                <a:cs typeface="Arial"/>
              </a:rPr>
              <a:t>Baseline và nguyên lý TPE</a:t>
            </a:r>
          </a:p>
        </p:txBody>
      </p:sp>
      <p:sp>
        <p:nvSpPr>
          <p:cNvPr id="2" name="text">
            <a:extLst xmlns:a="http://schemas.openxmlformats.org/drawingml/2006/main">
              <a:ext uri="{FF2B5EF4-FFF2-40B4-BE49-F238E27FC236}">
                <a16:creationId xmlns:a16="http://schemas.microsoft.com/office/drawing/2014/main" id="{C1147A5C-1E0C-4E85-9EFB-403D744C2972}"/>
              </a:ext>
            </a:extLst>
          </p:cNvPr>
          <p:cNvSpPr>
            <a:spLocks xmlns:a="http://schemas.openxmlformats.org/drawingml/2006/main" noGrp="1"/>
          </p:cNvSpPr>
          <p:nvPr/>
        </p:nvSpPr>
        <p:spPr>
          <a:xfrm xmlns:a="http://schemas.openxmlformats.org/drawingml/2006/main">
            <a:off x="609600" y="6410325"/>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273"/>
                </a:solidFill>
                <a:latin typeface="Arial"/>
                <a:ea typeface="Arial"/>
                <a:cs typeface="Arial"/>
              </a:defRPr>
            </a:defPPr>
            <a:lvl1pPr>
              <a:defRPr sz="1200" b="0">
                <a:solidFill>
                  <a:srgbClr val="516273"/>
                </a:solidFill>
                <a:latin typeface="Arial"/>
                <a:ea typeface="Arial"/>
                <a:cs typeface="Arial"/>
              </a:defRPr>
            </a:lvl1pPr>
            <a:lvl2pPr>
              <a:defRPr sz="1200" b="0">
                <a:solidFill>
                  <a:srgbClr val="516273"/>
                </a:solidFill>
                <a:latin typeface="Arial"/>
                <a:ea typeface="Arial"/>
                <a:cs typeface="Arial"/>
              </a:defRPr>
            </a:lvl2pPr>
            <a:lvl3pPr>
              <a:defRPr sz="1200" b="0">
                <a:solidFill>
                  <a:srgbClr val="516273"/>
                </a:solidFill>
                <a:latin typeface="Arial"/>
                <a:ea typeface="Arial"/>
                <a:cs typeface="Arial"/>
              </a:defRPr>
            </a:lvl3pPr>
            <a:lvl4pPr>
              <a:defRPr sz="1200" b="0">
                <a:solidFill>
                  <a:srgbClr val="516273"/>
                </a:solidFill>
                <a:latin typeface="Arial"/>
                <a:ea typeface="Arial"/>
                <a:cs typeface="Arial"/>
              </a:defRPr>
            </a:lvl4pPr>
            <a:lvl5pPr>
              <a:defRPr sz="1200" b="0">
                <a:solidFill>
                  <a:srgbClr val="516273"/>
                </a:solidFill>
                <a:latin typeface="Arial"/>
                <a:ea typeface="Arial"/>
                <a:cs typeface="Arial"/>
              </a:defRPr>
            </a:lvl5pPr>
            <a:lvl6pPr>
              <a:defRPr sz="1200" b="0">
                <a:solidFill>
                  <a:srgbClr val="516273"/>
                </a:solidFill>
                <a:latin typeface="Arial"/>
                <a:ea typeface="Arial"/>
                <a:cs typeface="Arial"/>
              </a:defRPr>
            </a:lvl6pPr>
            <a:lvl7pPr>
              <a:defRPr sz="1200" b="0">
                <a:solidFill>
                  <a:srgbClr val="516273"/>
                </a:solidFill>
                <a:latin typeface="Arial"/>
                <a:ea typeface="Arial"/>
                <a:cs typeface="Arial"/>
              </a:defRPr>
            </a:lvl7pPr>
            <a:lvl8pPr>
              <a:defRPr sz="1200" b="0">
                <a:solidFill>
                  <a:srgbClr val="516273"/>
                </a:solidFill>
                <a:latin typeface="Arial"/>
                <a:ea typeface="Arial"/>
                <a:cs typeface="Arial"/>
              </a:defRPr>
            </a:lvl8pPr>
            <a:lvl9pPr>
              <a:defRPr sz="1200" b="0">
                <a:solidFill>
                  <a:srgbClr val="516273"/>
                </a:solidFill>
                <a:latin typeface="Arial"/>
                <a:ea typeface="Arial"/>
                <a:cs typeface="Arial"/>
              </a:defRPr>
            </a:lvl9pPr>
          </a:lstStyle>
          <a:p xmlns:a="http://schemas.openxmlformats.org/drawingml/2006/main">
            <a:pPr>
              <a:defRPr sz="1200" b="0">
                <a:solidFill>
                  <a:srgbClr val="516273"/>
                </a:solidFill>
                <a:latin typeface="Arial"/>
                <a:ea typeface="Arial"/>
                <a:cs typeface="Arial"/>
              </a:defRPr>
            </a:pPr>
            <a:r>
              <a:rPr sz="1200" b="0">
                <a:solidFill>
                  <a:srgbClr val="516273"/>
                </a:solidFill>
                <a:latin typeface="Arial"/>
                <a:ea typeface="Arial"/>
                <a:cs typeface="Arial"/>
              </a:rPr>
              <a:t>NHẬP MÔN TỐI ƯU HÓA   •   RANDOM FOREST VÀ OPTUNA</a:t>
            </a:r>
          </a:p>
        </p:txBody>
      </p:sp>
      <p:sp>
        <p:nvSpPr>
          <p:cNvPr id="3" name="text">
            <a:extLst xmlns:a="http://schemas.openxmlformats.org/drawingml/2006/main">
              <a:ext uri="{FF2B5EF4-FFF2-40B4-BE49-F238E27FC236}">
                <a16:creationId xmlns:a16="http://schemas.microsoft.com/office/drawing/2014/main" id="{CF3EDF59-ECFA-44CB-A1F8-CC4F8BE039A4}"/>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16273"/>
                </a:solidFill>
                <a:latin typeface="Arial"/>
                <a:ea typeface="Arial"/>
                <a:cs typeface="Arial"/>
              </a:defRPr>
            </a:defPPr>
            <a:lvl1pPr>
              <a:defRPr sz="1350" b="0">
                <a:solidFill>
                  <a:srgbClr val="516273"/>
                </a:solidFill>
                <a:latin typeface="Arial"/>
                <a:ea typeface="Arial"/>
                <a:cs typeface="Arial"/>
              </a:defRPr>
            </a:lvl1pPr>
            <a:lvl2pPr>
              <a:defRPr sz="1350" b="0">
                <a:solidFill>
                  <a:srgbClr val="516273"/>
                </a:solidFill>
                <a:latin typeface="Arial"/>
                <a:ea typeface="Arial"/>
                <a:cs typeface="Arial"/>
              </a:defRPr>
            </a:lvl2pPr>
            <a:lvl3pPr>
              <a:defRPr sz="1350" b="0">
                <a:solidFill>
                  <a:srgbClr val="516273"/>
                </a:solidFill>
                <a:latin typeface="Arial"/>
                <a:ea typeface="Arial"/>
                <a:cs typeface="Arial"/>
              </a:defRPr>
            </a:lvl3pPr>
            <a:lvl4pPr>
              <a:defRPr sz="1350" b="0">
                <a:solidFill>
                  <a:srgbClr val="516273"/>
                </a:solidFill>
                <a:latin typeface="Arial"/>
                <a:ea typeface="Arial"/>
                <a:cs typeface="Arial"/>
              </a:defRPr>
            </a:lvl4pPr>
            <a:lvl5pPr>
              <a:defRPr sz="1350" b="0">
                <a:solidFill>
                  <a:srgbClr val="516273"/>
                </a:solidFill>
                <a:latin typeface="Arial"/>
                <a:ea typeface="Arial"/>
                <a:cs typeface="Arial"/>
              </a:defRPr>
            </a:lvl5pPr>
            <a:lvl6pPr>
              <a:defRPr sz="1350" b="0">
                <a:solidFill>
                  <a:srgbClr val="516273"/>
                </a:solidFill>
                <a:latin typeface="Arial"/>
                <a:ea typeface="Arial"/>
                <a:cs typeface="Arial"/>
              </a:defRPr>
            </a:lvl6pPr>
            <a:lvl7pPr>
              <a:defRPr sz="1350" b="0">
                <a:solidFill>
                  <a:srgbClr val="516273"/>
                </a:solidFill>
                <a:latin typeface="Arial"/>
                <a:ea typeface="Arial"/>
                <a:cs typeface="Arial"/>
              </a:defRPr>
            </a:lvl7pPr>
            <a:lvl8pPr>
              <a:defRPr sz="1350" b="0">
                <a:solidFill>
                  <a:srgbClr val="516273"/>
                </a:solidFill>
                <a:latin typeface="Arial"/>
                <a:ea typeface="Arial"/>
                <a:cs typeface="Arial"/>
              </a:defRPr>
            </a:lvl8pPr>
            <a:lvl9pPr>
              <a:defRPr sz="1350" b="0">
                <a:solidFill>
                  <a:srgbClr val="516273"/>
                </a:solidFill>
                <a:latin typeface="Arial"/>
                <a:ea typeface="Arial"/>
                <a:cs typeface="Arial"/>
              </a:defRPr>
            </a:lvl9pPr>
          </a:lstStyle>
          <a:p xmlns:a="http://schemas.openxmlformats.org/drawingml/2006/main">
            <a:pPr>
              <a:defRPr sz="1350" b="0">
                <a:solidFill>
                  <a:srgbClr val="516273"/>
                </a:solidFill>
                <a:latin typeface="Arial"/>
                <a:ea typeface="Arial"/>
                <a:cs typeface="Arial"/>
              </a:defRPr>
            </a:pPr>
            <a:r>
              <a:rPr sz="1350" b="0">
                <a:solidFill>
                  <a:srgbClr val="516273"/>
                </a:solidFill>
                <a:latin typeface="Arial"/>
                <a:ea typeface="Arial"/>
                <a:cs typeface="Arial"/>
              </a:rPr>
              <a:t>04</a:t>
            </a:r>
          </a:p>
        </p:txBody>
      </p:sp>
      <p:sp>
        <p:nvSpPr>
          <p:cNvPr id="4" name="text">
            <a:extLst xmlns:a="http://schemas.openxmlformats.org/drawingml/2006/main">
              <a:ext uri="{FF2B5EF4-FFF2-40B4-BE49-F238E27FC236}">
                <a16:creationId xmlns:a16="http://schemas.microsoft.com/office/drawing/2014/main" id="{CC45C3E3-9143-4D9C-AEC6-C6A25A22651B}"/>
              </a:ext>
            </a:extLst>
          </p:cNvPr>
          <p:cNvSpPr>
            <a:spLocks xmlns:a="http://schemas.openxmlformats.org/drawingml/2006/main" noGrp="1"/>
          </p:cNvSpPr>
          <p:nvPr/>
        </p:nvSpPr>
        <p:spPr>
          <a:xfrm xmlns:a="http://schemas.openxmlformats.org/drawingml/2006/main">
            <a:off x="609600" y="16668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087E8B"/>
                </a:solidFill>
                <a:latin typeface="Arial"/>
                <a:ea typeface="Arial"/>
                <a:cs typeface="Arial"/>
              </a:defRPr>
            </a:defPPr>
            <a:lvl1pPr>
              <a:defRPr sz="2475" b="1">
                <a:solidFill>
                  <a:srgbClr val="087E8B"/>
                </a:solidFill>
                <a:latin typeface="Arial"/>
                <a:ea typeface="Arial"/>
                <a:cs typeface="Arial"/>
              </a:defRPr>
            </a:lvl1pPr>
            <a:lvl2pPr>
              <a:defRPr sz="2475" b="1">
                <a:solidFill>
                  <a:srgbClr val="087E8B"/>
                </a:solidFill>
                <a:latin typeface="Arial"/>
                <a:ea typeface="Arial"/>
                <a:cs typeface="Arial"/>
              </a:defRPr>
            </a:lvl2pPr>
            <a:lvl3pPr>
              <a:defRPr sz="2475" b="1">
                <a:solidFill>
                  <a:srgbClr val="087E8B"/>
                </a:solidFill>
                <a:latin typeface="Arial"/>
                <a:ea typeface="Arial"/>
                <a:cs typeface="Arial"/>
              </a:defRPr>
            </a:lvl3pPr>
            <a:lvl4pPr>
              <a:defRPr sz="2475" b="1">
                <a:solidFill>
                  <a:srgbClr val="087E8B"/>
                </a:solidFill>
                <a:latin typeface="Arial"/>
                <a:ea typeface="Arial"/>
                <a:cs typeface="Arial"/>
              </a:defRPr>
            </a:lvl4pPr>
            <a:lvl5pPr>
              <a:defRPr sz="2475" b="1">
                <a:solidFill>
                  <a:srgbClr val="087E8B"/>
                </a:solidFill>
                <a:latin typeface="Arial"/>
                <a:ea typeface="Arial"/>
                <a:cs typeface="Arial"/>
              </a:defRPr>
            </a:lvl5pPr>
            <a:lvl6pPr>
              <a:defRPr sz="2475" b="1">
                <a:solidFill>
                  <a:srgbClr val="087E8B"/>
                </a:solidFill>
                <a:latin typeface="Arial"/>
                <a:ea typeface="Arial"/>
                <a:cs typeface="Arial"/>
              </a:defRPr>
            </a:lvl6pPr>
            <a:lvl7pPr>
              <a:defRPr sz="2475" b="1">
                <a:solidFill>
                  <a:srgbClr val="087E8B"/>
                </a:solidFill>
                <a:latin typeface="Arial"/>
                <a:ea typeface="Arial"/>
                <a:cs typeface="Arial"/>
              </a:defRPr>
            </a:lvl7pPr>
            <a:lvl8pPr>
              <a:defRPr sz="2475" b="1">
                <a:solidFill>
                  <a:srgbClr val="087E8B"/>
                </a:solidFill>
                <a:latin typeface="Arial"/>
                <a:ea typeface="Arial"/>
                <a:cs typeface="Arial"/>
              </a:defRPr>
            </a:lvl8pPr>
            <a:lvl9pPr>
              <a:defRPr sz="2475" b="1">
                <a:solidFill>
                  <a:srgbClr val="087E8B"/>
                </a:solidFill>
                <a:latin typeface="Arial"/>
                <a:ea typeface="Arial"/>
                <a:cs typeface="Arial"/>
              </a:defRPr>
            </a:lvl9pPr>
          </a:lstStyle>
          <a:p xmlns:a="http://schemas.openxmlformats.org/drawingml/2006/main">
            <a:pPr>
              <a:defRPr sz="2475" b="1">
                <a:solidFill>
                  <a:srgbClr val="087E8B"/>
                </a:solidFill>
                <a:latin typeface="Arial"/>
                <a:ea typeface="Arial"/>
                <a:cs typeface="Arial"/>
              </a:defRPr>
            </a:pPr>
            <a:r>
              <a:rPr sz="2475" b="1">
                <a:solidFill>
                  <a:srgbClr val="087E8B"/>
                </a:solidFill>
                <a:latin typeface="Arial"/>
                <a:ea typeface="Arial"/>
                <a:cs typeface="Arial"/>
              </a:rPr>
              <a:t>Random Forest mặc định</a:t>
            </a:r>
          </a:p>
        </p:txBody>
      </p:sp>
      <p:sp>
        <p:nvSpPr>
          <p:cNvPr id="5" name="text">
            <a:extLst xmlns:a="http://schemas.openxmlformats.org/drawingml/2006/main">
              <a:ext uri="{FF2B5EF4-FFF2-40B4-BE49-F238E27FC236}">
                <a16:creationId xmlns:a16="http://schemas.microsoft.com/office/drawing/2014/main" id="{6F016D37-674D-4D42-9CD7-800AA8F8D54B}"/>
              </a:ext>
            </a:extLst>
          </p:cNvPr>
          <p:cNvSpPr>
            <a:spLocks xmlns:a="http://schemas.openxmlformats.org/drawingml/2006/main" noGrp="1"/>
          </p:cNvSpPr>
          <p:nvPr/>
        </p:nvSpPr>
        <p:spPr>
          <a:xfrm xmlns:a="http://schemas.openxmlformats.org/drawingml/2006/main">
            <a:off x="609600" y="22479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32D46"/>
                </a:solidFill>
                <a:latin typeface="Arial"/>
                <a:ea typeface="Arial"/>
                <a:cs typeface="Arial"/>
              </a:defRPr>
            </a:defPPr>
            <a:lvl1pPr>
              <a:defRPr sz="2175" b="0">
                <a:solidFill>
                  <a:srgbClr val="132D46"/>
                </a:solidFill>
                <a:latin typeface="Arial"/>
                <a:ea typeface="Arial"/>
                <a:cs typeface="Arial"/>
              </a:defRPr>
            </a:lvl1pPr>
            <a:lvl2pPr>
              <a:defRPr sz="2175" b="0">
                <a:solidFill>
                  <a:srgbClr val="132D46"/>
                </a:solidFill>
                <a:latin typeface="Arial"/>
                <a:ea typeface="Arial"/>
                <a:cs typeface="Arial"/>
              </a:defRPr>
            </a:lvl2pPr>
            <a:lvl3pPr>
              <a:defRPr sz="2175" b="0">
                <a:solidFill>
                  <a:srgbClr val="132D46"/>
                </a:solidFill>
                <a:latin typeface="Arial"/>
                <a:ea typeface="Arial"/>
                <a:cs typeface="Arial"/>
              </a:defRPr>
            </a:lvl3pPr>
            <a:lvl4pPr>
              <a:defRPr sz="2175" b="0">
                <a:solidFill>
                  <a:srgbClr val="132D46"/>
                </a:solidFill>
                <a:latin typeface="Arial"/>
                <a:ea typeface="Arial"/>
                <a:cs typeface="Arial"/>
              </a:defRPr>
            </a:lvl4pPr>
            <a:lvl5pPr>
              <a:defRPr sz="2175" b="0">
                <a:solidFill>
                  <a:srgbClr val="132D46"/>
                </a:solidFill>
                <a:latin typeface="Arial"/>
                <a:ea typeface="Arial"/>
                <a:cs typeface="Arial"/>
              </a:defRPr>
            </a:lvl5pPr>
            <a:lvl6pPr>
              <a:defRPr sz="2175" b="0">
                <a:solidFill>
                  <a:srgbClr val="132D46"/>
                </a:solidFill>
                <a:latin typeface="Arial"/>
                <a:ea typeface="Arial"/>
                <a:cs typeface="Arial"/>
              </a:defRPr>
            </a:lvl6pPr>
            <a:lvl7pPr>
              <a:defRPr sz="2175" b="0">
                <a:solidFill>
                  <a:srgbClr val="132D46"/>
                </a:solidFill>
                <a:latin typeface="Arial"/>
                <a:ea typeface="Arial"/>
                <a:cs typeface="Arial"/>
              </a:defRPr>
            </a:lvl7pPr>
            <a:lvl8pPr>
              <a:defRPr sz="2175" b="0">
                <a:solidFill>
                  <a:srgbClr val="132D46"/>
                </a:solidFill>
                <a:latin typeface="Arial"/>
                <a:ea typeface="Arial"/>
                <a:cs typeface="Arial"/>
              </a:defRPr>
            </a:lvl8pPr>
            <a:lvl9pPr>
              <a:defRPr sz="2175" b="0">
                <a:solidFill>
                  <a:srgbClr val="132D46"/>
                </a:solidFill>
                <a:latin typeface="Arial"/>
                <a:ea typeface="Arial"/>
                <a:cs typeface="Arial"/>
              </a:defRPr>
            </a:lvl9pPr>
          </a:lstStyle>
          <a:p xmlns:a="http://schemas.openxmlformats.org/drawingml/2006/main">
            <a:pPr>
              <a:defRPr sz="2175" b="0">
                <a:solidFill>
                  <a:srgbClr val="132D46"/>
                </a:solidFill>
                <a:latin typeface="Arial"/>
                <a:ea typeface="Arial"/>
                <a:cs typeface="Arial"/>
              </a:defRPr>
            </a:pPr>
            <a:r>
              <a:rPr sz="2175" b="0">
                <a:solidFill>
                  <a:srgbClr val="132D46"/>
                </a:solidFill>
                <a:latin typeface="Arial"/>
                <a:ea typeface="Arial"/>
                <a:cs typeface="Arial"/>
              </a:rPr>
              <a:t>100 cây, độ sâu không giới hạn, lá tối thiểu 1 mẫu.</a:t>
            </a:r>
          </a:p>
          <a:p xmlns:a="http://schemas.openxmlformats.org/drawingml/2006/main">
            <a:pPr>
              <a:defRPr sz="2175" b="0">
                <a:solidFill>
                  <a:srgbClr val="132D46"/>
                </a:solidFill>
                <a:latin typeface="Arial"/>
                <a:ea typeface="Arial"/>
                <a:cs typeface="Arial"/>
              </a:defRPr>
            </a:pPr>
            <a:r>
              <a:rPr sz="2175" b="0">
                <a:solidFill>
                  <a:srgbClr val="132D46"/>
                </a:solidFill>
                <a:latin typeface="Arial"/>
                <a:ea typeface="Arial"/>
                <a:cs typeface="Arial"/>
              </a:rPr>
              <a:t>Cùng dữ liệu, metric, folds và hàm CV với các trials.</a:t>
            </a:r>
          </a:p>
        </p:txBody>
      </p:sp>
      <p:sp>
        <p:nvSpPr>
          <p:cNvPr id="6" name="text">
            <a:extLst xmlns:a="http://schemas.openxmlformats.org/drawingml/2006/main">
              <a:ext uri="{FF2B5EF4-FFF2-40B4-BE49-F238E27FC236}">
                <a16:creationId xmlns:a16="http://schemas.microsoft.com/office/drawing/2014/main" id="{74D6A953-965C-41EE-9615-8CF0E5941616}"/>
              </a:ext>
            </a:extLst>
          </p:cNvPr>
          <p:cNvSpPr>
            <a:spLocks xmlns:a="http://schemas.openxmlformats.org/drawingml/2006/main" noGrp="1"/>
          </p:cNvSpPr>
          <p:nvPr/>
        </p:nvSpPr>
        <p:spPr>
          <a:xfrm xmlns:a="http://schemas.openxmlformats.org/drawingml/2006/main">
            <a:off x="609600" y="35147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087E8B"/>
                </a:solidFill>
                <a:latin typeface="Arial"/>
                <a:ea typeface="Arial"/>
                <a:cs typeface="Arial"/>
              </a:defRPr>
            </a:defPPr>
            <a:lvl1pPr>
              <a:defRPr sz="2475" b="1">
                <a:solidFill>
                  <a:srgbClr val="087E8B"/>
                </a:solidFill>
                <a:latin typeface="Arial"/>
                <a:ea typeface="Arial"/>
                <a:cs typeface="Arial"/>
              </a:defRPr>
            </a:lvl1pPr>
            <a:lvl2pPr>
              <a:defRPr sz="2475" b="1">
                <a:solidFill>
                  <a:srgbClr val="087E8B"/>
                </a:solidFill>
                <a:latin typeface="Arial"/>
                <a:ea typeface="Arial"/>
                <a:cs typeface="Arial"/>
              </a:defRPr>
            </a:lvl2pPr>
            <a:lvl3pPr>
              <a:defRPr sz="2475" b="1">
                <a:solidFill>
                  <a:srgbClr val="087E8B"/>
                </a:solidFill>
                <a:latin typeface="Arial"/>
                <a:ea typeface="Arial"/>
                <a:cs typeface="Arial"/>
              </a:defRPr>
            </a:lvl3pPr>
            <a:lvl4pPr>
              <a:defRPr sz="2475" b="1">
                <a:solidFill>
                  <a:srgbClr val="087E8B"/>
                </a:solidFill>
                <a:latin typeface="Arial"/>
                <a:ea typeface="Arial"/>
                <a:cs typeface="Arial"/>
              </a:defRPr>
            </a:lvl4pPr>
            <a:lvl5pPr>
              <a:defRPr sz="2475" b="1">
                <a:solidFill>
                  <a:srgbClr val="087E8B"/>
                </a:solidFill>
                <a:latin typeface="Arial"/>
                <a:ea typeface="Arial"/>
                <a:cs typeface="Arial"/>
              </a:defRPr>
            </a:lvl5pPr>
            <a:lvl6pPr>
              <a:defRPr sz="2475" b="1">
                <a:solidFill>
                  <a:srgbClr val="087E8B"/>
                </a:solidFill>
                <a:latin typeface="Arial"/>
                <a:ea typeface="Arial"/>
                <a:cs typeface="Arial"/>
              </a:defRPr>
            </a:lvl6pPr>
            <a:lvl7pPr>
              <a:defRPr sz="2475" b="1">
                <a:solidFill>
                  <a:srgbClr val="087E8B"/>
                </a:solidFill>
                <a:latin typeface="Arial"/>
                <a:ea typeface="Arial"/>
                <a:cs typeface="Arial"/>
              </a:defRPr>
            </a:lvl7pPr>
            <a:lvl8pPr>
              <a:defRPr sz="2475" b="1">
                <a:solidFill>
                  <a:srgbClr val="087E8B"/>
                </a:solidFill>
                <a:latin typeface="Arial"/>
                <a:ea typeface="Arial"/>
                <a:cs typeface="Arial"/>
              </a:defRPr>
            </a:lvl8pPr>
            <a:lvl9pPr>
              <a:defRPr sz="2475" b="1">
                <a:solidFill>
                  <a:srgbClr val="087E8B"/>
                </a:solidFill>
                <a:latin typeface="Arial"/>
                <a:ea typeface="Arial"/>
                <a:cs typeface="Arial"/>
              </a:defRPr>
            </a:lvl9pPr>
          </a:lstStyle>
          <a:p xmlns:a="http://schemas.openxmlformats.org/drawingml/2006/main">
            <a:pPr>
              <a:defRPr sz="2475" b="1">
                <a:solidFill>
                  <a:srgbClr val="087E8B"/>
                </a:solidFill>
                <a:latin typeface="Arial"/>
                <a:ea typeface="Arial"/>
                <a:cs typeface="Arial"/>
              </a:defRPr>
            </a:pPr>
            <a:r>
              <a:rPr sz="2475" b="1">
                <a:solidFill>
                  <a:srgbClr val="087E8B"/>
                </a:solidFill>
                <a:latin typeface="Arial"/>
                <a:ea typeface="Arial"/>
                <a:cs typeface="Arial"/>
              </a:rPr>
              <a:t>Optuna TPESampler</a:t>
            </a:r>
          </a:p>
        </p:txBody>
      </p:sp>
      <p:sp>
        <p:nvSpPr>
          <p:cNvPr id="7" name="text">
            <a:extLst xmlns:a="http://schemas.openxmlformats.org/drawingml/2006/main">
              <a:ext uri="{FF2B5EF4-FFF2-40B4-BE49-F238E27FC236}">
                <a16:creationId xmlns:a16="http://schemas.microsoft.com/office/drawing/2014/main" id="{0355C562-B444-49A5-9F1C-68D1BAC8499E}"/>
              </a:ext>
            </a:extLst>
          </p:cNvPr>
          <p:cNvSpPr>
            <a:spLocks xmlns:a="http://schemas.openxmlformats.org/drawingml/2006/main" noGrp="1"/>
          </p:cNvSpPr>
          <p:nvPr/>
        </p:nvSpPr>
        <p:spPr>
          <a:xfrm xmlns:a="http://schemas.openxmlformats.org/drawingml/2006/main">
            <a:off x="609600" y="4114800"/>
            <a:ext cx="109728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32D46"/>
                </a:solidFill>
                <a:latin typeface="Arial"/>
                <a:ea typeface="Arial"/>
                <a:cs typeface="Arial"/>
              </a:defRPr>
            </a:defPPr>
            <a:lvl1pPr>
              <a:defRPr sz="2175" b="0">
                <a:solidFill>
                  <a:srgbClr val="132D46"/>
                </a:solidFill>
                <a:latin typeface="Arial"/>
                <a:ea typeface="Arial"/>
                <a:cs typeface="Arial"/>
              </a:defRPr>
            </a:lvl1pPr>
            <a:lvl2pPr>
              <a:defRPr sz="2175" b="0">
                <a:solidFill>
                  <a:srgbClr val="132D46"/>
                </a:solidFill>
                <a:latin typeface="Arial"/>
                <a:ea typeface="Arial"/>
                <a:cs typeface="Arial"/>
              </a:defRPr>
            </a:lvl2pPr>
            <a:lvl3pPr>
              <a:defRPr sz="2175" b="0">
                <a:solidFill>
                  <a:srgbClr val="132D46"/>
                </a:solidFill>
                <a:latin typeface="Arial"/>
                <a:ea typeface="Arial"/>
                <a:cs typeface="Arial"/>
              </a:defRPr>
            </a:lvl3pPr>
            <a:lvl4pPr>
              <a:defRPr sz="2175" b="0">
                <a:solidFill>
                  <a:srgbClr val="132D46"/>
                </a:solidFill>
                <a:latin typeface="Arial"/>
                <a:ea typeface="Arial"/>
                <a:cs typeface="Arial"/>
              </a:defRPr>
            </a:lvl4pPr>
            <a:lvl5pPr>
              <a:defRPr sz="2175" b="0">
                <a:solidFill>
                  <a:srgbClr val="132D46"/>
                </a:solidFill>
                <a:latin typeface="Arial"/>
                <a:ea typeface="Arial"/>
                <a:cs typeface="Arial"/>
              </a:defRPr>
            </a:lvl5pPr>
            <a:lvl6pPr>
              <a:defRPr sz="2175" b="0">
                <a:solidFill>
                  <a:srgbClr val="132D46"/>
                </a:solidFill>
                <a:latin typeface="Arial"/>
                <a:ea typeface="Arial"/>
                <a:cs typeface="Arial"/>
              </a:defRPr>
            </a:lvl6pPr>
            <a:lvl7pPr>
              <a:defRPr sz="2175" b="0">
                <a:solidFill>
                  <a:srgbClr val="132D46"/>
                </a:solidFill>
                <a:latin typeface="Arial"/>
                <a:ea typeface="Arial"/>
                <a:cs typeface="Arial"/>
              </a:defRPr>
            </a:lvl7pPr>
            <a:lvl8pPr>
              <a:defRPr sz="2175" b="0">
                <a:solidFill>
                  <a:srgbClr val="132D46"/>
                </a:solidFill>
                <a:latin typeface="Arial"/>
                <a:ea typeface="Arial"/>
                <a:cs typeface="Arial"/>
              </a:defRPr>
            </a:lvl8pPr>
            <a:lvl9pPr>
              <a:defRPr sz="2175" b="0">
                <a:solidFill>
                  <a:srgbClr val="132D46"/>
                </a:solidFill>
                <a:latin typeface="Arial"/>
                <a:ea typeface="Arial"/>
                <a:cs typeface="Arial"/>
              </a:defRPr>
            </a:lvl9pPr>
          </a:lstStyle>
          <a:p xmlns:a="http://schemas.openxmlformats.org/drawingml/2006/main">
            <a:pPr>
              <a:defRPr sz="2175" b="0">
                <a:solidFill>
                  <a:srgbClr val="132D46"/>
                </a:solidFill>
                <a:latin typeface="Arial"/>
                <a:ea typeface="Arial"/>
                <a:cs typeface="Arial"/>
              </a:defRPr>
            </a:pPr>
            <a:r>
              <a:rPr sz="2175" b="0">
                <a:solidFill>
                  <a:srgbClr val="132D46"/>
                </a:solidFill>
                <a:latin typeface="Arial"/>
                <a:ea typeface="Arial"/>
                <a:cs typeface="Arial"/>
              </a:rPr>
              <a:t>10 trials ngẫu nhiên khởi tạo, sau đó 20 trials dùng lịch sử.</a:t>
            </a:r>
          </a:p>
          <a:p xmlns:a="http://schemas.openxmlformats.org/drawingml/2006/main">
            <a:pPr>
              <a:defRPr sz="2175" b="0">
                <a:solidFill>
                  <a:srgbClr val="132D46"/>
                </a:solidFill>
                <a:latin typeface="Arial"/>
                <a:ea typeface="Arial"/>
                <a:cs typeface="Arial"/>
              </a:defRPr>
            </a:pPr>
            <a:r>
              <a:rPr sz="2175" b="0">
                <a:solidFill>
                  <a:srgbClr val="132D46"/>
                </a:solidFill>
                <a:latin typeface="Arial"/>
                <a:ea typeface="Arial"/>
                <a:cs typeface="Arial"/>
              </a:rPr>
              <a:t>Ước lượng l(x) từ nhóm tốt và g(x) từ nhóm còn lại.</a:t>
            </a:r>
          </a:p>
          <a:p xmlns:a="http://schemas.openxmlformats.org/drawingml/2006/main">
            <a:pPr>
              <a:defRPr sz="2175" b="0">
                <a:solidFill>
                  <a:srgbClr val="132D46"/>
                </a:solidFill>
                <a:latin typeface="Arial"/>
                <a:ea typeface="Arial"/>
                <a:cs typeface="Arial"/>
              </a:defRPr>
            </a:pPr>
            <a:r>
              <a:rPr sz="2175" b="0">
                <a:solidFill>
                  <a:srgbClr val="132D46"/>
                </a:solidFill>
                <a:latin typeface="Arial"/>
                <a:ea typeface="Arial"/>
                <a:cs typeface="Arial"/>
              </a:rPr>
              <a:t>Ưu tiên ứng viên có tỷ lệ l(x)/g(x) cao.</a:t>
            </a:r>
          </a:p>
        </p:txBody>
      </p:sp>
      <p:sp>
        <p:nvSpPr>
          <p:cNvPr id="8" name="text">
            <a:extLst xmlns:a="http://schemas.openxmlformats.org/drawingml/2006/main">
              <a:ext uri="{FF2B5EF4-FFF2-40B4-BE49-F238E27FC236}">
                <a16:creationId xmlns:a16="http://schemas.microsoft.com/office/drawing/2014/main" id="{2D971B8F-5C72-424E-B4B4-39FCB4C1AE61}"/>
              </a:ext>
            </a:extLst>
          </p:cNvPr>
          <p:cNvSpPr>
            <a:spLocks xmlns:a="http://schemas.openxmlformats.org/drawingml/2006/main" noGrp="1"/>
          </p:cNvSpPr>
          <p:nvPr/>
        </p:nvSpPr>
        <p:spPr>
          <a:xfrm xmlns:a="http://schemas.openxmlformats.org/drawingml/2006/main">
            <a:off x="609600" y="58007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16273"/>
                </a:solidFill>
                <a:latin typeface="Arial"/>
                <a:ea typeface="Arial"/>
                <a:cs typeface="Arial"/>
              </a:defRPr>
            </a:defPPr>
            <a:lvl1pPr>
              <a:defRPr sz="1800" b="0">
                <a:solidFill>
                  <a:srgbClr val="516273"/>
                </a:solidFill>
                <a:latin typeface="Arial"/>
                <a:ea typeface="Arial"/>
                <a:cs typeface="Arial"/>
              </a:defRPr>
            </a:lvl1pPr>
            <a:lvl2pPr>
              <a:defRPr sz="1800" b="0">
                <a:solidFill>
                  <a:srgbClr val="516273"/>
                </a:solidFill>
                <a:latin typeface="Arial"/>
                <a:ea typeface="Arial"/>
                <a:cs typeface="Arial"/>
              </a:defRPr>
            </a:lvl2pPr>
            <a:lvl3pPr>
              <a:defRPr sz="1800" b="0">
                <a:solidFill>
                  <a:srgbClr val="516273"/>
                </a:solidFill>
                <a:latin typeface="Arial"/>
                <a:ea typeface="Arial"/>
                <a:cs typeface="Arial"/>
              </a:defRPr>
            </a:lvl3pPr>
            <a:lvl4pPr>
              <a:defRPr sz="1800" b="0">
                <a:solidFill>
                  <a:srgbClr val="516273"/>
                </a:solidFill>
                <a:latin typeface="Arial"/>
                <a:ea typeface="Arial"/>
                <a:cs typeface="Arial"/>
              </a:defRPr>
            </a:lvl4pPr>
            <a:lvl5pPr>
              <a:defRPr sz="1800" b="0">
                <a:solidFill>
                  <a:srgbClr val="516273"/>
                </a:solidFill>
                <a:latin typeface="Arial"/>
                <a:ea typeface="Arial"/>
                <a:cs typeface="Arial"/>
              </a:defRPr>
            </a:lvl5pPr>
            <a:lvl6pPr>
              <a:defRPr sz="1800" b="0">
                <a:solidFill>
                  <a:srgbClr val="516273"/>
                </a:solidFill>
                <a:latin typeface="Arial"/>
                <a:ea typeface="Arial"/>
                <a:cs typeface="Arial"/>
              </a:defRPr>
            </a:lvl6pPr>
            <a:lvl7pPr>
              <a:defRPr sz="1800" b="0">
                <a:solidFill>
                  <a:srgbClr val="516273"/>
                </a:solidFill>
                <a:latin typeface="Arial"/>
                <a:ea typeface="Arial"/>
                <a:cs typeface="Arial"/>
              </a:defRPr>
            </a:lvl7pPr>
            <a:lvl8pPr>
              <a:defRPr sz="1800" b="0">
                <a:solidFill>
                  <a:srgbClr val="516273"/>
                </a:solidFill>
                <a:latin typeface="Arial"/>
                <a:ea typeface="Arial"/>
                <a:cs typeface="Arial"/>
              </a:defRPr>
            </a:lvl8pPr>
            <a:lvl9pPr>
              <a:defRPr sz="1800" b="0">
                <a:solidFill>
                  <a:srgbClr val="516273"/>
                </a:solidFill>
                <a:latin typeface="Arial"/>
                <a:ea typeface="Arial"/>
                <a:cs typeface="Arial"/>
              </a:defRPr>
            </a:lvl9pPr>
          </a:lstStyle>
          <a:p xmlns:a="http://schemas.openxmlformats.org/drawingml/2006/main">
            <a:pPr>
              <a:defRPr sz="1800" b="0">
                <a:solidFill>
                  <a:srgbClr val="516273"/>
                </a:solidFill>
                <a:latin typeface="Arial"/>
                <a:ea typeface="Arial"/>
                <a:cs typeface="Arial"/>
              </a:defRPr>
            </a:pPr>
            <a:r>
              <a:rPr sz="1800" b="0">
                <a:solidFill>
                  <a:srgbClr val="516273"/>
                </a:solidFill>
                <a:latin typeface="Arial"/>
                <a:ea typeface="Arial"/>
                <a:cs typeface="Arial"/>
              </a:rPr>
              <a:t>CSV/JSON lưu params, điểm từng fold, trạng thái, seed và thời gian.</a:t>
            </a:r>
          </a:p>
        </p:txBody>
      </p:sp>
    </p:spTree>
    <p:extLst>
      <p:ext uri="{BB962C8B-B14F-4D97-AF65-F5344CB8AC3E}">
        <p14:creationId xmlns:p14="http://schemas.microsoft.com/office/powerpoint/2010/main" val="9116742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primary-heading">
            <a:extLst xmlns:a="http://schemas.openxmlformats.org/drawingml/2006/main">
              <a:ext uri="{FF2B5EF4-FFF2-40B4-BE49-F238E27FC236}">
                <a16:creationId xmlns:a16="http://schemas.microsoft.com/office/drawing/2014/main" id="{BA1A74CE-63C8-4B9C-970A-4CCB997363CD}"/>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32D46"/>
                </a:solidFill>
                <a:latin typeface="Arial"/>
                <a:ea typeface="Arial"/>
                <a:cs typeface="Arial"/>
              </a:defRPr>
            </a:defPPr>
            <a:lvl1pPr>
              <a:defRPr sz="3300" b="1">
                <a:solidFill>
                  <a:srgbClr val="132D46"/>
                </a:solidFill>
                <a:latin typeface="Arial"/>
                <a:ea typeface="Arial"/>
                <a:cs typeface="Arial"/>
              </a:defRPr>
            </a:lvl1pPr>
            <a:lvl2pPr>
              <a:defRPr sz="3300" b="1">
                <a:solidFill>
                  <a:srgbClr val="132D46"/>
                </a:solidFill>
                <a:latin typeface="Arial"/>
                <a:ea typeface="Arial"/>
                <a:cs typeface="Arial"/>
              </a:defRPr>
            </a:lvl2pPr>
            <a:lvl3pPr>
              <a:defRPr sz="3300" b="1">
                <a:solidFill>
                  <a:srgbClr val="132D46"/>
                </a:solidFill>
                <a:latin typeface="Arial"/>
                <a:ea typeface="Arial"/>
                <a:cs typeface="Arial"/>
              </a:defRPr>
            </a:lvl3pPr>
            <a:lvl4pPr>
              <a:defRPr sz="3300" b="1">
                <a:solidFill>
                  <a:srgbClr val="132D46"/>
                </a:solidFill>
                <a:latin typeface="Arial"/>
                <a:ea typeface="Arial"/>
                <a:cs typeface="Arial"/>
              </a:defRPr>
            </a:lvl4pPr>
            <a:lvl5pPr>
              <a:defRPr sz="3300" b="1">
                <a:solidFill>
                  <a:srgbClr val="132D46"/>
                </a:solidFill>
                <a:latin typeface="Arial"/>
                <a:ea typeface="Arial"/>
                <a:cs typeface="Arial"/>
              </a:defRPr>
            </a:lvl5pPr>
            <a:lvl6pPr>
              <a:defRPr sz="3300" b="1">
                <a:solidFill>
                  <a:srgbClr val="132D46"/>
                </a:solidFill>
                <a:latin typeface="Arial"/>
                <a:ea typeface="Arial"/>
                <a:cs typeface="Arial"/>
              </a:defRPr>
            </a:lvl6pPr>
            <a:lvl7pPr>
              <a:defRPr sz="3300" b="1">
                <a:solidFill>
                  <a:srgbClr val="132D46"/>
                </a:solidFill>
                <a:latin typeface="Arial"/>
                <a:ea typeface="Arial"/>
                <a:cs typeface="Arial"/>
              </a:defRPr>
            </a:lvl7pPr>
            <a:lvl8pPr>
              <a:defRPr sz="3300" b="1">
                <a:solidFill>
                  <a:srgbClr val="132D46"/>
                </a:solidFill>
                <a:latin typeface="Arial"/>
                <a:ea typeface="Arial"/>
                <a:cs typeface="Arial"/>
              </a:defRPr>
            </a:lvl8pPr>
            <a:lvl9pPr>
              <a:defRPr sz="3300" b="1">
                <a:solidFill>
                  <a:srgbClr val="132D46"/>
                </a:solidFill>
                <a:latin typeface="Arial"/>
                <a:ea typeface="Arial"/>
                <a:cs typeface="Arial"/>
              </a:defRPr>
            </a:lvl9pPr>
          </a:lstStyle>
          <a:p xmlns:a="http://schemas.openxmlformats.org/drawingml/2006/main">
            <a:pPr>
              <a:defRPr sz="3300" b="1">
                <a:solidFill>
                  <a:srgbClr val="132D46"/>
                </a:solidFill>
                <a:latin typeface="Arial"/>
                <a:ea typeface="Arial"/>
                <a:cs typeface="Arial"/>
              </a:defRPr>
            </a:pPr>
            <a:r>
              <a:rPr sz="3300" b="1">
                <a:solidFill>
                  <a:srgbClr val="132D46"/>
                </a:solidFill>
                <a:latin typeface="Arial"/>
                <a:ea typeface="Arial"/>
                <a:cs typeface="Arial"/>
              </a:rPr>
              <a:t>Lịch sử điểm CV tốt nhất</a:t>
            </a:r>
          </a:p>
        </p:txBody>
      </p:sp>
      <p:sp>
        <p:nvSpPr>
          <p:cNvPr id="2" name="text">
            <a:extLst xmlns:a="http://schemas.openxmlformats.org/drawingml/2006/main">
              <a:ext uri="{FF2B5EF4-FFF2-40B4-BE49-F238E27FC236}">
                <a16:creationId xmlns:a16="http://schemas.microsoft.com/office/drawing/2014/main" id="{F5FB3211-5CDE-43D7-B20B-45FD28500DC3}"/>
              </a:ext>
            </a:extLst>
          </p:cNvPr>
          <p:cNvSpPr>
            <a:spLocks xmlns:a="http://schemas.openxmlformats.org/drawingml/2006/main" noGrp="1"/>
          </p:cNvSpPr>
          <p:nvPr/>
        </p:nvSpPr>
        <p:spPr>
          <a:xfrm xmlns:a="http://schemas.openxmlformats.org/drawingml/2006/main">
            <a:off x="609600" y="6410325"/>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273"/>
                </a:solidFill>
                <a:latin typeface="Arial"/>
                <a:ea typeface="Arial"/>
                <a:cs typeface="Arial"/>
              </a:defRPr>
            </a:defPPr>
            <a:lvl1pPr>
              <a:defRPr sz="1200" b="0">
                <a:solidFill>
                  <a:srgbClr val="516273"/>
                </a:solidFill>
                <a:latin typeface="Arial"/>
                <a:ea typeface="Arial"/>
                <a:cs typeface="Arial"/>
              </a:defRPr>
            </a:lvl1pPr>
            <a:lvl2pPr>
              <a:defRPr sz="1200" b="0">
                <a:solidFill>
                  <a:srgbClr val="516273"/>
                </a:solidFill>
                <a:latin typeface="Arial"/>
                <a:ea typeface="Arial"/>
                <a:cs typeface="Arial"/>
              </a:defRPr>
            </a:lvl2pPr>
            <a:lvl3pPr>
              <a:defRPr sz="1200" b="0">
                <a:solidFill>
                  <a:srgbClr val="516273"/>
                </a:solidFill>
                <a:latin typeface="Arial"/>
                <a:ea typeface="Arial"/>
                <a:cs typeface="Arial"/>
              </a:defRPr>
            </a:lvl3pPr>
            <a:lvl4pPr>
              <a:defRPr sz="1200" b="0">
                <a:solidFill>
                  <a:srgbClr val="516273"/>
                </a:solidFill>
                <a:latin typeface="Arial"/>
                <a:ea typeface="Arial"/>
                <a:cs typeface="Arial"/>
              </a:defRPr>
            </a:lvl4pPr>
            <a:lvl5pPr>
              <a:defRPr sz="1200" b="0">
                <a:solidFill>
                  <a:srgbClr val="516273"/>
                </a:solidFill>
                <a:latin typeface="Arial"/>
                <a:ea typeface="Arial"/>
                <a:cs typeface="Arial"/>
              </a:defRPr>
            </a:lvl5pPr>
            <a:lvl6pPr>
              <a:defRPr sz="1200" b="0">
                <a:solidFill>
                  <a:srgbClr val="516273"/>
                </a:solidFill>
                <a:latin typeface="Arial"/>
                <a:ea typeface="Arial"/>
                <a:cs typeface="Arial"/>
              </a:defRPr>
            </a:lvl6pPr>
            <a:lvl7pPr>
              <a:defRPr sz="1200" b="0">
                <a:solidFill>
                  <a:srgbClr val="516273"/>
                </a:solidFill>
                <a:latin typeface="Arial"/>
                <a:ea typeface="Arial"/>
                <a:cs typeface="Arial"/>
              </a:defRPr>
            </a:lvl7pPr>
            <a:lvl8pPr>
              <a:defRPr sz="1200" b="0">
                <a:solidFill>
                  <a:srgbClr val="516273"/>
                </a:solidFill>
                <a:latin typeface="Arial"/>
                <a:ea typeface="Arial"/>
                <a:cs typeface="Arial"/>
              </a:defRPr>
            </a:lvl8pPr>
            <a:lvl9pPr>
              <a:defRPr sz="1200" b="0">
                <a:solidFill>
                  <a:srgbClr val="516273"/>
                </a:solidFill>
                <a:latin typeface="Arial"/>
                <a:ea typeface="Arial"/>
                <a:cs typeface="Arial"/>
              </a:defRPr>
            </a:lvl9pPr>
          </a:lstStyle>
          <a:p xmlns:a="http://schemas.openxmlformats.org/drawingml/2006/main">
            <a:pPr>
              <a:defRPr sz="1200" b="0">
                <a:solidFill>
                  <a:srgbClr val="516273"/>
                </a:solidFill>
                <a:latin typeface="Arial"/>
                <a:ea typeface="Arial"/>
                <a:cs typeface="Arial"/>
              </a:defRPr>
            </a:pPr>
            <a:r>
              <a:rPr sz="1200" b="0">
                <a:solidFill>
                  <a:srgbClr val="516273"/>
                </a:solidFill>
                <a:latin typeface="Arial"/>
                <a:ea typeface="Arial"/>
                <a:cs typeface="Arial"/>
              </a:rPr>
              <a:t>NHẬP MÔN TỐI ƯU HÓA   •   RANDOM FOREST VÀ OPTUNA</a:t>
            </a:r>
          </a:p>
        </p:txBody>
      </p:sp>
      <p:sp>
        <p:nvSpPr>
          <p:cNvPr id="3" name="text">
            <a:extLst xmlns:a="http://schemas.openxmlformats.org/drawingml/2006/main">
              <a:ext uri="{FF2B5EF4-FFF2-40B4-BE49-F238E27FC236}">
                <a16:creationId xmlns:a16="http://schemas.microsoft.com/office/drawing/2014/main" id="{30E804E6-A790-4355-834E-8DAFEA6DCF0F}"/>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16273"/>
                </a:solidFill>
                <a:latin typeface="Arial"/>
                <a:ea typeface="Arial"/>
                <a:cs typeface="Arial"/>
              </a:defRPr>
            </a:defPPr>
            <a:lvl1pPr>
              <a:defRPr sz="1350" b="0">
                <a:solidFill>
                  <a:srgbClr val="516273"/>
                </a:solidFill>
                <a:latin typeface="Arial"/>
                <a:ea typeface="Arial"/>
                <a:cs typeface="Arial"/>
              </a:defRPr>
            </a:lvl1pPr>
            <a:lvl2pPr>
              <a:defRPr sz="1350" b="0">
                <a:solidFill>
                  <a:srgbClr val="516273"/>
                </a:solidFill>
                <a:latin typeface="Arial"/>
                <a:ea typeface="Arial"/>
                <a:cs typeface="Arial"/>
              </a:defRPr>
            </a:lvl2pPr>
            <a:lvl3pPr>
              <a:defRPr sz="1350" b="0">
                <a:solidFill>
                  <a:srgbClr val="516273"/>
                </a:solidFill>
                <a:latin typeface="Arial"/>
                <a:ea typeface="Arial"/>
                <a:cs typeface="Arial"/>
              </a:defRPr>
            </a:lvl3pPr>
            <a:lvl4pPr>
              <a:defRPr sz="1350" b="0">
                <a:solidFill>
                  <a:srgbClr val="516273"/>
                </a:solidFill>
                <a:latin typeface="Arial"/>
                <a:ea typeface="Arial"/>
                <a:cs typeface="Arial"/>
              </a:defRPr>
            </a:lvl4pPr>
            <a:lvl5pPr>
              <a:defRPr sz="1350" b="0">
                <a:solidFill>
                  <a:srgbClr val="516273"/>
                </a:solidFill>
                <a:latin typeface="Arial"/>
                <a:ea typeface="Arial"/>
                <a:cs typeface="Arial"/>
              </a:defRPr>
            </a:lvl5pPr>
            <a:lvl6pPr>
              <a:defRPr sz="1350" b="0">
                <a:solidFill>
                  <a:srgbClr val="516273"/>
                </a:solidFill>
                <a:latin typeface="Arial"/>
                <a:ea typeface="Arial"/>
                <a:cs typeface="Arial"/>
              </a:defRPr>
            </a:lvl6pPr>
            <a:lvl7pPr>
              <a:defRPr sz="1350" b="0">
                <a:solidFill>
                  <a:srgbClr val="516273"/>
                </a:solidFill>
                <a:latin typeface="Arial"/>
                <a:ea typeface="Arial"/>
                <a:cs typeface="Arial"/>
              </a:defRPr>
            </a:lvl7pPr>
            <a:lvl8pPr>
              <a:defRPr sz="1350" b="0">
                <a:solidFill>
                  <a:srgbClr val="516273"/>
                </a:solidFill>
                <a:latin typeface="Arial"/>
                <a:ea typeface="Arial"/>
                <a:cs typeface="Arial"/>
              </a:defRPr>
            </a:lvl8pPr>
            <a:lvl9pPr>
              <a:defRPr sz="1350" b="0">
                <a:solidFill>
                  <a:srgbClr val="516273"/>
                </a:solidFill>
                <a:latin typeface="Arial"/>
                <a:ea typeface="Arial"/>
                <a:cs typeface="Arial"/>
              </a:defRPr>
            </a:lvl9pPr>
          </a:lstStyle>
          <a:p xmlns:a="http://schemas.openxmlformats.org/drawingml/2006/main">
            <a:pPr>
              <a:defRPr sz="1350" b="0">
                <a:solidFill>
                  <a:srgbClr val="516273"/>
                </a:solidFill>
                <a:latin typeface="Arial"/>
                <a:ea typeface="Arial"/>
                <a:cs typeface="Arial"/>
              </a:defRPr>
            </a:pPr>
            <a:r>
              <a:rPr sz="1350" b="0">
                <a:solidFill>
                  <a:srgbClr val="516273"/>
                </a:solidFill>
                <a:latin typeface="Arial"/>
                <a:ea typeface="Arial"/>
                <a:cs typeface="Arial"/>
              </a:rPr>
              <a:t>05</a:t>
            </a:r>
          </a:p>
        </p:txBody>
      </p:sp>
      <p:graphicFrame>
        <p:nvGraphicFramePr>
          <p:cNvPr id="4" name="Chart">
            <a:extLst xmlns:a="http://schemas.openxmlformats.org/drawingml/2006/main">
              <a:ext uri="{FF2B5EF4-FFF2-40B4-BE49-F238E27FC236}">
                <a16:creationId xmlns:a16="http://schemas.microsoft.com/office/drawing/2014/main" id="{82086FEE-9593-4087-BD9C-92D206DFCE7B}"/>
              </a:ext>
            </a:extLst>
          </p:cNvPr>
          <p:cNvGraphicFramePr/>
          <p:nvPr/>
        </p:nvGraphicFramePr>
        <p:xfrm>
          <a:off xmlns:a="http://schemas.openxmlformats.org/drawingml/2006/main" x="609600" y="1676400"/>
          <a:ext xmlns:a="http://schemas.openxmlformats.org/drawingml/2006/main" cx="8096250" cy="4257675"/>
        </p:xfrm>
        <a:graphic xmlns:a="http://schemas.openxmlformats.org/drawingml/2006/main">
          <a:graphicData uri="http://schemas.openxmlformats.org/drawingml/2006/chart">
            <c:chart xmlns:r="http://schemas.openxmlformats.org/officeDocument/2006/relationships" xmlns:c="http://schemas.openxmlformats.org/drawingml/2006/chart" r:id="R15eed2e49fe448cf"/>
          </a:graphicData>
        </a:graphic>
      </p:graphicFrame>
      <p:sp>
        <p:nvSpPr>
          <p:cNvPr id="5" name="text">
            <a:extLst xmlns:a="http://schemas.openxmlformats.org/drawingml/2006/main">
              <a:ext uri="{FF2B5EF4-FFF2-40B4-BE49-F238E27FC236}">
                <a16:creationId xmlns:a16="http://schemas.microsoft.com/office/drawing/2014/main" id="{91B8B807-EE15-48ED-9227-E89EFA34A317}"/>
              </a:ext>
            </a:extLst>
          </p:cNvPr>
          <p:cNvSpPr>
            <a:spLocks xmlns:a="http://schemas.openxmlformats.org/drawingml/2006/main" noGrp="1"/>
          </p:cNvSpPr>
          <p:nvPr/>
        </p:nvSpPr>
        <p:spPr>
          <a:xfrm xmlns:a="http://schemas.openxmlformats.org/drawingml/2006/main">
            <a:off x="9010650" y="1971675"/>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87E8B"/>
                </a:solidFill>
                <a:latin typeface="Arial"/>
                <a:ea typeface="Arial"/>
                <a:cs typeface="Arial"/>
              </a:defRPr>
            </a:defPPr>
            <a:lvl1pPr>
              <a:defRPr sz="3300" b="1">
                <a:solidFill>
                  <a:srgbClr val="087E8B"/>
                </a:solidFill>
                <a:latin typeface="Arial"/>
                <a:ea typeface="Arial"/>
                <a:cs typeface="Arial"/>
              </a:defRPr>
            </a:lvl1pPr>
            <a:lvl2pPr>
              <a:defRPr sz="3300" b="1">
                <a:solidFill>
                  <a:srgbClr val="087E8B"/>
                </a:solidFill>
                <a:latin typeface="Arial"/>
                <a:ea typeface="Arial"/>
                <a:cs typeface="Arial"/>
              </a:defRPr>
            </a:lvl2pPr>
            <a:lvl3pPr>
              <a:defRPr sz="3300" b="1">
                <a:solidFill>
                  <a:srgbClr val="087E8B"/>
                </a:solidFill>
                <a:latin typeface="Arial"/>
                <a:ea typeface="Arial"/>
                <a:cs typeface="Arial"/>
              </a:defRPr>
            </a:lvl3pPr>
            <a:lvl4pPr>
              <a:defRPr sz="3300" b="1">
                <a:solidFill>
                  <a:srgbClr val="087E8B"/>
                </a:solidFill>
                <a:latin typeface="Arial"/>
                <a:ea typeface="Arial"/>
                <a:cs typeface="Arial"/>
              </a:defRPr>
            </a:lvl4pPr>
            <a:lvl5pPr>
              <a:defRPr sz="3300" b="1">
                <a:solidFill>
                  <a:srgbClr val="087E8B"/>
                </a:solidFill>
                <a:latin typeface="Arial"/>
                <a:ea typeface="Arial"/>
                <a:cs typeface="Arial"/>
              </a:defRPr>
            </a:lvl5pPr>
            <a:lvl6pPr>
              <a:defRPr sz="3300" b="1">
                <a:solidFill>
                  <a:srgbClr val="087E8B"/>
                </a:solidFill>
                <a:latin typeface="Arial"/>
                <a:ea typeface="Arial"/>
                <a:cs typeface="Arial"/>
              </a:defRPr>
            </a:lvl6pPr>
            <a:lvl7pPr>
              <a:defRPr sz="3300" b="1">
                <a:solidFill>
                  <a:srgbClr val="087E8B"/>
                </a:solidFill>
                <a:latin typeface="Arial"/>
                <a:ea typeface="Arial"/>
                <a:cs typeface="Arial"/>
              </a:defRPr>
            </a:lvl7pPr>
            <a:lvl8pPr>
              <a:defRPr sz="3300" b="1">
                <a:solidFill>
                  <a:srgbClr val="087E8B"/>
                </a:solidFill>
                <a:latin typeface="Arial"/>
                <a:ea typeface="Arial"/>
                <a:cs typeface="Arial"/>
              </a:defRPr>
            </a:lvl8pPr>
            <a:lvl9pPr>
              <a:defRPr sz="3300" b="1">
                <a:solidFill>
                  <a:srgbClr val="087E8B"/>
                </a:solidFill>
                <a:latin typeface="Arial"/>
                <a:ea typeface="Arial"/>
                <a:cs typeface="Arial"/>
              </a:defRPr>
            </a:lvl9pPr>
          </a:lstStyle>
          <a:p xmlns:a="http://schemas.openxmlformats.org/drawingml/2006/main">
            <a:pPr>
              <a:defRPr sz="3300" b="1">
                <a:solidFill>
                  <a:srgbClr val="087E8B"/>
                </a:solidFill>
                <a:latin typeface="Arial"/>
                <a:ea typeface="Arial"/>
                <a:cs typeface="Arial"/>
              </a:defRPr>
            </a:pPr>
            <a:r>
              <a:rPr sz="3300" b="1">
                <a:solidFill>
                  <a:srgbClr val="087E8B"/>
                </a:solidFill>
                <a:latin typeface="Arial"/>
                <a:ea typeface="Arial"/>
                <a:cs typeface="Arial"/>
              </a:rPr>
              <a:t>+0.000396</a:t>
            </a:r>
          </a:p>
        </p:txBody>
      </p:sp>
      <p:sp>
        <p:nvSpPr>
          <p:cNvPr id="6" name="text">
            <a:extLst xmlns:a="http://schemas.openxmlformats.org/drawingml/2006/main">
              <a:ext uri="{FF2B5EF4-FFF2-40B4-BE49-F238E27FC236}">
                <a16:creationId xmlns:a16="http://schemas.microsoft.com/office/drawing/2014/main" id="{D8F00D9A-C9F5-4C09-870E-CE1A8209AD9B}"/>
              </a:ext>
            </a:extLst>
          </p:cNvPr>
          <p:cNvSpPr>
            <a:spLocks xmlns:a="http://schemas.openxmlformats.org/drawingml/2006/main" noGrp="1"/>
          </p:cNvSpPr>
          <p:nvPr/>
        </p:nvSpPr>
        <p:spPr>
          <a:xfrm xmlns:a="http://schemas.openxmlformats.org/drawingml/2006/main">
            <a:off x="9010650" y="2771775"/>
            <a:ext cx="257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32D46"/>
                </a:solidFill>
                <a:latin typeface="Arial"/>
                <a:ea typeface="Arial"/>
                <a:cs typeface="Arial"/>
              </a:defRPr>
            </a:defPPr>
            <a:lvl1pPr>
              <a:defRPr sz="2025" b="0">
                <a:solidFill>
                  <a:srgbClr val="132D46"/>
                </a:solidFill>
                <a:latin typeface="Arial"/>
                <a:ea typeface="Arial"/>
                <a:cs typeface="Arial"/>
              </a:defRPr>
            </a:lvl1pPr>
            <a:lvl2pPr>
              <a:defRPr sz="2025" b="0">
                <a:solidFill>
                  <a:srgbClr val="132D46"/>
                </a:solidFill>
                <a:latin typeface="Arial"/>
                <a:ea typeface="Arial"/>
                <a:cs typeface="Arial"/>
              </a:defRPr>
            </a:lvl2pPr>
            <a:lvl3pPr>
              <a:defRPr sz="2025" b="0">
                <a:solidFill>
                  <a:srgbClr val="132D46"/>
                </a:solidFill>
                <a:latin typeface="Arial"/>
                <a:ea typeface="Arial"/>
                <a:cs typeface="Arial"/>
              </a:defRPr>
            </a:lvl3pPr>
            <a:lvl4pPr>
              <a:defRPr sz="2025" b="0">
                <a:solidFill>
                  <a:srgbClr val="132D46"/>
                </a:solidFill>
                <a:latin typeface="Arial"/>
                <a:ea typeface="Arial"/>
                <a:cs typeface="Arial"/>
              </a:defRPr>
            </a:lvl4pPr>
            <a:lvl5pPr>
              <a:defRPr sz="2025" b="0">
                <a:solidFill>
                  <a:srgbClr val="132D46"/>
                </a:solidFill>
                <a:latin typeface="Arial"/>
                <a:ea typeface="Arial"/>
                <a:cs typeface="Arial"/>
              </a:defRPr>
            </a:lvl5pPr>
            <a:lvl6pPr>
              <a:defRPr sz="2025" b="0">
                <a:solidFill>
                  <a:srgbClr val="132D46"/>
                </a:solidFill>
                <a:latin typeface="Arial"/>
                <a:ea typeface="Arial"/>
                <a:cs typeface="Arial"/>
              </a:defRPr>
            </a:lvl6pPr>
            <a:lvl7pPr>
              <a:defRPr sz="2025" b="0">
                <a:solidFill>
                  <a:srgbClr val="132D46"/>
                </a:solidFill>
                <a:latin typeface="Arial"/>
                <a:ea typeface="Arial"/>
                <a:cs typeface="Arial"/>
              </a:defRPr>
            </a:lvl7pPr>
            <a:lvl8pPr>
              <a:defRPr sz="2025" b="0">
                <a:solidFill>
                  <a:srgbClr val="132D46"/>
                </a:solidFill>
                <a:latin typeface="Arial"/>
                <a:ea typeface="Arial"/>
                <a:cs typeface="Arial"/>
              </a:defRPr>
            </a:lvl8pPr>
            <a:lvl9pPr>
              <a:defRPr sz="2025" b="0">
                <a:solidFill>
                  <a:srgbClr val="132D46"/>
                </a:solidFill>
                <a:latin typeface="Arial"/>
                <a:ea typeface="Arial"/>
                <a:cs typeface="Arial"/>
              </a:defRPr>
            </a:lvl9pPr>
          </a:lstStyle>
          <a:p xmlns:a="http://schemas.openxmlformats.org/drawingml/2006/main">
            <a:pPr>
              <a:defRPr sz="2025" b="0">
                <a:solidFill>
                  <a:srgbClr val="132D46"/>
                </a:solidFill>
                <a:latin typeface="Arial"/>
                <a:ea typeface="Arial"/>
                <a:cs typeface="Arial"/>
              </a:defRPr>
            </a:pPr>
            <a:r>
              <a:rPr sz="2025" b="0">
                <a:solidFill>
                  <a:srgbClr val="132D46"/>
                </a:solidFill>
                <a:latin typeface="Arial"/>
                <a:ea typeface="Arial"/>
                <a:cs typeface="Arial"/>
              </a:rPr>
              <a:t>CV AUC so với</a:t>
            </a:r>
          </a:p>
          <a:p xmlns:a="http://schemas.openxmlformats.org/drawingml/2006/main">
            <a:pPr>
              <a:defRPr sz="2025" b="0">
                <a:solidFill>
                  <a:srgbClr val="132D46"/>
                </a:solidFill>
                <a:latin typeface="Arial"/>
                <a:ea typeface="Arial"/>
                <a:cs typeface="Arial"/>
              </a:defRPr>
            </a:pPr>
            <a:r>
              <a:rPr sz="2025" b="0">
                <a:solidFill>
                  <a:srgbClr val="132D46"/>
                </a:solidFill>
                <a:latin typeface="Arial"/>
                <a:ea typeface="Arial"/>
                <a:cs typeface="Arial"/>
              </a:rPr>
              <a:t>baseline</a:t>
            </a:r>
          </a:p>
        </p:txBody>
      </p:sp>
      <p:sp>
        <p:nvSpPr>
          <p:cNvPr id="7" name="text">
            <a:extLst xmlns:a="http://schemas.openxmlformats.org/drawingml/2006/main">
              <a:ext uri="{FF2B5EF4-FFF2-40B4-BE49-F238E27FC236}">
                <a16:creationId xmlns:a16="http://schemas.microsoft.com/office/drawing/2014/main" id="{17BDA86C-1F86-496F-B245-A7E8929CC5C8}"/>
              </a:ext>
            </a:extLst>
          </p:cNvPr>
          <p:cNvSpPr>
            <a:spLocks xmlns:a="http://schemas.openxmlformats.org/drawingml/2006/main" noGrp="1"/>
          </p:cNvSpPr>
          <p:nvPr/>
        </p:nvSpPr>
        <p:spPr>
          <a:xfrm xmlns:a="http://schemas.openxmlformats.org/drawingml/2006/main">
            <a:off x="9010650" y="4067175"/>
            <a:ext cx="257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32D46"/>
                </a:solidFill>
                <a:latin typeface="Arial"/>
                <a:ea typeface="Arial"/>
                <a:cs typeface="Arial"/>
              </a:defRPr>
            </a:defPPr>
            <a:lvl1pPr>
              <a:defRPr sz="2025" b="0">
                <a:solidFill>
                  <a:srgbClr val="132D46"/>
                </a:solidFill>
                <a:latin typeface="Arial"/>
                <a:ea typeface="Arial"/>
                <a:cs typeface="Arial"/>
              </a:defRPr>
            </a:lvl1pPr>
            <a:lvl2pPr>
              <a:defRPr sz="2025" b="0">
                <a:solidFill>
                  <a:srgbClr val="132D46"/>
                </a:solidFill>
                <a:latin typeface="Arial"/>
                <a:ea typeface="Arial"/>
                <a:cs typeface="Arial"/>
              </a:defRPr>
            </a:lvl2pPr>
            <a:lvl3pPr>
              <a:defRPr sz="2025" b="0">
                <a:solidFill>
                  <a:srgbClr val="132D46"/>
                </a:solidFill>
                <a:latin typeface="Arial"/>
                <a:ea typeface="Arial"/>
                <a:cs typeface="Arial"/>
              </a:defRPr>
            </a:lvl3pPr>
            <a:lvl4pPr>
              <a:defRPr sz="2025" b="0">
                <a:solidFill>
                  <a:srgbClr val="132D46"/>
                </a:solidFill>
                <a:latin typeface="Arial"/>
                <a:ea typeface="Arial"/>
                <a:cs typeface="Arial"/>
              </a:defRPr>
            </a:lvl4pPr>
            <a:lvl5pPr>
              <a:defRPr sz="2025" b="0">
                <a:solidFill>
                  <a:srgbClr val="132D46"/>
                </a:solidFill>
                <a:latin typeface="Arial"/>
                <a:ea typeface="Arial"/>
                <a:cs typeface="Arial"/>
              </a:defRPr>
            </a:lvl5pPr>
            <a:lvl6pPr>
              <a:defRPr sz="2025" b="0">
                <a:solidFill>
                  <a:srgbClr val="132D46"/>
                </a:solidFill>
                <a:latin typeface="Arial"/>
                <a:ea typeface="Arial"/>
                <a:cs typeface="Arial"/>
              </a:defRPr>
            </a:lvl6pPr>
            <a:lvl7pPr>
              <a:defRPr sz="2025" b="0">
                <a:solidFill>
                  <a:srgbClr val="132D46"/>
                </a:solidFill>
                <a:latin typeface="Arial"/>
                <a:ea typeface="Arial"/>
                <a:cs typeface="Arial"/>
              </a:defRPr>
            </a:lvl7pPr>
            <a:lvl8pPr>
              <a:defRPr sz="2025" b="0">
                <a:solidFill>
                  <a:srgbClr val="132D46"/>
                </a:solidFill>
                <a:latin typeface="Arial"/>
                <a:ea typeface="Arial"/>
                <a:cs typeface="Arial"/>
              </a:defRPr>
            </a:lvl8pPr>
            <a:lvl9pPr>
              <a:defRPr sz="2025" b="0">
                <a:solidFill>
                  <a:srgbClr val="132D46"/>
                </a:solidFill>
                <a:latin typeface="Arial"/>
                <a:ea typeface="Arial"/>
                <a:cs typeface="Arial"/>
              </a:defRPr>
            </a:lvl9pPr>
          </a:lstStyle>
          <a:p xmlns:a="http://schemas.openxmlformats.org/drawingml/2006/main">
            <a:pPr>
              <a:defRPr sz="2025" b="0">
                <a:solidFill>
                  <a:srgbClr val="132D46"/>
                </a:solidFill>
                <a:latin typeface="Arial"/>
                <a:ea typeface="Arial"/>
                <a:cs typeface="Arial"/>
              </a:defRPr>
            </a:pPr>
            <a:r>
              <a:rPr sz="2025" b="0">
                <a:solidFill>
                  <a:srgbClr val="132D46"/>
                </a:solidFill>
                <a:latin typeface="Arial"/>
                <a:ea typeface="Arial"/>
                <a:cs typeface="Arial"/>
              </a:rPr>
              <a:t>Best ở lần thử 11</a:t>
            </a:r>
          </a:p>
          <a:p xmlns:a="http://schemas.openxmlformats.org/drawingml/2006/main">
            <a:pPr>
              <a:defRPr sz="2025" b="0">
                <a:solidFill>
                  <a:srgbClr val="132D46"/>
                </a:solidFill>
                <a:latin typeface="Arial"/>
                <a:ea typeface="Arial"/>
                <a:cs typeface="Arial"/>
              </a:defRPr>
            </a:pPr>
            <a:r>
              <a:rPr sz="2025" b="0">
                <a:solidFill>
                  <a:srgbClr val="132D46"/>
                </a:solidFill>
                <a:latin typeface="Arial"/>
                <a:ea typeface="Arial"/>
                <a:cs typeface="Arial"/>
              </a:rPr>
              <a:t>50 cây / depth 16</a:t>
            </a:r>
          </a:p>
          <a:p xmlns:a="http://schemas.openxmlformats.org/drawingml/2006/main">
            <a:pPr>
              <a:defRPr sz="2025" b="0">
                <a:solidFill>
                  <a:srgbClr val="132D46"/>
                </a:solidFill>
                <a:latin typeface="Arial"/>
                <a:ea typeface="Arial"/>
                <a:cs typeface="Arial"/>
              </a:defRPr>
            </a:pPr>
            <a:r>
              <a:rPr sz="2025" b="0">
                <a:solidFill>
                  <a:srgbClr val="132D46"/>
                </a:solidFill>
                <a:latin typeface="Arial"/>
                <a:ea typeface="Arial"/>
                <a:cs typeface="Arial"/>
              </a:rPr>
              <a:t>leaf 1</a:t>
            </a:r>
          </a:p>
        </p:txBody>
      </p:sp>
      <p:sp>
        <p:nvSpPr>
          <p:cNvPr id="8" name="text">
            <a:extLst xmlns:a="http://schemas.openxmlformats.org/drawingml/2006/main">
              <a:ext uri="{FF2B5EF4-FFF2-40B4-BE49-F238E27FC236}">
                <a16:creationId xmlns:a16="http://schemas.microsoft.com/office/drawing/2014/main" id="{57C78CE4-B7EB-47DA-A122-44B65CD5BF70}"/>
              </a:ext>
            </a:extLst>
          </p:cNvPr>
          <p:cNvSpPr>
            <a:spLocks xmlns:a="http://schemas.openxmlformats.org/drawingml/2006/main" noGrp="1"/>
          </p:cNvSpPr>
          <p:nvPr/>
        </p:nvSpPr>
        <p:spPr>
          <a:xfrm xmlns:a="http://schemas.openxmlformats.org/drawingml/2006/main">
            <a:off x="609600" y="60007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16273"/>
                </a:solidFill>
                <a:latin typeface="Arial"/>
                <a:ea typeface="Arial"/>
                <a:cs typeface="Arial"/>
              </a:defRPr>
            </a:defPPr>
            <a:lvl1pPr>
              <a:defRPr sz="1575" b="0">
                <a:solidFill>
                  <a:srgbClr val="516273"/>
                </a:solidFill>
                <a:latin typeface="Arial"/>
                <a:ea typeface="Arial"/>
                <a:cs typeface="Arial"/>
              </a:defRPr>
            </a:lvl1pPr>
            <a:lvl2pPr>
              <a:defRPr sz="1575" b="0">
                <a:solidFill>
                  <a:srgbClr val="516273"/>
                </a:solidFill>
                <a:latin typeface="Arial"/>
                <a:ea typeface="Arial"/>
                <a:cs typeface="Arial"/>
              </a:defRPr>
            </a:lvl2pPr>
            <a:lvl3pPr>
              <a:defRPr sz="1575" b="0">
                <a:solidFill>
                  <a:srgbClr val="516273"/>
                </a:solidFill>
                <a:latin typeface="Arial"/>
                <a:ea typeface="Arial"/>
                <a:cs typeface="Arial"/>
              </a:defRPr>
            </a:lvl3pPr>
            <a:lvl4pPr>
              <a:defRPr sz="1575" b="0">
                <a:solidFill>
                  <a:srgbClr val="516273"/>
                </a:solidFill>
                <a:latin typeface="Arial"/>
                <a:ea typeface="Arial"/>
                <a:cs typeface="Arial"/>
              </a:defRPr>
            </a:lvl4pPr>
            <a:lvl5pPr>
              <a:defRPr sz="1575" b="0">
                <a:solidFill>
                  <a:srgbClr val="516273"/>
                </a:solidFill>
                <a:latin typeface="Arial"/>
                <a:ea typeface="Arial"/>
                <a:cs typeface="Arial"/>
              </a:defRPr>
            </a:lvl5pPr>
            <a:lvl6pPr>
              <a:defRPr sz="1575" b="0">
                <a:solidFill>
                  <a:srgbClr val="516273"/>
                </a:solidFill>
                <a:latin typeface="Arial"/>
                <a:ea typeface="Arial"/>
                <a:cs typeface="Arial"/>
              </a:defRPr>
            </a:lvl6pPr>
            <a:lvl7pPr>
              <a:defRPr sz="1575" b="0">
                <a:solidFill>
                  <a:srgbClr val="516273"/>
                </a:solidFill>
                <a:latin typeface="Arial"/>
                <a:ea typeface="Arial"/>
                <a:cs typeface="Arial"/>
              </a:defRPr>
            </a:lvl7pPr>
            <a:lvl8pPr>
              <a:defRPr sz="1575" b="0">
                <a:solidFill>
                  <a:srgbClr val="516273"/>
                </a:solidFill>
                <a:latin typeface="Arial"/>
                <a:ea typeface="Arial"/>
                <a:cs typeface="Arial"/>
              </a:defRPr>
            </a:lvl8pPr>
            <a:lvl9pPr>
              <a:defRPr sz="1575" b="0">
                <a:solidFill>
                  <a:srgbClr val="516273"/>
                </a:solidFill>
                <a:latin typeface="Arial"/>
                <a:ea typeface="Arial"/>
                <a:cs typeface="Arial"/>
              </a:defRPr>
            </a:lvl9pPr>
          </a:lstStyle>
          <a:p xmlns:a="http://schemas.openxmlformats.org/drawingml/2006/main">
            <a:pPr>
              <a:defRPr sz="1575" b="0">
                <a:solidFill>
                  <a:srgbClr val="516273"/>
                </a:solidFill>
                <a:latin typeface="Arial"/>
                <a:ea typeface="Arial"/>
                <a:cs typeface="Arial"/>
              </a:defRPr>
            </a:pPr>
            <a:r>
              <a:rPr sz="1575" b="0">
                <a:solidFill>
                  <a:srgbClr val="516273"/>
                </a:solidFill>
                <a:latin typeface="Arial"/>
                <a:ea typeface="Arial"/>
                <a:cs typeface="Arial"/>
              </a:rPr>
              <a:t>Trục AUC thu hẹp; mức cải thiện còn nhỏ.</a:t>
            </a:r>
          </a:p>
        </p:txBody>
      </p:sp>
    </p:spTree>
    <p:extLst>
      <p:ext uri="{BB962C8B-B14F-4D97-AF65-F5344CB8AC3E}">
        <p14:creationId xmlns:p14="http://schemas.microsoft.com/office/powerpoint/2010/main" val="6939221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primary-heading">
            <a:extLst xmlns:a="http://schemas.openxmlformats.org/drawingml/2006/main">
              <a:ext uri="{FF2B5EF4-FFF2-40B4-BE49-F238E27FC236}">
                <a16:creationId xmlns:a16="http://schemas.microsoft.com/office/drawing/2014/main" id="{8CB8C690-1D55-4CB1-A278-41688B7651AC}"/>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32D46"/>
                </a:solidFill>
                <a:latin typeface="Arial"/>
                <a:ea typeface="Arial"/>
                <a:cs typeface="Arial"/>
              </a:defRPr>
            </a:defPPr>
            <a:lvl1pPr>
              <a:defRPr sz="3300" b="1">
                <a:solidFill>
                  <a:srgbClr val="132D46"/>
                </a:solidFill>
                <a:latin typeface="Arial"/>
                <a:ea typeface="Arial"/>
                <a:cs typeface="Arial"/>
              </a:defRPr>
            </a:lvl1pPr>
            <a:lvl2pPr>
              <a:defRPr sz="3300" b="1">
                <a:solidFill>
                  <a:srgbClr val="132D46"/>
                </a:solidFill>
                <a:latin typeface="Arial"/>
                <a:ea typeface="Arial"/>
                <a:cs typeface="Arial"/>
              </a:defRPr>
            </a:lvl2pPr>
            <a:lvl3pPr>
              <a:defRPr sz="3300" b="1">
                <a:solidFill>
                  <a:srgbClr val="132D46"/>
                </a:solidFill>
                <a:latin typeface="Arial"/>
                <a:ea typeface="Arial"/>
                <a:cs typeface="Arial"/>
              </a:defRPr>
            </a:lvl3pPr>
            <a:lvl4pPr>
              <a:defRPr sz="3300" b="1">
                <a:solidFill>
                  <a:srgbClr val="132D46"/>
                </a:solidFill>
                <a:latin typeface="Arial"/>
                <a:ea typeface="Arial"/>
                <a:cs typeface="Arial"/>
              </a:defRPr>
            </a:lvl4pPr>
            <a:lvl5pPr>
              <a:defRPr sz="3300" b="1">
                <a:solidFill>
                  <a:srgbClr val="132D46"/>
                </a:solidFill>
                <a:latin typeface="Arial"/>
                <a:ea typeface="Arial"/>
                <a:cs typeface="Arial"/>
              </a:defRPr>
            </a:lvl5pPr>
            <a:lvl6pPr>
              <a:defRPr sz="3300" b="1">
                <a:solidFill>
                  <a:srgbClr val="132D46"/>
                </a:solidFill>
                <a:latin typeface="Arial"/>
                <a:ea typeface="Arial"/>
                <a:cs typeface="Arial"/>
              </a:defRPr>
            </a:lvl6pPr>
            <a:lvl7pPr>
              <a:defRPr sz="3300" b="1">
                <a:solidFill>
                  <a:srgbClr val="132D46"/>
                </a:solidFill>
                <a:latin typeface="Arial"/>
                <a:ea typeface="Arial"/>
                <a:cs typeface="Arial"/>
              </a:defRPr>
            </a:lvl7pPr>
            <a:lvl8pPr>
              <a:defRPr sz="3300" b="1">
                <a:solidFill>
                  <a:srgbClr val="132D46"/>
                </a:solidFill>
                <a:latin typeface="Arial"/>
                <a:ea typeface="Arial"/>
                <a:cs typeface="Arial"/>
              </a:defRPr>
            </a:lvl8pPr>
            <a:lvl9pPr>
              <a:defRPr sz="3300" b="1">
                <a:solidFill>
                  <a:srgbClr val="132D46"/>
                </a:solidFill>
                <a:latin typeface="Arial"/>
                <a:ea typeface="Arial"/>
                <a:cs typeface="Arial"/>
              </a:defRPr>
            </a:lvl9pPr>
          </a:lstStyle>
          <a:p xmlns:a="http://schemas.openxmlformats.org/drawingml/2006/main">
            <a:pPr>
              <a:defRPr sz="3300" b="1">
                <a:solidFill>
                  <a:srgbClr val="132D46"/>
                </a:solidFill>
                <a:latin typeface="Arial"/>
                <a:ea typeface="Arial"/>
                <a:cs typeface="Arial"/>
              </a:defRPr>
            </a:pPr>
            <a:r>
              <a:rPr sz="3300" b="1">
                <a:solidFill>
                  <a:srgbClr val="132D46"/>
                </a:solidFill>
                <a:latin typeface="Arial"/>
                <a:ea typeface="Arial"/>
                <a:cs typeface="Arial"/>
              </a:rPr>
              <a:t>AUC và chi phí tìm kiếm</a:t>
            </a:r>
          </a:p>
        </p:txBody>
      </p:sp>
      <p:sp>
        <p:nvSpPr>
          <p:cNvPr id="2" name="text">
            <a:extLst xmlns:a="http://schemas.openxmlformats.org/drawingml/2006/main">
              <a:ext uri="{FF2B5EF4-FFF2-40B4-BE49-F238E27FC236}">
                <a16:creationId xmlns:a16="http://schemas.microsoft.com/office/drawing/2014/main" id="{1E07A4F2-C336-4509-A496-FAA414617167}"/>
              </a:ext>
            </a:extLst>
          </p:cNvPr>
          <p:cNvSpPr>
            <a:spLocks xmlns:a="http://schemas.openxmlformats.org/drawingml/2006/main" noGrp="1"/>
          </p:cNvSpPr>
          <p:nvPr/>
        </p:nvSpPr>
        <p:spPr>
          <a:xfrm xmlns:a="http://schemas.openxmlformats.org/drawingml/2006/main">
            <a:off x="609600" y="6410325"/>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273"/>
                </a:solidFill>
                <a:latin typeface="Arial"/>
                <a:ea typeface="Arial"/>
                <a:cs typeface="Arial"/>
              </a:defRPr>
            </a:defPPr>
            <a:lvl1pPr>
              <a:defRPr sz="1200" b="0">
                <a:solidFill>
                  <a:srgbClr val="516273"/>
                </a:solidFill>
                <a:latin typeface="Arial"/>
                <a:ea typeface="Arial"/>
                <a:cs typeface="Arial"/>
              </a:defRPr>
            </a:lvl1pPr>
            <a:lvl2pPr>
              <a:defRPr sz="1200" b="0">
                <a:solidFill>
                  <a:srgbClr val="516273"/>
                </a:solidFill>
                <a:latin typeface="Arial"/>
                <a:ea typeface="Arial"/>
                <a:cs typeface="Arial"/>
              </a:defRPr>
            </a:lvl2pPr>
            <a:lvl3pPr>
              <a:defRPr sz="1200" b="0">
                <a:solidFill>
                  <a:srgbClr val="516273"/>
                </a:solidFill>
                <a:latin typeface="Arial"/>
                <a:ea typeface="Arial"/>
                <a:cs typeface="Arial"/>
              </a:defRPr>
            </a:lvl3pPr>
            <a:lvl4pPr>
              <a:defRPr sz="1200" b="0">
                <a:solidFill>
                  <a:srgbClr val="516273"/>
                </a:solidFill>
                <a:latin typeface="Arial"/>
                <a:ea typeface="Arial"/>
                <a:cs typeface="Arial"/>
              </a:defRPr>
            </a:lvl4pPr>
            <a:lvl5pPr>
              <a:defRPr sz="1200" b="0">
                <a:solidFill>
                  <a:srgbClr val="516273"/>
                </a:solidFill>
                <a:latin typeface="Arial"/>
                <a:ea typeface="Arial"/>
                <a:cs typeface="Arial"/>
              </a:defRPr>
            </a:lvl5pPr>
            <a:lvl6pPr>
              <a:defRPr sz="1200" b="0">
                <a:solidFill>
                  <a:srgbClr val="516273"/>
                </a:solidFill>
                <a:latin typeface="Arial"/>
                <a:ea typeface="Arial"/>
                <a:cs typeface="Arial"/>
              </a:defRPr>
            </a:lvl6pPr>
            <a:lvl7pPr>
              <a:defRPr sz="1200" b="0">
                <a:solidFill>
                  <a:srgbClr val="516273"/>
                </a:solidFill>
                <a:latin typeface="Arial"/>
                <a:ea typeface="Arial"/>
                <a:cs typeface="Arial"/>
              </a:defRPr>
            </a:lvl7pPr>
            <a:lvl8pPr>
              <a:defRPr sz="1200" b="0">
                <a:solidFill>
                  <a:srgbClr val="516273"/>
                </a:solidFill>
                <a:latin typeface="Arial"/>
                <a:ea typeface="Arial"/>
                <a:cs typeface="Arial"/>
              </a:defRPr>
            </a:lvl8pPr>
            <a:lvl9pPr>
              <a:defRPr sz="1200" b="0">
                <a:solidFill>
                  <a:srgbClr val="516273"/>
                </a:solidFill>
                <a:latin typeface="Arial"/>
                <a:ea typeface="Arial"/>
                <a:cs typeface="Arial"/>
              </a:defRPr>
            </a:lvl9pPr>
          </a:lstStyle>
          <a:p xmlns:a="http://schemas.openxmlformats.org/drawingml/2006/main">
            <a:pPr>
              <a:defRPr sz="1200" b="0">
                <a:solidFill>
                  <a:srgbClr val="516273"/>
                </a:solidFill>
                <a:latin typeface="Arial"/>
                <a:ea typeface="Arial"/>
                <a:cs typeface="Arial"/>
              </a:defRPr>
            </a:pPr>
            <a:r>
              <a:rPr sz="1200" b="0">
                <a:solidFill>
                  <a:srgbClr val="516273"/>
                </a:solidFill>
                <a:latin typeface="Arial"/>
                <a:ea typeface="Arial"/>
                <a:cs typeface="Arial"/>
              </a:rPr>
              <a:t>NHẬP MÔN TỐI ƯU HÓA   •   RANDOM FOREST VÀ OPTUNA</a:t>
            </a:r>
          </a:p>
        </p:txBody>
      </p:sp>
      <p:sp>
        <p:nvSpPr>
          <p:cNvPr id="3" name="text">
            <a:extLst xmlns:a="http://schemas.openxmlformats.org/drawingml/2006/main">
              <a:ext uri="{FF2B5EF4-FFF2-40B4-BE49-F238E27FC236}">
                <a16:creationId xmlns:a16="http://schemas.microsoft.com/office/drawing/2014/main" id="{6B7B8FCC-9A73-44F7-8888-9D5C27AC9AB0}"/>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16273"/>
                </a:solidFill>
                <a:latin typeface="Arial"/>
                <a:ea typeface="Arial"/>
                <a:cs typeface="Arial"/>
              </a:defRPr>
            </a:defPPr>
            <a:lvl1pPr>
              <a:defRPr sz="1350" b="0">
                <a:solidFill>
                  <a:srgbClr val="516273"/>
                </a:solidFill>
                <a:latin typeface="Arial"/>
                <a:ea typeface="Arial"/>
                <a:cs typeface="Arial"/>
              </a:defRPr>
            </a:lvl1pPr>
            <a:lvl2pPr>
              <a:defRPr sz="1350" b="0">
                <a:solidFill>
                  <a:srgbClr val="516273"/>
                </a:solidFill>
                <a:latin typeface="Arial"/>
                <a:ea typeface="Arial"/>
                <a:cs typeface="Arial"/>
              </a:defRPr>
            </a:lvl2pPr>
            <a:lvl3pPr>
              <a:defRPr sz="1350" b="0">
                <a:solidFill>
                  <a:srgbClr val="516273"/>
                </a:solidFill>
                <a:latin typeface="Arial"/>
                <a:ea typeface="Arial"/>
                <a:cs typeface="Arial"/>
              </a:defRPr>
            </a:lvl3pPr>
            <a:lvl4pPr>
              <a:defRPr sz="1350" b="0">
                <a:solidFill>
                  <a:srgbClr val="516273"/>
                </a:solidFill>
                <a:latin typeface="Arial"/>
                <a:ea typeface="Arial"/>
                <a:cs typeface="Arial"/>
              </a:defRPr>
            </a:lvl4pPr>
            <a:lvl5pPr>
              <a:defRPr sz="1350" b="0">
                <a:solidFill>
                  <a:srgbClr val="516273"/>
                </a:solidFill>
                <a:latin typeface="Arial"/>
                <a:ea typeface="Arial"/>
                <a:cs typeface="Arial"/>
              </a:defRPr>
            </a:lvl5pPr>
            <a:lvl6pPr>
              <a:defRPr sz="1350" b="0">
                <a:solidFill>
                  <a:srgbClr val="516273"/>
                </a:solidFill>
                <a:latin typeface="Arial"/>
                <a:ea typeface="Arial"/>
                <a:cs typeface="Arial"/>
              </a:defRPr>
            </a:lvl6pPr>
            <a:lvl7pPr>
              <a:defRPr sz="1350" b="0">
                <a:solidFill>
                  <a:srgbClr val="516273"/>
                </a:solidFill>
                <a:latin typeface="Arial"/>
                <a:ea typeface="Arial"/>
                <a:cs typeface="Arial"/>
              </a:defRPr>
            </a:lvl7pPr>
            <a:lvl8pPr>
              <a:defRPr sz="1350" b="0">
                <a:solidFill>
                  <a:srgbClr val="516273"/>
                </a:solidFill>
                <a:latin typeface="Arial"/>
                <a:ea typeface="Arial"/>
                <a:cs typeface="Arial"/>
              </a:defRPr>
            </a:lvl8pPr>
            <a:lvl9pPr>
              <a:defRPr sz="1350" b="0">
                <a:solidFill>
                  <a:srgbClr val="516273"/>
                </a:solidFill>
                <a:latin typeface="Arial"/>
                <a:ea typeface="Arial"/>
                <a:cs typeface="Arial"/>
              </a:defRPr>
            </a:lvl9pPr>
          </a:lstStyle>
          <a:p xmlns:a="http://schemas.openxmlformats.org/drawingml/2006/main">
            <a:pPr>
              <a:defRPr sz="1350" b="0">
                <a:solidFill>
                  <a:srgbClr val="516273"/>
                </a:solidFill>
                <a:latin typeface="Arial"/>
                <a:ea typeface="Arial"/>
                <a:cs typeface="Arial"/>
              </a:defRPr>
            </a:pPr>
            <a:r>
              <a:rPr sz="1350" b="0">
                <a:solidFill>
                  <a:srgbClr val="516273"/>
                </a:solidFill>
                <a:latin typeface="Arial"/>
                <a:ea typeface="Arial"/>
                <a:cs typeface="Arial"/>
              </a:rPr>
              <a:t>06</a:t>
            </a:r>
          </a:p>
        </p:txBody>
      </p:sp>
      <p:graphicFrame>
        <p:nvGraphicFramePr>
          <p:cNvPr id="4" name="Chart">
            <a:extLst xmlns:a="http://schemas.openxmlformats.org/drawingml/2006/main">
              <a:ext uri="{FF2B5EF4-FFF2-40B4-BE49-F238E27FC236}">
                <a16:creationId xmlns:a16="http://schemas.microsoft.com/office/drawing/2014/main" id="{D80CD8FF-DE0B-4916-822F-888B98017D93}"/>
              </a:ext>
            </a:extLst>
          </p:cNvPr>
          <p:cNvGraphicFramePr/>
          <p:nvPr/>
        </p:nvGraphicFramePr>
        <p:xfrm>
          <a:off xmlns:a="http://schemas.openxmlformats.org/drawingml/2006/main" x="609600" y="1657350"/>
          <a:ext xmlns:a="http://schemas.openxmlformats.org/drawingml/2006/main" cx="8096250" cy="4276725"/>
        </p:xfrm>
        <a:graphic xmlns:a="http://schemas.openxmlformats.org/drawingml/2006/main">
          <a:graphicData uri="http://schemas.openxmlformats.org/drawingml/2006/chart">
            <c:chart xmlns:r="http://schemas.openxmlformats.org/officeDocument/2006/relationships" xmlns:c="http://schemas.openxmlformats.org/drawingml/2006/chart" r:id="R8e3366289a334e11"/>
          </a:graphicData>
        </a:graphic>
      </p:graphicFrame>
      <p:sp>
        <p:nvSpPr>
          <p:cNvPr id="5" name="text">
            <a:extLst xmlns:a="http://schemas.openxmlformats.org/drawingml/2006/main">
              <a:ext uri="{FF2B5EF4-FFF2-40B4-BE49-F238E27FC236}">
                <a16:creationId xmlns:a16="http://schemas.microsoft.com/office/drawing/2014/main" id="{B7CEE9D9-325B-4ADE-B165-FA27045C6421}"/>
              </a:ext>
            </a:extLst>
          </p:cNvPr>
          <p:cNvSpPr>
            <a:spLocks xmlns:a="http://schemas.openxmlformats.org/drawingml/2006/main" noGrp="1"/>
          </p:cNvSpPr>
          <p:nvPr/>
        </p:nvSpPr>
        <p:spPr>
          <a:xfrm xmlns:a="http://schemas.openxmlformats.org/drawingml/2006/main">
            <a:off x="9010650" y="196215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87E8B"/>
                </a:solidFill>
                <a:latin typeface="Arial"/>
                <a:ea typeface="Arial"/>
                <a:cs typeface="Arial"/>
              </a:defRPr>
            </a:defPPr>
            <a:lvl1pPr>
              <a:defRPr sz="3300" b="1">
                <a:solidFill>
                  <a:srgbClr val="087E8B"/>
                </a:solidFill>
                <a:latin typeface="Arial"/>
                <a:ea typeface="Arial"/>
                <a:cs typeface="Arial"/>
              </a:defRPr>
            </a:lvl1pPr>
            <a:lvl2pPr>
              <a:defRPr sz="3300" b="1">
                <a:solidFill>
                  <a:srgbClr val="087E8B"/>
                </a:solidFill>
                <a:latin typeface="Arial"/>
                <a:ea typeface="Arial"/>
                <a:cs typeface="Arial"/>
              </a:defRPr>
            </a:lvl2pPr>
            <a:lvl3pPr>
              <a:defRPr sz="3300" b="1">
                <a:solidFill>
                  <a:srgbClr val="087E8B"/>
                </a:solidFill>
                <a:latin typeface="Arial"/>
                <a:ea typeface="Arial"/>
                <a:cs typeface="Arial"/>
              </a:defRPr>
            </a:lvl3pPr>
            <a:lvl4pPr>
              <a:defRPr sz="3300" b="1">
                <a:solidFill>
                  <a:srgbClr val="087E8B"/>
                </a:solidFill>
                <a:latin typeface="Arial"/>
                <a:ea typeface="Arial"/>
                <a:cs typeface="Arial"/>
              </a:defRPr>
            </a:lvl4pPr>
            <a:lvl5pPr>
              <a:defRPr sz="3300" b="1">
                <a:solidFill>
                  <a:srgbClr val="087E8B"/>
                </a:solidFill>
                <a:latin typeface="Arial"/>
                <a:ea typeface="Arial"/>
                <a:cs typeface="Arial"/>
              </a:defRPr>
            </a:lvl5pPr>
            <a:lvl6pPr>
              <a:defRPr sz="3300" b="1">
                <a:solidFill>
                  <a:srgbClr val="087E8B"/>
                </a:solidFill>
                <a:latin typeface="Arial"/>
                <a:ea typeface="Arial"/>
                <a:cs typeface="Arial"/>
              </a:defRPr>
            </a:lvl6pPr>
            <a:lvl7pPr>
              <a:defRPr sz="3300" b="1">
                <a:solidFill>
                  <a:srgbClr val="087E8B"/>
                </a:solidFill>
                <a:latin typeface="Arial"/>
                <a:ea typeface="Arial"/>
                <a:cs typeface="Arial"/>
              </a:defRPr>
            </a:lvl7pPr>
            <a:lvl8pPr>
              <a:defRPr sz="3300" b="1">
                <a:solidFill>
                  <a:srgbClr val="087E8B"/>
                </a:solidFill>
                <a:latin typeface="Arial"/>
                <a:ea typeface="Arial"/>
                <a:cs typeface="Arial"/>
              </a:defRPr>
            </a:lvl8pPr>
            <a:lvl9pPr>
              <a:defRPr sz="3300" b="1">
                <a:solidFill>
                  <a:srgbClr val="087E8B"/>
                </a:solidFill>
                <a:latin typeface="Arial"/>
                <a:ea typeface="Arial"/>
                <a:cs typeface="Arial"/>
              </a:defRPr>
            </a:lvl9pPr>
          </a:lstStyle>
          <a:p xmlns:a="http://schemas.openxmlformats.org/drawingml/2006/main">
            <a:pPr>
              <a:defRPr sz="3300" b="1">
                <a:solidFill>
                  <a:srgbClr val="087E8B"/>
                </a:solidFill>
                <a:latin typeface="Arial"/>
                <a:ea typeface="Arial"/>
                <a:cs typeface="Arial"/>
              </a:defRPr>
            </a:pPr>
            <a:r>
              <a:rPr sz="3300" b="1">
                <a:solidFill>
                  <a:srgbClr val="087E8B"/>
                </a:solidFill>
                <a:latin typeface="Arial"/>
                <a:ea typeface="Arial"/>
                <a:cs typeface="Arial"/>
              </a:rPr>
              <a:t>24.978 s</a:t>
            </a:r>
          </a:p>
        </p:txBody>
      </p:sp>
      <p:sp>
        <p:nvSpPr>
          <p:cNvPr id="6" name="text">
            <a:extLst xmlns:a="http://schemas.openxmlformats.org/drawingml/2006/main">
              <a:ext uri="{FF2B5EF4-FFF2-40B4-BE49-F238E27FC236}">
                <a16:creationId xmlns:a16="http://schemas.microsoft.com/office/drawing/2014/main" id="{80317149-8DD8-4595-9825-A1B8E56EB2E9}"/>
              </a:ext>
            </a:extLst>
          </p:cNvPr>
          <p:cNvSpPr>
            <a:spLocks xmlns:a="http://schemas.openxmlformats.org/drawingml/2006/main" noGrp="1"/>
          </p:cNvSpPr>
          <p:nvPr/>
        </p:nvSpPr>
        <p:spPr>
          <a:xfrm xmlns:a="http://schemas.openxmlformats.org/drawingml/2006/main">
            <a:off x="9010650" y="2771775"/>
            <a:ext cx="257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32D46"/>
                </a:solidFill>
                <a:latin typeface="Arial"/>
                <a:ea typeface="Arial"/>
                <a:cs typeface="Arial"/>
              </a:defRPr>
            </a:defPPr>
            <a:lvl1pPr>
              <a:defRPr sz="2025" b="0">
                <a:solidFill>
                  <a:srgbClr val="132D46"/>
                </a:solidFill>
                <a:latin typeface="Arial"/>
                <a:ea typeface="Arial"/>
                <a:cs typeface="Arial"/>
              </a:defRPr>
            </a:lvl1pPr>
            <a:lvl2pPr>
              <a:defRPr sz="2025" b="0">
                <a:solidFill>
                  <a:srgbClr val="132D46"/>
                </a:solidFill>
                <a:latin typeface="Arial"/>
                <a:ea typeface="Arial"/>
                <a:cs typeface="Arial"/>
              </a:defRPr>
            </a:lvl2pPr>
            <a:lvl3pPr>
              <a:defRPr sz="2025" b="0">
                <a:solidFill>
                  <a:srgbClr val="132D46"/>
                </a:solidFill>
                <a:latin typeface="Arial"/>
                <a:ea typeface="Arial"/>
                <a:cs typeface="Arial"/>
              </a:defRPr>
            </a:lvl3pPr>
            <a:lvl4pPr>
              <a:defRPr sz="2025" b="0">
                <a:solidFill>
                  <a:srgbClr val="132D46"/>
                </a:solidFill>
                <a:latin typeface="Arial"/>
                <a:ea typeface="Arial"/>
                <a:cs typeface="Arial"/>
              </a:defRPr>
            </a:lvl4pPr>
            <a:lvl5pPr>
              <a:defRPr sz="2025" b="0">
                <a:solidFill>
                  <a:srgbClr val="132D46"/>
                </a:solidFill>
                <a:latin typeface="Arial"/>
                <a:ea typeface="Arial"/>
                <a:cs typeface="Arial"/>
              </a:defRPr>
            </a:lvl5pPr>
            <a:lvl6pPr>
              <a:defRPr sz="2025" b="0">
                <a:solidFill>
                  <a:srgbClr val="132D46"/>
                </a:solidFill>
                <a:latin typeface="Arial"/>
                <a:ea typeface="Arial"/>
                <a:cs typeface="Arial"/>
              </a:defRPr>
            </a:lvl6pPr>
            <a:lvl7pPr>
              <a:defRPr sz="2025" b="0">
                <a:solidFill>
                  <a:srgbClr val="132D46"/>
                </a:solidFill>
                <a:latin typeface="Arial"/>
                <a:ea typeface="Arial"/>
                <a:cs typeface="Arial"/>
              </a:defRPr>
            </a:lvl7pPr>
            <a:lvl8pPr>
              <a:defRPr sz="2025" b="0">
                <a:solidFill>
                  <a:srgbClr val="132D46"/>
                </a:solidFill>
                <a:latin typeface="Arial"/>
                <a:ea typeface="Arial"/>
                <a:cs typeface="Arial"/>
              </a:defRPr>
            </a:lvl8pPr>
            <a:lvl9pPr>
              <a:defRPr sz="2025" b="0">
                <a:solidFill>
                  <a:srgbClr val="132D46"/>
                </a:solidFill>
                <a:latin typeface="Arial"/>
                <a:ea typeface="Arial"/>
                <a:cs typeface="Arial"/>
              </a:defRPr>
            </a:lvl9pPr>
          </a:lstStyle>
          <a:p xmlns:a="http://schemas.openxmlformats.org/drawingml/2006/main">
            <a:pPr>
              <a:defRPr sz="2025" b="0">
                <a:solidFill>
                  <a:srgbClr val="132D46"/>
                </a:solidFill>
                <a:latin typeface="Arial"/>
                <a:ea typeface="Arial"/>
                <a:cs typeface="Arial"/>
              </a:defRPr>
            </a:pPr>
            <a:r>
              <a:rPr sz="2025" b="0">
                <a:solidFill>
                  <a:srgbClr val="132D46"/>
                </a:solidFill>
                <a:latin typeface="Arial"/>
                <a:ea typeface="Arial"/>
                <a:cs typeface="Arial"/>
              </a:rPr>
              <a:t>Chi phí search</a:t>
            </a:r>
          </a:p>
          <a:p xmlns:a="http://schemas.openxmlformats.org/drawingml/2006/main">
            <a:pPr>
              <a:defRPr sz="2025" b="0">
                <a:solidFill>
                  <a:srgbClr val="132D46"/>
                </a:solidFill>
                <a:latin typeface="Arial"/>
                <a:ea typeface="Arial"/>
                <a:cs typeface="Arial"/>
              </a:defRPr>
            </a:pPr>
            <a:r>
              <a:rPr sz="2025" b="0">
                <a:solidFill>
                  <a:srgbClr val="132D46"/>
                </a:solidFill>
                <a:latin typeface="Arial"/>
                <a:ea typeface="Arial"/>
                <a:cs typeface="Arial"/>
              </a:rPr>
              <a:t>tăng thêm</a:t>
            </a:r>
          </a:p>
        </p:txBody>
      </p:sp>
      <p:sp>
        <p:nvSpPr>
          <p:cNvPr id="7" name="text">
            <a:extLst xmlns:a="http://schemas.openxmlformats.org/drawingml/2006/main">
              <a:ext uri="{FF2B5EF4-FFF2-40B4-BE49-F238E27FC236}">
                <a16:creationId xmlns:a16="http://schemas.microsoft.com/office/drawing/2014/main" id="{3AAF348A-7B75-438B-A549-592756629E62}"/>
              </a:ext>
            </a:extLst>
          </p:cNvPr>
          <p:cNvSpPr>
            <a:spLocks xmlns:a="http://schemas.openxmlformats.org/drawingml/2006/main" noGrp="1"/>
          </p:cNvSpPr>
          <p:nvPr/>
        </p:nvSpPr>
        <p:spPr>
          <a:xfrm xmlns:a="http://schemas.openxmlformats.org/drawingml/2006/main">
            <a:off x="9010650" y="4029075"/>
            <a:ext cx="2571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32D46"/>
                </a:solidFill>
                <a:latin typeface="Arial"/>
                <a:ea typeface="Arial"/>
                <a:cs typeface="Arial"/>
              </a:defRPr>
            </a:defPPr>
            <a:lvl1pPr>
              <a:defRPr sz="1950" b="0">
                <a:solidFill>
                  <a:srgbClr val="132D46"/>
                </a:solidFill>
                <a:latin typeface="Arial"/>
                <a:ea typeface="Arial"/>
                <a:cs typeface="Arial"/>
              </a:defRPr>
            </a:lvl1pPr>
            <a:lvl2pPr>
              <a:defRPr sz="1950" b="0">
                <a:solidFill>
                  <a:srgbClr val="132D46"/>
                </a:solidFill>
                <a:latin typeface="Arial"/>
                <a:ea typeface="Arial"/>
                <a:cs typeface="Arial"/>
              </a:defRPr>
            </a:lvl2pPr>
            <a:lvl3pPr>
              <a:defRPr sz="1950" b="0">
                <a:solidFill>
                  <a:srgbClr val="132D46"/>
                </a:solidFill>
                <a:latin typeface="Arial"/>
                <a:ea typeface="Arial"/>
                <a:cs typeface="Arial"/>
              </a:defRPr>
            </a:lvl3pPr>
            <a:lvl4pPr>
              <a:defRPr sz="1950" b="0">
                <a:solidFill>
                  <a:srgbClr val="132D46"/>
                </a:solidFill>
                <a:latin typeface="Arial"/>
                <a:ea typeface="Arial"/>
                <a:cs typeface="Arial"/>
              </a:defRPr>
            </a:lvl4pPr>
            <a:lvl5pPr>
              <a:defRPr sz="1950" b="0">
                <a:solidFill>
                  <a:srgbClr val="132D46"/>
                </a:solidFill>
                <a:latin typeface="Arial"/>
                <a:ea typeface="Arial"/>
                <a:cs typeface="Arial"/>
              </a:defRPr>
            </a:lvl5pPr>
            <a:lvl6pPr>
              <a:defRPr sz="1950" b="0">
                <a:solidFill>
                  <a:srgbClr val="132D46"/>
                </a:solidFill>
                <a:latin typeface="Arial"/>
                <a:ea typeface="Arial"/>
                <a:cs typeface="Arial"/>
              </a:defRPr>
            </a:lvl6pPr>
            <a:lvl7pPr>
              <a:defRPr sz="1950" b="0">
                <a:solidFill>
                  <a:srgbClr val="132D46"/>
                </a:solidFill>
                <a:latin typeface="Arial"/>
                <a:ea typeface="Arial"/>
                <a:cs typeface="Arial"/>
              </a:defRPr>
            </a:lvl7pPr>
            <a:lvl8pPr>
              <a:defRPr sz="1950" b="0">
                <a:solidFill>
                  <a:srgbClr val="132D46"/>
                </a:solidFill>
                <a:latin typeface="Arial"/>
                <a:ea typeface="Arial"/>
                <a:cs typeface="Arial"/>
              </a:defRPr>
            </a:lvl8pPr>
            <a:lvl9pPr>
              <a:defRPr sz="1950" b="0">
                <a:solidFill>
                  <a:srgbClr val="132D46"/>
                </a:solidFill>
                <a:latin typeface="Arial"/>
                <a:ea typeface="Arial"/>
                <a:cs typeface="Arial"/>
              </a:defRPr>
            </a:lvl9pPr>
          </a:lstStyle>
          <a:p xmlns:a="http://schemas.openxmlformats.org/drawingml/2006/main">
            <a:pPr>
              <a:defRPr sz="1950" b="0">
                <a:solidFill>
                  <a:srgbClr val="132D46"/>
                </a:solidFill>
                <a:latin typeface="Arial"/>
                <a:ea typeface="Arial"/>
                <a:cs typeface="Arial"/>
              </a:defRPr>
            </a:pPr>
            <a:r>
              <a:rPr sz="1950" b="0">
                <a:solidFill>
                  <a:srgbClr val="132D46"/>
                </a:solidFill>
                <a:latin typeface="Arial"/>
                <a:ea typeface="Arial"/>
                <a:cs typeface="Arial"/>
              </a:rPr>
              <a:t>Baseline CV</a:t>
            </a:r>
          </a:p>
          <a:p xmlns:a="http://schemas.openxmlformats.org/drawingml/2006/main">
            <a:pPr>
              <a:defRPr sz="1950" b="0">
                <a:solidFill>
                  <a:srgbClr val="132D46"/>
                </a:solidFill>
                <a:latin typeface="Arial"/>
                <a:ea typeface="Arial"/>
                <a:cs typeface="Arial"/>
              </a:defRPr>
            </a:pPr>
            <a:r>
              <a:rPr sz="1950" b="0">
                <a:solidFill>
                  <a:srgbClr val="132D46"/>
                </a:solidFill>
                <a:latin typeface="Arial"/>
                <a:ea typeface="Arial"/>
                <a:cs typeface="Arial"/>
              </a:rPr>
              <a:t>0.716 giây</a:t>
            </a:r>
          </a:p>
          <a:p xmlns:a="http://schemas.openxmlformats.org/drawingml/2006/main">
            <a:r>
              <a:t/>
            </a:r>
          </a:p>
          <a:p xmlns:a="http://schemas.openxmlformats.org/drawingml/2006/main">
            <a:pPr>
              <a:defRPr sz="1950" b="0">
                <a:solidFill>
                  <a:srgbClr val="132D46"/>
                </a:solidFill>
                <a:latin typeface="Arial"/>
                <a:ea typeface="Arial"/>
                <a:cs typeface="Arial"/>
              </a:defRPr>
            </a:pPr>
            <a:r>
              <a:rPr sz="1950" b="0">
                <a:solidFill>
                  <a:srgbClr val="132D46"/>
                </a:solidFill>
                <a:latin typeface="Arial"/>
                <a:ea typeface="Arial"/>
                <a:cs typeface="Arial"/>
              </a:rPr>
              <a:t>30 trials COMPLETE</a:t>
            </a:r>
          </a:p>
        </p:txBody>
      </p:sp>
      <p:sp>
        <p:nvSpPr>
          <p:cNvPr id="8" name="text">
            <a:extLst xmlns:a="http://schemas.openxmlformats.org/drawingml/2006/main">
              <a:ext uri="{FF2B5EF4-FFF2-40B4-BE49-F238E27FC236}">
                <a16:creationId xmlns:a16="http://schemas.microsoft.com/office/drawing/2014/main" id="{E6B3EA5C-EC9D-47B1-B4A5-D2DAEA2C9014}"/>
              </a:ext>
            </a:extLst>
          </p:cNvPr>
          <p:cNvSpPr>
            <a:spLocks xmlns:a="http://schemas.openxmlformats.org/drawingml/2006/main" noGrp="1"/>
          </p:cNvSpPr>
          <p:nvPr/>
        </p:nvSpPr>
        <p:spPr>
          <a:xfrm xmlns:a="http://schemas.openxmlformats.org/drawingml/2006/main">
            <a:off x="609600" y="60007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16273"/>
                </a:solidFill>
                <a:latin typeface="Arial"/>
                <a:ea typeface="Arial"/>
                <a:cs typeface="Arial"/>
              </a:defRPr>
            </a:defPPr>
            <a:lvl1pPr>
              <a:defRPr sz="1575" b="0">
                <a:solidFill>
                  <a:srgbClr val="516273"/>
                </a:solidFill>
                <a:latin typeface="Arial"/>
                <a:ea typeface="Arial"/>
                <a:cs typeface="Arial"/>
              </a:defRPr>
            </a:lvl1pPr>
            <a:lvl2pPr>
              <a:defRPr sz="1575" b="0">
                <a:solidFill>
                  <a:srgbClr val="516273"/>
                </a:solidFill>
                <a:latin typeface="Arial"/>
                <a:ea typeface="Arial"/>
                <a:cs typeface="Arial"/>
              </a:defRPr>
            </a:lvl2pPr>
            <a:lvl3pPr>
              <a:defRPr sz="1575" b="0">
                <a:solidFill>
                  <a:srgbClr val="516273"/>
                </a:solidFill>
                <a:latin typeface="Arial"/>
                <a:ea typeface="Arial"/>
                <a:cs typeface="Arial"/>
              </a:defRPr>
            </a:lvl3pPr>
            <a:lvl4pPr>
              <a:defRPr sz="1575" b="0">
                <a:solidFill>
                  <a:srgbClr val="516273"/>
                </a:solidFill>
                <a:latin typeface="Arial"/>
                <a:ea typeface="Arial"/>
                <a:cs typeface="Arial"/>
              </a:defRPr>
            </a:lvl4pPr>
            <a:lvl5pPr>
              <a:defRPr sz="1575" b="0">
                <a:solidFill>
                  <a:srgbClr val="516273"/>
                </a:solidFill>
                <a:latin typeface="Arial"/>
                <a:ea typeface="Arial"/>
                <a:cs typeface="Arial"/>
              </a:defRPr>
            </a:lvl5pPr>
            <a:lvl6pPr>
              <a:defRPr sz="1575" b="0">
                <a:solidFill>
                  <a:srgbClr val="516273"/>
                </a:solidFill>
                <a:latin typeface="Arial"/>
                <a:ea typeface="Arial"/>
                <a:cs typeface="Arial"/>
              </a:defRPr>
            </a:lvl6pPr>
            <a:lvl7pPr>
              <a:defRPr sz="1575" b="0">
                <a:solidFill>
                  <a:srgbClr val="516273"/>
                </a:solidFill>
                <a:latin typeface="Arial"/>
                <a:ea typeface="Arial"/>
                <a:cs typeface="Arial"/>
              </a:defRPr>
            </a:lvl7pPr>
            <a:lvl8pPr>
              <a:defRPr sz="1575" b="0">
                <a:solidFill>
                  <a:srgbClr val="516273"/>
                </a:solidFill>
                <a:latin typeface="Arial"/>
                <a:ea typeface="Arial"/>
                <a:cs typeface="Arial"/>
              </a:defRPr>
            </a:lvl8pPr>
            <a:lvl9pPr>
              <a:defRPr sz="1575" b="0">
                <a:solidFill>
                  <a:srgbClr val="516273"/>
                </a:solidFill>
                <a:latin typeface="Arial"/>
                <a:ea typeface="Arial"/>
                <a:cs typeface="Arial"/>
              </a:defRPr>
            </a:lvl9pPr>
          </a:lstStyle>
          <a:p xmlns:a="http://schemas.openxmlformats.org/drawingml/2006/main">
            <a:pPr>
              <a:defRPr sz="1575" b="0">
                <a:solidFill>
                  <a:srgbClr val="516273"/>
                </a:solidFill>
                <a:latin typeface="Arial"/>
                <a:ea typeface="Arial"/>
                <a:cs typeface="Arial"/>
              </a:defRPr>
            </a:pPr>
            <a:r>
              <a:rPr sz="1575" b="0">
                <a:solidFill>
                  <a:srgbClr val="516273"/>
                </a:solidFill>
                <a:latin typeface="Arial"/>
                <a:ea typeface="Arial"/>
                <a:cs typeface="Arial"/>
              </a:rPr>
              <a:t>Thời gian dài hơn không bảo đảm AUC cao hơn; timing chỉ đo một lần.</a:t>
            </a:r>
          </a:p>
        </p:txBody>
      </p:sp>
    </p:spTree>
    <p:extLst>
      <p:ext uri="{BB962C8B-B14F-4D97-AF65-F5344CB8AC3E}">
        <p14:creationId xmlns:p14="http://schemas.microsoft.com/office/powerpoint/2010/main" val="125922167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primary-heading">
            <a:extLst xmlns:a="http://schemas.openxmlformats.org/drawingml/2006/main">
              <a:ext uri="{FF2B5EF4-FFF2-40B4-BE49-F238E27FC236}">
                <a16:creationId xmlns:a16="http://schemas.microsoft.com/office/drawing/2014/main" id="{20D0B530-D5F6-4082-9808-3F74B708ED83}"/>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32D46"/>
                </a:solidFill>
                <a:latin typeface="Arial"/>
                <a:ea typeface="Arial"/>
                <a:cs typeface="Arial"/>
              </a:defRPr>
            </a:defPPr>
            <a:lvl1pPr>
              <a:defRPr sz="3300" b="1">
                <a:solidFill>
                  <a:srgbClr val="132D46"/>
                </a:solidFill>
                <a:latin typeface="Arial"/>
                <a:ea typeface="Arial"/>
                <a:cs typeface="Arial"/>
              </a:defRPr>
            </a:lvl1pPr>
            <a:lvl2pPr>
              <a:defRPr sz="3300" b="1">
                <a:solidFill>
                  <a:srgbClr val="132D46"/>
                </a:solidFill>
                <a:latin typeface="Arial"/>
                <a:ea typeface="Arial"/>
                <a:cs typeface="Arial"/>
              </a:defRPr>
            </a:lvl2pPr>
            <a:lvl3pPr>
              <a:defRPr sz="3300" b="1">
                <a:solidFill>
                  <a:srgbClr val="132D46"/>
                </a:solidFill>
                <a:latin typeface="Arial"/>
                <a:ea typeface="Arial"/>
                <a:cs typeface="Arial"/>
              </a:defRPr>
            </a:lvl3pPr>
            <a:lvl4pPr>
              <a:defRPr sz="3300" b="1">
                <a:solidFill>
                  <a:srgbClr val="132D46"/>
                </a:solidFill>
                <a:latin typeface="Arial"/>
                <a:ea typeface="Arial"/>
                <a:cs typeface="Arial"/>
              </a:defRPr>
            </a:lvl4pPr>
            <a:lvl5pPr>
              <a:defRPr sz="3300" b="1">
                <a:solidFill>
                  <a:srgbClr val="132D46"/>
                </a:solidFill>
                <a:latin typeface="Arial"/>
                <a:ea typeface="Arial"/>
                <a:cs typeface="Arial"/>
              </a:defRPr>
            </a:lvl5pPr>
            <a:lvl6pPr>
              <a:defRPr sz="3300" b="1">
                <a:solidFill>
                  <a:srgbClr val="132D46"/>
                </a:solidFill>
                <a:latin typeface="Arial"/>
                <a:ea typeface="Arial"/>
                <a:cs typeface="Arial"/>
              </a:defRPr>
            </a:lvl6pPr>
            <a:lvl7pPr>
              <a:defRPr sz="3300" b="1">
                <a:solidFill>
                  <a:srgbClr val="132D46"/>
                </a:solidFill>
                <a:latin typeface="Arial"/>
                <a:ea typeface="Arial"/>
                <a:cs typeface="Arial"/>
              </a:defRPr>
            </a:lvl7pPr>
            <a:lvl8pPr>
              <a:defRPr sz="3300" b="1">
                <a:solidFill>
                  <a:srgbClr val="132D46"/>
                </a:solidFill>
                <a:latin typeface="Arial"/>
                <a:ea typeface="Arial"/>
                <a:cs typeface="Arial"/>
              </a:defRPr>
            </a:lvl8pPr>
            <a:lvl9pPr>
              <a:defRPr sz="3300" b="1">
                <a:solidFill>
                  <a:srgbClr val="132D46"/>
                </a:solidFill>
                <a:latin typeface="Arial"/>
                <a:ea typeface="Arial"/>
                <a:cs typeface="Arial"/>
              </a:defRPr>
            </a:lvl9pPr>
          </a:lstStyle>
          <a:p xmlns:a="http://schemas.openxmlformats.org/drawingml/2006/main">
            <a:pPr>
              <a:defRPr sz="3300" b="1">
                <a:solidFill>
                  <a:srgbClr val="132D46"/>
                </a:solidFill>
                <a:latin typeface="Arial"/>
                <a:ea typeface="Arial"/>
                <a:cs typeface="Arial"/>
              </a:defRPr>
            </a:pPr>
            <a:r>
              <a:rPr sz="3300" b="1">
                <a:solidFill>
                  <a:srgbClr val="132D46"/>
                </a:solidFill>
                <a:latin typeface="Arial"/>
                <a:ea typeface="Arial"/>
                <a:cs typeface="Arial"/>
              </a:rPr>
              <a:t>Kết quả trên holdout</a:t>
            </a:r>
          </a:p>
        </p:txBody>
      </p:sp>
      <p:sp>
        <p:nvSpPr>
          <p:cNvPr id="2" name="text">
            <a:extLst xmlns:a="http://schemas.openxmlformats.org/drawingml/2006/main">
              <a:ext uri="{FF2B5EF4-FFF2-40B4-BE49-F238E27FC236}">
                <a16:creationId xmlns:a16="http://schemas.microsoft.com/office/drawing/2014/main" id="{05320482-D4B7-4323-8467-1AF94646D241}"/>
              </a:ext>
            </a:extLst>
          </p:cNvPr>
          <p:cNvSpPr>
            <a:spLocks xmlns:a="http://schemas.openxmlformats.org/drawingml/2006/main" noGrp="1"/>
          </p:cNvSpPr>
          <p:nvPr/>
        </p:nvSpPr>
        <p:spPr>
          <a:xfrm xmlns:a="http://schemas.openxmlformats.org/drawingml/2006/main">
            <a:off x="609600" y="6410325"/>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273"/>
                </a:solidFill>
                <a:latin typeface="Arial"/>
                <a:ea typeface="Arial"/>
                <a:cs typeface="Arial"/>
              </a:defRPr>
            </a:defPPr>
            <a:lvl1pPr>
              <a:defRPr sz="1200" b="0">
                <a:solidFill>
                  <a:srgbClr val="516273"/>
                </a:solidFill>
                <a:latin typeface="Arial"/>
                <a:ea typeface="Arial"/>
                <a:cs typeface="Arial"/>
              </a:defRPr>
            </a:lvl1pPr>
            <a:lvl2pPr>
              <a:defRPr sz="1200" b="0">
                <a:solidFill>
                  <a:srgbClr val="516273"/>
                </a:solidFill>
                <a:latin typeface="Arial"/>
                <a:ea typeface="Arial"/>
                <a:cs typeface="Arial"/>
              </a:defRPr>
            </a:lvl2pPr>
            <a:lvl3pPr>
              <a:defRPr sz="1200" b="0">
                <a:solidFill>
                  <a:srgbClr val="516273"/>
                </a:solidFill>
                <a:latin typeface="Arial"/>
                <a:ea typeface="Arial"/>
                <a:cs typeface="Arial"/>
              </a:defRPr>
            </a:lvl3pPr>
            <a:lvl4pPr>
              <a:defRPr sz="1200" b="0">
                <a:solidFill>
                  <a:srgbClr val="516273"/>
                </a:solidFill>
                <a:latin typeface="Arial"/>
                <a:ea typeface="Arial"/>
                <a:cs typeface="Arial"/>
              </a:defRPr>
            </a:lvl4pPr>
            <a:lvl5pPr>
              <a:defRPr sz="1200" b="0">
                <a:solidFill>
                  <a:srgbClr val="516273"/>
                </a:solidFill>
                <a:latin typeface="Arial"/>
                <a:ea typeface="Arial"/>
                <a:cs typeface="Arial"/>
              </a:defRPr>
            </a:lvl5pPr>
            <a:lvl6pPr>
              <a:defRPr sz="1200" b="0">
                <a:solidFill>
                  <a:srgbClr val="516273"/>
                </a:solidFill>
                <a:latin typeface="Arial"/>
                <a:ea typeface="Arial"/>
                <a:cs typeface="Arial"/>
              </a:defRPr>
            </a:lvl6pPr>
            <a:lvl7pPr>
              <a:defRPr sz="1200" b="0">
                <a:solidFill>
                  <a:srgbClr val="516273"/>
                </a:solidFill>
                <a:latin typeface="Arial"/>
                <a:ea typeface="Arial"/>
                <a:cs typeface="Arial"/>
              </a:defRPr>
            </a:lvl7pPr>
            <a:lvl8pPr>
              <a:defRPr sz="1200" b="0">
                <a:solidFill>
                  <a:srgbClr val="516273"/>
                </a:solidFill>
                <a:latin typeface="Arial"/>
                <a:ea typeface="Arial"/>
                <a:cs typeface="Arial"/>
              </a:defRPr>
            </a:lvl8pPr>
            <a:lvl9pPr>
              <a:defRPr sz="1200" b="0">
                <a:solidFill>
                  <a:srgbClr val="516273"/>
                </a:solidFill>
                <a:latin typeface="Arial"/>
                <a:ea typeface="Arial"/>
                <a:cs typeface="Arial"/>
              </a:defRPr>
            </a:lvl9pPr>
          </a:lstStyle>
          <a:p xmlns:a="http://schemas.openxmlformats.org/drawingml/2006/main">
            <a:pPr>
              <a:defRPr sz="1200" b="0">
                <a:solidFill>
                  <a:srgbClr val="516273"/>
                </a:solidFill>
                <a:latin typeface="Arial"/>
                <a:ea typeface="Arial"/>
                <a:cs typeface="Arial"/>
              </a:defRPr>
            </a:pPr>
            <a:r>
              <a:rPr sz="1200" b="0">
                <a:solidFill>
                  <a:srgbClr val="516273"/>
                </a:solidFill>
                <a:latin typeface="Arial"/>
                <a:ea typeface="Arial"/>
                <a:cs typeface="Arial"/>
              </a:rPr>
              <a:t>NHẬP MÔN TỐI ƯU HÓA   •   RANDOM FOREST VÀ OPTUNA</a:t>
            </a:r>
          </a:p>
        </p:txBody>
      </p:sp>
      <p:sp>
        <p:nvSpPr>
          <p:cNvPr id="3" name="text">
            <a:extLst xmlns:a="http://schemas.openxmlformats.org/drawingml/2006/main">
              <a:ext uri="{FF2B5EF4-FFF2-40B4-BE49-F238E27FC236}">
                <a16:creationId xmlns:a16="http://schemas.microsoft.com/office/drawing/2014/main" id="{C34FF891-441D-436A-B3D1-BD8EF47558CE}"/>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16273"/>
                </a:solidFill>
                <a:latin typeface="Arial"/>
                <a:ea typeface="Arial"/>
                <a:cs typeface="Arial"/>
              </a:defRPr>
            </a:defPPr>
            <a:lvl1pPr>
              <a:defRPr sz="1350" b="0">
                <a:solidFill>
                  <a:srgbClr val="516273"/>
                </a:solidFill>
                <a:latin typeface="Arial"/>
                <a:ea typeface="Arial"/>
                <a:cs typeface="Arial"/>
              </a:defRPr>
            </a:lvl1pPr>
            <a:lvl2pPr>
              <a:defRPr sz="1350" b="0">
                <a:solidFill>
                  <a:srgbClr val="516273"/>
                </a:solidFill>
                <a:latin typeface="Arial"/>
                <a:ea typeface="Arial"/>
                <a:cs typeface="Arial"/>
              </a:defRPr>
            </a:lvl2pPr>
            <a:lvl3pPr>
              <a:defRPr sz="1350" b="0">
                <a:solidFill>
                  <a:srgbClr val="516273"/>
                </a:solidFill>
                <a:latin typeface="Arial"/>
                <a:ea typeface="Arial"/>
                <a:cs typeface="Arial"/>
              </a:defRPr>
            </a:lvl3pPr>
            <a:lvl4pPr>
              <a:defRPr sz="1350" b="0">
                <a:solidFill>
                  <a:srgbClr val="516273"/>
                </a:solidFill>
                <a:latin typeface="Arial"/>
                <a:ea typeface="Arial"/>
                <a:cs typeface="Arial"/>
              </a:defRPr>
            </a:lvl4pPr>
            <a:lvl5pPr>
              <a:defRPr sz="1350" b="0">
                <a:solidFill>
                  <a:srgbClr val="516273"/>
                </a:solidFill>
                <a:latin typeface="Arial"/>
                <a:ea typeface="Arial"/>
                <a:cs typeface="Arial"/>
              </a:defRPr>
            </a:lvl5pPr>
            <a:lvl6pPr>
              <a:defRPr sz="1350" b="0">
                <a:solidFill>
                  <a:srgbClr val="516273"/>
                </a:solidFill>
                <a:latin typeface="Arial"/>
                <a:ea typeface="Arial"/>
                <a:cs typeface="Arial"/>
              </a:defRPr>
            </a:lvl6pPr>
            <a:lvl7pPr>
              <a:defRPr sz="1350" b="0">
                <a:solidFill>
                  <a:srgbClr val="516273"/>
                </a:solidFill>
                <a:latin typeface="Arial"/>
                <a:ea typeface="Arial"/>
                <a:cs typeface="Arial"/>
              </a:defRPr>
            </a:lvl7pPr>
            <a:lvl8pPr>
              <a:defRPr sz="1350" b="0">
                <a:solidFill>
                  <a:srgbClr val="516273"/>
                </a:solidFill>
                <a:latin typeface="Arial"/>
                <a:ea typeface="Arial"/>
                <a:cs typeface="Arial"/>
              </a:defRPr>
            </a:lvl8pPr>
            <a:lvl9pPr>
              <a:defRPr sz="1350" b="0">
                <a:solidFill>
                  <a:srgbClr val="516273"/>
                </a:solidFill>
                <a:latin typeface="Arial"/>
                <a:ea typeface="Arial"/>
                <a:cs typeface="Arial"/>
              </a:defRPr>
            </a:lvl9pPr>
          </a:lstStyle>
          <a:p xmlns:a="http://schemas.openxmlformats.org/drawingml/2006/main">
            <a:pPr>
              <a:defRPr sz="1350" b="0">
                <a:solidFill>
                  <a:srgbClr val="516273"/>
                </a:solidFill>
                <a:latin typeface="Arial"/>
                <a:ea typeface="Arial"/>
                <a:cs typeface="Arial"/>
              </a:defRPr>
            </a:pPr>
            <a:r>
              <a:rPr sz="1350" b="0">
                <a:solidFill>
                  <a:srgbClr val="516273"/>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BB0676EC-6724-48CB-BD53-774AB89C7800}"/>
              </a:ext>
            </a:extLst>
          </p:cNvPr>
          <p:cNvGraphicFramePr/>
          <p:nvPr/>
        </p:nvGraphicFramePr>
        <p:xfrm>
          <a:off xmlns:a="http://schemas.openxmlformats.org/drawingml/2006/main" x="609600" y="1619250"/>
          <a:ext xmlns:a="http://schemas.openxmlformats.org/drawingml/2006/main" cx="10972800" cy="3429000"/>
        </p:xfrm>
        <a:graphic xmlns:a="http://schemas.openxmlformats.org/drawingml/2006/main">
          <a:graphicData uri="http://schemas.openxmlformats.org/drawingml/2006/table">
            <a:tbl>
              <a:tblPr/>
              <a:tblGrid>
                <a:gridCol w="5334000"/>
                <a:gridCol w="2819400"/>
                <a:gridCol w="2819400"/>
              </a:tblGrid>
              <a:tr h="571500">
                <a:tc>
                  <a:txBody>
                    <a:bodyPr lIns="114300" tIns="114300" rIns="114300" bIns="114300">
                      <a:noAutofit/>
                    </a:bodyPr>
                    <a:lstStyle/>
                    <a:p>
                      <a:r>
                        <a:rPr sz="1725" b="1">
                          <a:solidFill>
                            <a:srgbClr val="FFFFFF"/>
                          </a:solidFill>
                          <a:latin typeface="Arial"/>
                          <a:ea typeface="Arial"/>
                          <a:cs typeface="Arial"/>
                        </a:rPr>
                        <a:t>Chỉ số</a:t>
                      </a:r>
                    </a:p>
                  </a:txBody>
                  <a:tcPr marL="91440" marR="91440" marT="45720" marB="45720" anchor="ctr">
                    <a:lnL w="9525">
                      <a:solidFill>
                        <a:srgbClr val="D9E0E5"/>
                      </a:solidFill>
                      <a:prstDash val="solid"/>
                    </a:lnL>
                    <a:lnR w="9525">
                      <a:solidFill>
                        <a:srgbClr val="D9E0E5"/>
                      </a:solidFill>
                      <a:prstDash val="solid"/>
                    </a:lnR>
                    <a:lnT w="9525">
                      <a:solidFill>
                        <a:srgbClr val="D9E0E5"/>
                      </a:solidFill>
                      <a:prstDash val="solid"/>
                    </a:lnT>
                    <a:lnB w="9525">
                      <a:solidFill>
                        <a:srgbClr val="D9E0E5"/>
                      </a:solidFill>
                      <a:prstDash val="solid"/>
                    </a:lnB>
                    <a:solidFill>
                      <a:srgbClr val="132D46"/>
                    </a:solidFill>
                  </a:tcPr>
                </a:tc>
                <a:tc>
                  <a:txBody>
                    <a:bodyPr lIns="114300" tIns="114300" rIns="114300" bIns="114300">
                      <a:noAutofit/>
                    </a:bodyPr>
                    <a:lstStyle/>
                    <a:p>
                      <a:r>
                        <a:rPr sz="1725" b="1">
                          <a:solidFill>
                            <a:srgbClr val="FFFFFF"/>
                          </a:solidFill>
                          <a:latin typeface="Arial"/>
                          <a:ea typeface="Arial"/>
                          <a:cs typeface="Arial"/>
                        </a:rPr>
                        <a:t>Baseline</a:t>
                      </a:r>
                    </a:p>
                  </a:txBody>
                  <a:tcPr marL="91440" marR="91440" marT="45720" marB="45720" anchor="ctr">
                    <a:lnR w="9525">
                      <a:solidFill>
                        <a:srgbClr val="D9E0E5"/>
                      </a:solidFill>
                      <a:prstDash val="solid"/>
                    </a:lnR>
                    <a:lnT w="9525">
                      <a:solidFill>
                        <a:srgbClr val="D9E0E5"/>
                      </a:solidFill>
                      <a:prstDash val="solid"/>
                    </a:lnT>
                    <a:lnB w="9525">
                      <a:solidFill>
                        <a:srgbClr val="D9E0E5"/>
                      </a:solidFill>
                      <a:prstDash val="solid"/>
                    </a:lnB>
                    <a:solidFill>
                      <a:srgbClr val="132D46"/>
                    </a:solidFill>
                  </a:tcPr>
                </a:tc>
                <a:tc>
                  <a:txBody>
                    <a:bodyPr lIns="114300" tIns="114300" rIns="114300" bIns="114300">
                      <a:noAutofit/>
                    </a:bodyPr>
                    <a:lstStyle/>
                    <a:p>
                      <a:r>
                        <a:rPr sz="1725" b="1">
                          <a:solidFill>
                            <a:srgbClr val="FFFFFF"/>
                          </a:solidFill>
                          <a:latin typeface="Arial"/>
                          <a:ea typeface="Arial"/>
                          <a:cs typeface="Arial"/>
                        </a:rPr>
                        <a:t>Optimized</a:t>
                      </a:r>
                    </a:p>
                  </a:txBody>
                  <a:tcPr marL="91440" marR="91440" marT="45720" marB="45720" anchor="ctr">
                    <a:lnR w="9525">
                      <a:solidFill>
                        <a:srgbClr val="D9E0E5"/>
                      </a:solidFill>
                      <a:prstDash val="solid"/>
                    </a:lnR>
                    <a:lnT w="9525">
                      <a:solidFill>
                        <a:srgbClr val="D9E0E5"/>
                      </a:solidFill>
                      <a:prstDash val="solid"/>
                    </a:lnT>
                    <a:lnB w="9525">
                      <a:solidFill>
                        <a:srgbClr val="D9E0E5"/>
                      </a:solidFill>
                      <a:prstDash val="solid"/>
                    </a:lnB>
                    <a:solidFill>
                      <a:srgbClr val="132D46"/>
                    </a:solidFill>
                  </a:tcPr>
                </a:tc>
              </a:tr>
              <a:tr h="571500">
                <a:tc>
                  <a:txBody>
                    <a:bodyPr lIns="114300" tIns="114300" rIns="114300" bIns="114300">
                      <a:noAutofit/>
                    </a:bodyPr>
                    <a:lstStyle/>
                    <a:p>
                      <a:r>
                        <a:rPr sz="1725" b="0">
                          <a:solidFill>
                            <a:srgbClr val="132D46"/>
                          </a:solidFill>
                          <a:latin typeface="Arial"/>
                          <a:ea typeface="Arial"/>
                          <a:cs typeface="Arial"/>
                        </a:rPr>
                        <a:t>CV AUC</a:t>
                      </a:r>
                    </a:p>
                  </a:txBody>
                  <a:tcPr marL="91440" marR="91440" marT="45720" marB="45720" anchor="ctr">
                    <a:lnL w="9525">
                      <a:solidFill>
                        <a:srgbClr val="D9E0E5"/>
                      </a:solidFill>
                      <a:prstDash val="solid"/>
                    </a:lnL>
                    <a:lnR w="9525">
                      <a:solidFill>
                        <a:srgbClr val="D9E0E5"/>
                      </a:solidFill>
                      <a:prstDash val="solid"/>
                    </a:lnR>
                    <a:lnB w="9525">
                      <a:solidFill>
                        <a:srgbClr val="D9E0E5"/>
                      </a:solidFill>
                      <a:prstDash val="solid"/>
                    </a:lnB>
                    <a:solidFill>
                      <a:srgbClr val="F1F5F7"/>
                    </a:solidFill>
                  </a:tcPr>
                </a:tc>
                <a:tc>
                  <a:txBody>
                    <a:bodyPr lIns="114300" tIns="114300" rIns="114300" bIns="114300">
                      <a:noAutofit/>
                    </a:bodyPr>
                    <a:lstStyle/>
                    <a:p>
                      <a:r>
                        <a:rPr sz="1725" b="0">
                          <a:solidFill>
                            <a:srgbClr val="132D46"/>
                          </a:solidFill>
                          <a:latin typeface="Arial"/>
                          <a:ea typeface="Arial"/>
                          <a:cs typeface="Arial"/>
                        </a:rPr>
                        <a:t>0.989538</a:t>
                      </a:r>
                    </a:p>
                  </a:txBody>
                  <a:tcPr marL="91440" marR="91440" marT="45720" marB="45720" anchor="ctr">
                    <a:lnR w="9525">
                      <a:solidFill>
                        <a:srgbClr val="D9E0E5"/>
                      </a:solidFill>
                      <a:prstDash val="solid"/>
                    </a:lnR>
                    <a:lnB w="9525">
                      <a:solidFill>
                        <a:srgbClr val="D9E0E5"/>
                      </a:solidFill>
                      <a:prstDash val="solid"/>
                    </a:lnB>
                    <a:solidFill>
                      <a:srgbClr val="F1F5F7"/>
                    </a:solidFill>
                  </a:tcPr>
                </a:tc>
                <a:tc>
                  <a:txBody>
                    <a:bodyPr lIns="114300" tIns="114300" rIns="114300" bIns="114300">
                      <a:noAutofit/>
                    </a:bodyPr>
                    <a:lstStyle/>
                    <a:p>
                      <a:r>
                        <a:rPr sz="1725" b="0">
                          <a:solidFill>
                            <a:srgbClr val="132D46"/>
                          </a:solidFill>
                          <a:latin typeface="Arial"/>
                          <a:ea typeface="Arial"/>
                          <a:cs typeface="Arial"/>
                        </a:rPr>
                        <a:t>0.989934</a:t>
                      </a:r>
                    </a:p>
                  </a:txBody>
                  <a:tcPr marL="91440" marR="91440" marT="45720" marB="45720" anchor="ctr">
                    <a:lnR w="9525">
                      <a:solidFill>
                        <a:srgbClr val="D9E0E5"/>
                      </a:solidFill>
                      <a:prstDash val="solid"/>
                    </a:lnR>
                    <a:lnB w="9525">
                      <a:solidFill>
                        <a:srgbClr val="D9E0E5"/>
                      </a:solidFill>
                      <a:prstDash val="solid"/>
                    </a:lnB>
                    <a:solidFill>
                      <a:srgbClr val="F1F5F7"/>
                    </a:solidFill>
                  </a:tcPr>
                </a:tc>
              </a:tr>
              <a:tr h="571500">
                <a:tc>
                  <a:txBody>
                    <a:bodyPr lIns="114300" tIns="114300" rIns="114300" bIns="114300">
                      <a:noAutofit/>
                    </a:bodyPr>
                    <a:lstStyle/>
                    <a:p>
                      <a:r>
                        <a:rPr sz="1725" b="0">
                          <a:solidFill>
                            <a:srgbClr val="132D46"/>
                          </a:solidFill>
                          <a:latin typeface="Arial"/>
                          <a:ea typeface="Arial"/>
                          <a:cs typeface="Arial"/>
                        </a:rPr>
                        <a:t>Test AUC</a:t>
                      </a:r>
                    </a:p>
                  </a:txBody>
                  <a:tcPr marL="91440" marR="91440" marT="45720" marB="45720" anchor="ctr">
                    <a:lnL w="9525">
                      <a:solidFill>
                        <a:srgbClr val="D9E0E5"/>
                      </a:solidFill>
                      <a:prstDash val="solid"/>
                    </a:lnL>
                    <a:lnR w="9525">
                      <a:solidFill>
                        <a:srgbClr val="D9E0E5"/>
                      </a:solidFill>
                      <a:prstDash val="solid"/>
                    </a:lnR>
                    <a:lnB w="9525">
                      <a:solidFill>
                        <a:srgbClr val="D9E0E5"/>
                      </a:solidFill>
                      <a:prstDash val="solid"/>
                    </a:lnB>
                    <a:solidFill>
                      <a:srgbClr val="FFFFFF"/>
                    </a:solidFill>
                  </a:tcPr>
                </a:tc>
                <a:tc>
                  <a:txBody>
                    <a:bodyPr lIns="114300" tIns="114300" rIns="114300" bIns="114300">
                      <a:noAutofit/>
                    </a:bodyPr>
                    <a:lstStyle/>
                    <a:p>
                      <a:r>
                        <a:rPr sz="1725" b="0">
                          <a:solidFill>
                            <a:srgbClr val="132D46"/>
                          </a:solidFill>
                          <a:latin typeface="Arial"/>
                          <a:ea typeface="Arial"/>
                          <a:cs typeface="Arial"/>
                        </a:rPr>
                        <a:t>0.992890</a:t>
                      </a:r>
                    </a:p>
                  </a:txBody>
                  <a:tcPr marL="91440" marR="91440" marT="45720" marB="45720" anchor="ctr">
                    <a:lnR w="9525">
                      <a:solidFill>
                        <a:srgbClr val="D9E0E5"/>
                      </a:solidFill>
                      <a:prstDash val="solid"/>
                    </a:lnR>
                    <a:lnB w="9525">
                      <a:solidFill>
                        <a:srgbClr val="D9E0E5"/>
                      </a:solidFill>
                      <a:prstDash val="solid"/>
                    </a:lnB>
                    <a:solidFill>
                      <a:srgbClr val="FFFFFF"/>
                    </a:solidFill>
                  </a:tcPr>
                </a:tc>
                <a:tc>
                  <a:txBody>
                    <a:bodyPr lIns="114300" tIns="114300" rIns="114300" bIns="114300">
                      <a:noAutofit/>
                    </a:bodyPr>
                    <a:lstStyle/>
                    <a:p>
                      <a:r>
                        <a:rPr sz="1725" b="0">
                          <a:solidFill>
                            <a:srgbClr val="132D46"/>
                          </a:solidFill>
                          <a:latin typeface="Arial"/>
                          <a:ea typeface="Arial"/>
                          <a:cs typeface="Arial"/>
                        </a:rPr>
                        <a:t>0.994048</a:t>
                      </a:r>
                    </a:p>
                  </a:txBody>
                  <a:tcPr marL="91440" marR="91440" marT="45720" marB="45720" anchor="ctr">
                    <a:lnR w="9525">
                      <a:solidFill>
                        <a:srgbClr val="D9E0E5"/>
                      </a:solidFill>
                      <a:prstDash val="solid"/>
                    </a:lnR>
                    <a:lnB w="9525">
                      <a:solidFill>
                        <a:srgbClr val="D9E0E5"/>
                      </a:solidFill>
                      <a:prstDash val="solid"/>
                    </a:lnB>
                    <a:solidFill>
                      <a:srgbClr val="FFFFFF"/>
                    </a:solidFill>
                  </a:tcPr>
                </a:tc>
              </a:tr>
              <a:tr h="571500">
                <a:tc>
                  <a:txBody>
                    <a:bodyPr lIns="114300" tIns="114300" rIns="114300" bIns="114300">
                      <a:noAutofit/>
                    </a:bodyPr>
                    <a:lstStyle/>
                    <a:p>
                      <a:r>
                        <a:rPr sz="1725" b="0">
                          <a:solidFill>
                            <a:srgbClr val="132D46"/>
                          </a:solidFill>
                          <a:latin typeface="Arial"/>
                          <a:ea typeface="Arial"/>
                          <a:cs typeface="Arial"/>
                        </a:rPr>
                        <a:t>F1 malignant</a:t>
                      </a:r>
                    </a:p>
                  </a:txBody>
                  <a:tcPr marL="91440" marR="91440" marT="45720" marB="45720" anchor="ctr">
                    <a:lnL w="9525">
                      <a:solidFill>
                        <a:srgbClr val="D9E0E5"/>
                      </a:solidFill>
                      <a:prstDash val="solid"/>
                    </a:lnL>
                    <a:lnR w="9525">
                      <a:solidFill>
                        <a:srgbClr val="D9E0E5"/>
                      </a:solidFill>
                      <a:prstDash val="solid"/>
                    </a:lnR>
                    <a:lnB w="9525">
                      <a:solidFill>
                        <a:srgbClr val="D9E0E5"/>
                      </a:solidFill>
                      <a:prstDash val="solid"/>
                    </a:lnB>
                    <a:solidFill>
                      <a:srgbClr val="F1F5F7"/>
                    </a:solidFill>
                  </a:tcPr>
                </a:tc>
                <a:tc>
                  <a:txBody>
                    <a:bodyPr lIns="114300" tIns="114300" rIns="114300" bIns="114300">
                      <a:noAutofit/>
                    </a:bodyPr>
                    <a:lstStyle/>
                    <a:p>
                      <a:r>
                        <a:rPr sz="1725" b="0">
                          <a:solidFill>
                            <a:srgbClr val="132D46"/>
                          </a:solidFill>
                          <a:latin typeface="Arial"/>
                          <a:ea typeface="Arial"/>
                          <a:cs typeface="Arial"/>
                        </a:rPr>
                        <a:t>0.962963</a:t>
                      </a:r>
                    </a:p>
                  </a:txBody>
                  <a:tcPr marL="91440" marR="91440" marT="45720" marB="45720" anchor="ctr">
                    <a:lnR w="9525">
                      <a:solidFill>
                        <a:srgbClr val="D9E0E5"/>
                      </a:solidFill>
                      <a:prstDash val="solid"/>
                    </a:lnR>
                    <a:lnB w="9525">
                      <a:solidFill>
                        <a:srgbClr val="D9E0E5"/>
                      </a:solidFill>
                      <a:prstDash val="solid"/>
                    </a:lnB>
                    <a:solidFill>
                      <a:srgbClr val="F1F5F7"/>
                    </a:solidFill>
                  </a:tcPr>
                </a:tc>
                <a:tc>
                  <a:txBody>
                    <a:bodyPr lIns="114300" tIns="114300" rIns="114300" bIns="114300">
                      <a:noAutofit/>
                    </a:bodyPr>
                    <a:lstStyle/>
                    <a:p>
                      <a:r>
                        <a:rPr sz="1725" b="0">
                          <a:solidFill>
                            <a:srgbClr val="132D46"/>
                          </a:solidFill>
                          <a:latin typeface="Arial"/>
                          <a:ea typeface="Arial"/>
                          <a:cs typeface="Arial"/>
                        </a:rPr>
                        <a:t>0.962963</a:t>
                      </a:r>
                    </a:p>
                  </a:txBody>
                  <a:tcPr marL="91440" marR="91440" marT="45720" marB="45720" anchor="ctr">
                    <a:lnR w="9525">
                      <a:solidFill>
                        <a:srgbClr val="D9E0E5"/>
                      </a:solidFill>
                      <a:prstDash val="solid"/>
                    </a:lnR>
                    <a:lnB w="9525">
                      <a:solidFill>
                        <a:srgbClr val="D9E0E5"/>
                      </a:solidFill>
                      <a:prstDash val="solid"/>
                    </a:lnB>
                    <a:solidFill>
                      <a:srgbClr val="F1F5F7"/>
                    </a:solidFill>
                  </a:tcPr>
                </a:tc>
              </a:tr>
              <a:tr h="571500">
                <a:tc>
                  <a:txBody>
                    <a:bodyPr lIns="114300" tIns="114300" rIns="114300" bIns="114300">
                      <a:noAutofit/>
                    </a:bodyPr>
                    <a:lstStyle/>
                    <a:p>
                      <a:r>
                        <a:rPr sz="1725" b="0">
                          <a:solidFill>
                            <a:srgbClr val="132D46"/>
                          </a:solidFill>
                          <a:latin typeface="Arial"/>
                          <a:ea typeface="Arial"/>
                          <a:cs typeface="Arial"/>
                        </a:rPr>
                        <a:t>Fit trên train (giây)</a:t>
                      </a:r>
                    </a:p>
                  </a:txBody>
                  <a:tcPr marL="91440" marR="91440" marT="45720" marB="45720" anchor="ctr">
                    <a:lnL w="9525">
                      <a:solidFill>
                        <a:srgbClr val="D9E0E5"/>
                      </a:solidFill>
                      <a:prstDash val="solid"/>
                    </a:lnL>
                    <a:lnR w="9525">
                      <a:solidFill>
                        <a:srgbClr val="D9E0E5"/>
                      </a:solidFill>
                      <a:prstDash val="solid"/>
                    </a:lnR>
                    <a:lnB w="9525">
                      <a:solidFill>
                        <a:srgbClr val="D9E0E5"/>
                      </a:solidFill>
                      <a:prstDash val="solid"/>
                    </a:lnB>
                    <a:solidFill>
                      <a:srgbClr val="FFFFFF"/>
                    </a:solidFill>
                  </a:tcPr>
                </a:tc>
                <a:tc>
                  <a:txBody>
                    <a:bodyPr lIns="114300" tIns="114300" rIns="114300" bIns="114300">
                      <a:noAutofit/>
                    </a:bodyPr>
                    <a:lstStyle/>
                    <a:p>
                      <a:r>
                        <a:rPr sz="1725" b="0">
                          <a:solidFill>
                            <a:srgbClr val="132D46"/>
                          </a:solidFill>
                          <a:latin typeface="Arial"/>
                          <a:ea typeface="Arial"/>
                          <a:cs typeface="Arial"/>
                        </a:rPr>
                        <a:t>0.298</a:t>
                      </a:r>
                    </a:p>
                  </a:txBody>
                  <a:tcPr marL="91440" marR="91440" marT="45720" marB="45720" anchor="ctr">
                    <a:lnR w="9525">
                      <a:solidFill>
                        <a:srgbClr val="D9E0E5"/>
                      </a:solidFill>
                      <a:prstDash val="solid"/>
                    </a:lnR>
                    <a:lnB w="9525">
                      <a:solidFill>
                        <a:srgbClr val="D9E0E5"/>
                      </a:solidFill>
                      <a:prstDash val="solid"/>
                    </a:lnB>
                    <a:solidFill>
                      <a:srgbClr val="FFFFFF"/>
                    </a:solidFill>
                  </a:tcPr>
                </a:tc>
                <a:tc>
                  <a:txBody>
                    <a:bodyPr lIns="114300" tIns="114300" rIns="114300" bIns="114300">
                      <a:noAutofit/>
                    </a:bodyPr>
                    <a:lstStyle/>
                    <a:p>
                      <a:r>
                        <a:rPr sz="1725" b="0">
                          <a:solidFill>
                            <a:srgbClr val="132D46"/>
                          </a:solidFill>
                          <a:latin typeface="Arial"/>
                          <a:ea typeface="Arial"/>
                          <a:cs typeface="Arial"/>
                        </a:rPr>
                        <a:t>0.148</a:t>
                      </a:r>
                    </a:p>
                  </a:txBody>
                  <a:tcPr marL="91440" marR="91440" marT="45720" marB="45720" anchor="ctr">
                    <a:lnR w="9525">
                      <a:solidFill>
                        <a:srgbClr val="D9E0E5"/>
                      </a:solidFill>
                      <a:prstDash val="solid"/>
                    </a:lnR>
                    <a:lnB w="9525">
                      <a:solidFill>
                        <a:srgbClr val="D9E0E5"/>
                      </a:solidFill>
                      <a:prstDash val="solid"/>
                    </a:lnB>
                    <a:solidFill>
                      <a:srgbClr val="FFFFFF"/>
                    </a:solidFill>
                  </a:tcPr>
                </a:tc>
              </a:tr>
              <a:tr h="571500">
                <a:tc>
                  <a:txBody>
                    <a:bodyPr lIns="114300" tIns="114300" rIns="114300" bIns="114300">
                      <a:noAutofit/>
                    </a:bodyPr>
                    <a:lstStyle/>
                    <a:p>
                      <a:r>
                        <a:rPr sz="1725" b="0">
                          <a:solidFill>
                            <a:srgbClr val="132D46"/>
                          </a:solidFill>
                          <a:latin typeface="Arial"/>
                          <a:ea typeface="Arial"/>
                          <a:cs typeface="Arial"/>
                        </a:rPr>
                        <a:t>Predict 114 mẫu (ms)</a:t>
                      </a:r>
                    </a:p>
                  </a:txBody>
                  <a:tcPr marL="91440" marR="91440" marT="45720" marB="45720" anchor="ctr">
                    <a:lnL w="9525">
                      <a:solidFill>
                        <a:srgbClr val="D9E0E5"/>
                      </a:solidFill>
                      <a:prstDash val="solid"/>
                    </a:lnL>
                    <a:lnR w="9525">
                      <a:solidFill>
                        <a:srgbClr val="D9E0E5"/>
                      </a:solidFill>
                      <a:prstDash val="solid"/>
                    </a:lnR>
                    <a:lnB w="9525">
                      <a:solidFill>
                        <a:srgbClr val="D9E0E5"/>
                      </a:solidFill>
                      <a:prstDash val="solid"/>
                    </a:lnB>
                    <a:solidFill>
                      <a:srgbClr val="F1F5F7"/>
                    </a:solidFill>
                  </a:tcPr>
                </a:tc>
                <a:tc>
                  <a:txBody>
                    <a:bodyPr lIns="114300" tIns="114300" rIns="114300" bIns="114300">
                      <a:noAutofit/>
                    </a:bodyPr>
                    <a:lstStyle/>
                    <a:p>
                      <a:r>
                        <a:rPr sz="1725" b="0">
                          <a:solidFill>
                            <a:srgbClr val="132D46"/>
                          </a:solidFill>
                          <a:latin typeface="Arial"/>
                          <a:ea typeface="Arial"/>
                          <a:cs typeface="Arial"/>
                        </a:rPr>
                        <a:t>9.779</a:t>
                      </a:r>
                    </a:p>
                  </a:txBody>
                  <a:tcPr marL="91440" marR="91440" marT="45720" marB="45720" anchor="ctr">
                    <a:lnR w="9525">
                      <a:solidFill>
                        <a:srgbClr val="D9E0E5"/>
                      </a:solidFill>
                      <a:prstDash val="solid"/>
                    </a:lnR>
                    <a:lnB w="9525">
                      <a:solidFill>
                        <a:srgbClr val="D9E0E5"/>
                      </a:solidFill>
                      <a:prstDash val="solid"/>
                    </a:lnB>
                    <a:solidFill>
                      <a:srgbClr val="F1F5F7"/>
                    </a:solidFill>
                  </a:tcPr>
                </a:tc>
                <a:tc>
                  <a:txBody>
                    <a:bodyPr lIns="114300" tIns="114300" rIns="114300" bIns="114300">
                      <a:noAutofit/>
                    </a:bodyPr>
                    <a:lstStyle/>
                    <a:p>
                      <a:r>
                        <a:rPr sz="1725" b="0">
                          <a:solidFill>
                            <a:srgbClr val="132D46"/>
                          </a:solidFill>
                          <a:latin typeface="Arial"/>
                          <a:ea typeface="Arial"/>
                          <a:cs typeface="Arial"/>
                        </a:rPr>
                        <a:t>4.134</a:t>
                      </a:r>
                    </a:p>
                  </a:txBody>
                  <a:tcPr marL="91440" marR="91440" marT="45720" marB="45720" anchor="ctr">
                    <a:lnR w="9525">
                      <a:solidFill>
                        <a:srgbClr val="D9E0E5"/>
                      </a:solidFill>
                      <a:prstDash val="solid"/>
                    </a:lnR>
                    <a:lnB w="9525">
                      <a:solidFill>
                        <a:srgbClr val="D9E0E5"/>
                      </a:solidFill>
                      <a:prstDash val="solid"/>
                    </a:lnB>
                    <a:solidFill>
                      <a:srgbClr val="F1F5F7"/>
                    </a:solidFill>
                  </a:tcPr>
                </a:tc>
              </a:tr>
            </a:tbl>
          </a:graphicData>
        </a:graphic>
      </p:graphicFrame>
      <p:sp>
        <p:nvSpPr>
          <p:cNvPr id="5" name="text">
            <a:extLst xmlns:a="http://schemas.openxmlformats.org/drawingml/2006/main">
              <a:ext uri="{FF2B5EF4-FFF2-40B4-BE49-F238E27FC236}">
                <a16:creationId xmlns:a16="http://schemas.microsoft.com/office/drawing/2014/main" id="{2B59BEFD-A7A4-4CD7-8C52-81C2B368F61A}"/>
              </a:ext>
            </a:extLst>
          </p:cNvPr>
          <p:cNvSpPr>
            <a:spLocks xmlns:a="http://schemas.openxmlformats.org/drawingml/2006/main" noGrp="1"/>
          </p:cNvSpPr>
          <p:nvPr/>
        </p:nvSpPr>
        <p:spPr>
          <a:xfrm xmlns:a="http://schemas.openxmlformats.org/drawingml/2006/main">
            <a:off x="609600" y="53911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B"/>
                </a:solidFill>
                <a:latin typeface="Arial"/>
                <a:ea typeface="Arial"/>
                <a:cs typeface="Arial"/>
              </a:defRPr>
            </a:defPPr>
            <a:lvl1pPr>
              <a:defRPr sz="2175" b="1">
                <a:solidFill>
                  <a:srgbClr val="087E8B"/>
                </a:solidFill>
                <a:latin typeface="Arial"/>
                <a:ea typeface="Arial"/>
                <a:cs typeface="Arial"/>
              </a:defRPr>
            </a:lvl1pPr>
            <a:lvl2pPr>
              <a:defRPr sz="2175" b="1">
                <a:solidFill>
                  <a:srgbClr val="087E8B"/>
                </a:solidFill>
                <a:latin typeface="Arial"/>
                <a:ea typeface="Arial"/>
                <a:cs typeface="Arial"/>
              </a:defRPr>
            </a:lvl2pPr>
            <a:lvl3pPr>
              <a:defRPr sz="2175" b="1">
                <a:solidFill>
                  <a:srgbClr val="087E8B"/>
                </a:solidFill>
                <a:latin typeface="Arial"/>
                <a:ea typeface="Arial"/>
                <a:cs typeface="Arial"/>
              </a:defRPr>
            </a:lvl3pPr>
            <a:lvl4pPr>
              <a:defRPr sz="2175" b="1">
                <a:solidFill>
                  <a:srgbClr val="087E8B"/>
                </a:solidFill>
                <a:latin typeface="Arial"/>
                <a:ea typeface="Arial"/>
                <a:cs typeface="Arial"/>
              </a:defRPr>
            </a:lvl4pPr>
            <a:lvl5pPr>
              <a:defRPr sz="2175" b="1">
                <a:solidFill>
                  <a:srgbClr val="087E8B"/>
                </a:solidFill>
                <a:latin typeface="Arial"/>
                <a:ea typeface="Arial"/>
                <a:cs typeface="Arial"/>
              </a:defRPr>
            </a:lvl5pPr>
            <a:lvl6pPr>
              <a:defRPr sz="2175" b="1">
                <a:solidFill>
                  <a:srgbClr val="087E8B"/>
                </a:solidFill>
                <a:latin typeface="Arial"/>
                <a:ea typeface="Arial"/>
                <a:cs typeface="Arial"/>
              </a:defRPr>
            </a:lvl6pPr>
            <a:lvl7pPr>
              <a:defRPr sz="2175" b="1">
                <a:solidFill>
                  <a:srgbClr val="087E8B"/>
                </a:solidFill>
                <a:latin typeface="Arial"/>
                <a:ea typeface="Arial"/>
                <a:cs typeface="Arial"/>
              </a:defRPr>
            </a:lvl7pPr>
            <a:lvl8pPr>
              <a:defRPr sz="2175" b="1">
                <a:solidFill>
                  <a:srgbClr val="087E8B"/>
                </a:solidFill>
                <a:latin typeface="Arial"/>
                <a:ea typeface="Arial"/>
                <a:cs typeface="Arial"/>
              </a:defRPr>
            </a:lvl8pPr>
            <a:lvl9pPr>
              <a:defRPr sz="2175" b="1">
                <a:solidFill>
                  <a:srgbClr val="087E8B"/>
                </a:solidFill>
                <a:latin typeface="Arial"/>
                <a:ea typeface="Arial"/>
                <a:cs typeface="Arial"/>
              </a:defRPr>
            </a:lvl9pPr>
          </a:lstStyle>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Cả hai cùng bỏ sót 3 mẫu malignant, không có false positive.</a:t>
            </a:r>
          </a:p>
        </p:txBody>
      </p:sp>
      <p:sp>
        <p:nvSpPr>
          <p:cNvPr id="6" name="text">
            <a:extLst xmlns:a="http://schemas.openxmlformats.org/drawingml/2006/main">
              <a:ext uri="{FF2B5EF4-FFF2-40B4-BE49-F238E27FC236}">
                <a16:creationId xmlns:a16="http://schemas.microsoft.com/office/drawing/2014/main" id="{3158FA55-7F1C-4466-988D-4DA4A9002A4A}"/>
              </a:ext>
            </a:extLst>
          </p:cNvPr>
          <p:cNvSpPr>
            <a:spLocks xmlns:a="http://schemas.openxmlformats.org/drawingml/2006/main" noGrp="1"/>
          </p:cNvSpPr>
          <p:nvPr/>
        </p:nvSpPr>
        <p:spPr>
          <a:xfrm xmlns:a="http://schemas.openxmlformats.org/drawingml/2006/main">
            <a:off x="609600" y="59340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16273"/>
                </a:solidFill>
                <a:latin typeface="Arial"/>
                <a:ea typeface="Arial"/>
                <a:cs typeface="Arial"/>
              </a:defRPr>
            </a:defPPr>
            <a:lvl1pPr>
              <a:defRPr sz="1725" b="0">
                <a:solidFill>
                  <a:srgbClr val="516273"/>
                </a:solidFill>
                <a:latin typeface="Arial"/>
                <a:ea typeface="Arial"/>
                <a:cs typeface="Arial"/>
              </a:defRPr>
            </a:lvl1pPr>
            <a:lvl2pPr>
              <a:defRPr sz="1725" b="0">
                <a:solidFill>
                  <a:srgbClr val="516273"/>
                </a:solidFill>
                <a:latin typeface="Arial"/>
                <a:ea typeface="Arial"/>
                <a:cs typeface="Arial"/>
              </a:defRPr>
            </a:lvl2pPr>
            <a:lvl3pPr>
              <a:defRPr sz="1725" b="0">
                <a:solidFill>
                  <a:srgbClr val="516273"/>
                </a:solidFill>
                <a:latin typeface="Arial"/>
                <a:ea typeface="Arial"/>
                <a:cs typeface="Arial"/>
              </a:defRPr>
            </a:lvl3pPr>
            <a:lvl4pPr>
              <a:defRPr sz="1725" b="0">
                <a:solidFill>
                  <a:srgbClr val="516273"/>
                </a:solidFill>
                <a:latin typeface="Arial"/>
                <a:ea typeface="Arial"/>
                <a:cs typeface="Arial"/>
              </a:defRPr>
            </a:lvl4pPr>
            <a:lvl5pPr>
              <a:defRPr sz="1725" b="0">
                <a:solidFill>
                  <a:srgbClr val="516273"/>
                </a:solidFill>
                <a:latin typeface="Arial"/>
                <a:ea typeface="Arial"/>
                <a:cs typeface="Arial"/>
              </a:defRPr>
            </a:lvl5pPr>
            <a:lvl6pPr>
              <a:defRPr sz="1725" b="0">
                <a:solidFill>
                  <a:srgbClr val="516273"/>
                </a:solidFill>
                <a:latin typeface="Arial"/>
                <a:ea typeface="Arial"/>
                <a:cs typeface="Arial"/>
              </a:defRPr>
            </a:lvl6pPr>
            <a:lvl7pPr>
              <a:defRPr sz="1725" b="0">
                <a:solidFill>
                  <a:srgbClr val="516273"/>
                </a:solidFill>
                <a:latin typeface="Arial"/>
                <a:ea typeface="Arial"/>
                <a:cs typeface="Arial"/>
              </a:defRPr>
            </a:lvl7pPr>
            <a:lvl8pPr>
              <a:defRPr sz="1725" b="0">
                <a:solidFill>
                  <a:srgbClr val="516273"/>
                </a:solidFill>
                <a:latin typeface="Arial"/>
                <a:ea typeface="Arial"/>
                <a:cs typeface="Arial"/>
              </a:defRPr>
            </a:lvl8pPr>
            <a:lvl9pPr>
              <a:defRPr sz="1725" b="0">
                <a:solidFill>
                  <a:srgbClr val="516273"/>
                </a:solidFill>
                <a:latin typeface="Arial"/>
                <a:ea typeface="Arial"/>
                <a:cs typeface="Arial"/>
              </a:defRPr>
            </a:lvl9pPr>
          </a:lstStyle>
          <a:p xmlns:a="http://schemas.openxmlformats.org/drawingml/2006/main">
            <a:pPr>
              <a:defRPr sz="1725" b="0">
                <a:solidFill>
                  <a:srgbClr val="516273"/>
                </a:solidFill>
                <a:latin typeface="Arial"/>
                <a:ea typeface="Arial"/>
                <a:cs typeface="Arial"/>
              </a:defRPr>
            </a:pPr>
            <a:r>
              <a:rPr sz="1725" b="0">
                <a:solidFill>
                  <a:srgbClr val="516273"/>
                </a:solidFill>
                <a:latin typeface="Arial"/>
                <a:ea typeface="Arial"/>
                <a:cs typeface="Arial"/>
              </a:rPr>
              <a:t>Ngưỡng cố định 0.5; timing fit/predict chỉ đo một lần.</a:t>
            </a:r>
          </a:p>
        </p:txBody>
      </p:sp>
    </p:spTree>
    <p:extLst>
      <p:ext uri="{BB962C8B-B14F-4D97-AF65-F5344CB8AC3E}">
        <p14:creationId xmlns:p14="http://schemas.microsoft.com/office/powerpoint/2010/main" val="74192271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primary-heading">
            <a:extLst xmlns:a="http://schemas.openxmlformats.org/drawingml/2006/main">
              <a:ext uri="{FF2B5EF4-FFF2-40B4-BE49-F238E27FC236}">
                <a16:creationId xmlns:a16="http://schemas.microsoft.com/office/drawing/2014/main" id="{204EE2ED-ECE5-4576-9FC8-CF248236F6BC}"/>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32D46"/>
                </a:solidFill>
                <a:latin typeface="Arial"/>
                <a:ea typeface="Arial"/>
                <a:cs typeface="Arial"/>
              </a:defRPr>
            </a:defPPr>
            <a:lvl1pPr>
              <a:defRPr sz="3300" b="1">
                <a:solidFill>
                  <a:srgbClr val="132D46"/>
                </a:solidFill>
                <a:latin typeface="Arial"/>
                <a:ea typeface="Arial"/>
                <a:cs typeface="Arial"/>
              </a:defRPr>
            </a:lvl1pPr>
            <a:lvl2pPr>
              <a:defRPr sz="3300" b="1">
                <a:solidFill>
                  <a:srgbClr val="132D46"/>
                </a:solidFill>
                <a:latin typeface="Arial"/>
                <a:ea typeface="Arial"/>
                <a:cs typeface="Arial"/>
              </a:defRPr>
            </a:lvl2pPr>
            <a:lvl3pPr>
              <a:defRPr sz="3300" b="1">
                <a:solidFill>
                  <a:srgbClr val="132D46"/>
                </a:solidFill>
                <a:latin typeface="Arial"/>
                <a:ea typeface="Arial"/>
                <a:cs typeface="Arial"/>
              </a:defRPr>
            </a:lvl3pPr>
            <a:lvl4pPr>
              <a:defRPr sz="3300" b="1">
                <a:solidFill>
                  <a:srgbClr val="132D46"/>
                </a:solidFill>
                <a:latin typeface="Arial"/>
                <a:ea typeface="Arial"/>
                <a:cs typeface="Arial"/>
              </a:defRPr>
            </a:lvl4pPr>
            <a:lvl5pPr>
              <a:defRPr sz="3300" b="1">
                <a:solidFill>
                  <a:srgbClr val="132D46"/>
                </a:solidFill>
                <a:latin typeface="Arial"/>
                <a:ea typeface="Arial"/>
                <a:cs typeface="Arial"/>
              </a:defRPr>
            </a:lvl5pPr>
            <a:lvl6pPr>
              <a:defRPr sz="3300" b="1">
                <a:solidFill>
                  <a:srgbClr val="132D46"/>
                </a:solidFill>
                <a:latin typeface="Arial"/>
                <a:ea typeface="Arial"/>
                <a:cs typeface="Arial"/>
              </a:defRPr>
            </a:lvl6pPr>
            <a:lvl7pPr>
              <a:defRPr sz="3300" b="1">
                <a:solidFill>
                  <a:srgbClr val="132D46"/>
                </a:solidFill>
                <a:latin typeface="Arial"/>
                <a:ea typeface="Arial"/>
                <a:cs typeface="Arial"/>
              </a:defRPr>
            </a:lvl7pPr>
            <a:lvl8pPr>
              <a:defRPr sz="3300" b="1">
                <a:solidFill>
                  <a:srgbClr val="132D46"/>
                </a:solidFill>
                <a:latin typeface="Arial"/>
                <a:ea typeface="Arial"/>
                <a:cs typeface="Arial"/>
              </a:defRPr>
            </a:lvl8pPr>
            <a:lvl9pPr>
              <a:defRPr sz="3300" b="1">
                <a:solidFill>
                  <a:srgbClr val="132D46"/>
                </a:solidFill>
                <a:latin typeface="Arial"/>
                <a:ea typeface="Arial"/>
                <a:cs typeface="Arial"/>
              </a:defRPr>
            </a:lvl9pPr>
          </a:lstStyle>
          <a:p xmlns:a="http://schemas.openxmlformats.org/drawingml/2006/main">
            <a:pPr>
              <a:defRPr sz="3300" b="1">
                <a:solidFill>
                  <a:srgbClr val="132D46"/>
                </a:solidFill>
                <a:latin typeface="Arial"/>
                <a:ea typeface="Arial"/>
                <a:cs typeface="Arial"/>
              </a:defRPr>
            </a:pPr>
            <a:r>
              <a:rPr sz="3300" b="1">
                <a:solidFill>
                  <a:srgbClr val="132D46"/>
                </a:solidFill>
                <a:latin typeface="Arial"/>
                <a:ea typeface="Arial"/>
                <a:cs typeface="Arial"/>
              </a:rPr>
              <a:t>Quyết định và kiểm chứng</a:t>
            </a:r>
          </a:p>
        </p:txBody>
      </p:sp>
      <p:sp>
        <p:nvSpPr>
          <p:cNvPr id="2" name="text">
            <a:extLst xmlns:a="http://schemas.openxmlformats.org/drawingml/2006/main">
              <a:ext uri="{FF2B5EF4-FFF2-40B4-BE49-F238E27FC236}">
                <a16:creationId xmlns:a16="http://schemas.microsoft.com/office/drawing/2014/main" id="{4A9B8BA7-59E0-4D12-8BC3-CA44BFFD0225}"/>
              </a:ext>
            </a:extLst>
          </p:cNvPr>
          <p:cNvSpPr>
            <a:spLocks xmlns:a="http://schemas.openxmlformats.org/drawingml/2006/main" noGrp="1"/>
          </p:cNvSpPr>
          <p:nvPr/>
        </p:nvSpPr>
        <p:spPr>
          <a:xfrm xmlns:a="http://schemas.openxmlformats.org/drawingml/2006/main">
            <a:off x="609600" y="6410325"/>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273"/>
                </a:solidFill>
                <a:latin typeface="Arial"/>
                <a:ea typeface="Arial"/>
                <a:cs typeface="Arial"/>
              </a:defRPr>
            </a:defPPr>
            <a:lvl1pPr>
              <a:defRPr sz="1200" b="0">
                <a:solidFill>
                  <a:srgbClr val="516273"/>
                </a:solidFill>
                <a:latin typeface="Arial"/>
                <a:ea typeface="Arial"/>
                <a:cs typeface="Arial"/>
              </a:defRPr>
            </a:lvl1pPr>
            <a:lvl2pPr>
              <a:defRPr sz="1200" b="0">
                <a:solidFill>
                  <a:srgbClr val="516273"/>
                </a:solidFill>
                <a:latin typeface="Arial"/>
                <a:ea typeface="Arial"/>
                <a:cs typeface="Arial"/>
              </a:defRPr>
            </a:lvl2pPr>
            <a:lvl3pPr>
              <a:defRPr sz="1200" b="0">
                <a:solidFill>
                  <a:srgbClr val="516273"/>
                </a:solidFill>
                <a:latin typeface="Arial"/>
                <a:ea typeface="Arial"/>
                <a:cs typeface="Arial"/>
              </a:defRPr>
            </a:lvl3pPr>
            <a:lvl4pPr>
              <a:defRPr sz="1200" b="0">
                <a:solidFill>
                  <a:srgbClr val="516273"/>
                </a:solidFill>
                <a:latin typeface="Arial"/>
                <a:ea typeface="Arial"/>
                <a:cs typeface="Arial"/>
              </a:defRPr>
            </a:lvl4pPr>
            <a:lvl5pPr>
              <a:defRPr sz="1200" b="0">
                <a:solidFill>
                  <a:srgbClr val="516273"/>
                </a:solidFill>
                <a:latin typeface="Arial"/>
                <a:ea typeface="Arial"/>
                <a:cs typeface="Arial"/>
              </a:defRPr>
            </a:lvl5pPr>
            <a:lvl6pPr>
              <a:defRPr sz="1200" b="0">
                <a:solidFill>
                  <a:srgbClr val="516273"/>
                </a:solidFill>
                <a:latin typeface="Arial"/>
                <a:ea typeface="Arial"/>
                <a:cs typeface="Arial"/>
              </a:defRPr>
            </a:lvl6pPr>
            <a:lvl7pPr>
              <a:defRPr sz="1200" b="0">
                <a:solidFill>
                  <a:srgbClr val="516273"/>
                </a:solidFill>
                <a:latin typeface="Arial"/>
                <a:ea typeface="Arial"/>
                <a:cs typeface="Arial"/>
              </a:defRPr>
            </a:lvl7pPr>
            <a:lvl8pPr>
              <a:defRPr sz="1200" b="0">
                <a:solidFill>
                  <a:srgbClr val="516273"/>
                </a:solidFill>
                <a:latin typeface="Arial"/>
                <a:ea typeface="Arial"/>
                <a:cs typeface="Arial"/>
              </a:defRPr>
            </a:lvl8pPr>
            <a:lvl9pPr>
              <a:defRPr sz="1200" b="0">
                <a:solidFill>
                  <a:srgbClr val="516273"/>
                </a:solidFill>
                <a:latin typeface="Arial"/>
                <a:ea typeface="Arial"/>
                <a:cs typeface="Arial"/>
              </a:defRPr>
            </a:lvl9pPr>
          </a:lstStyle>
          <a:p xmlns:a="http://schemas.openxmlformats.org/drawingml/2006/main">
            <a:pPr>
              <a:defRPr sz="1200" b="0">
                <a:solidFill>
                  <a:srgbClr val="516273"/>
                </a:solidFill>
                <a:latin typeface="Arial"/>
                <a:ea typeface="Arial"/>
                <a:cs typeface="Arial"/>
              </a:defRPr>
            </a:pPr>
            <a:r>
              <a:rPr sz="1200" b="0">
                <a:solidFill>
                  <a:srgbClr val="516273"/>
                </a:solidFill>
                <a:latin typeface="Arial"/>
                <a:ea typeface="Arial"/>
                <a:cs typeface="Arial"/>
              </a:rPr>
              <a:t>NHẬP MÔN TỐI ƯU HÓA   •   RANDOM FOREST VÀ OPTUNA</a:t>
            </a:r>
          </a:p>
        </p:txBody>
      </p:sp>
      <p:sp>
        <p:nvSpPr>
          <p:cNvPr id="3" name="text">
            <a:extLst xmlns:a="http://schemas.openxmlformats.org/drawingml/2006/main">
              <a:ext uri="{FF2B5EF4-FFF2-40B4-BE49-F238E27FC236}">
                <a16:creationId xmlns:a16="http://schemas.microsoft.com/office/drawing/2014/main" id="{123570E3-AFE8-4359-AF6A-6A85971E04EC}"/>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16273"/>
                </a:solidFill>
                <a:latin typeface="Arial"/>
                <a:ea typeface="Arial"/>
                <a:cs typeface="Arial"/>
              </a:defRPr>
            </a:defPPr>
            <a:lvl1pPr>
              <a:defRPr sz="1350" b="0">
                <a:solidFill>
                  <a:srgbClr val="516273"/>
                </a:solidFill>
                <a:latin typeface="Arial"/>
                <a:ea typeface="Arial"/>
                <a:cs typeface="Arial"/>
              </a:defRPr>
            </a:lvl1pPr>
            <a:lvl2pPr>
              <a:defRPr sz="1350" b="0">
                <a:solidFill>
                  <a:srgbClr val="516273"/>
                </a:solidFill>
                <a:latin typeface="Arial"/>
                <a:ea typeface="Arial"/>
                <a:cs typeface="Arial"/>
              </a:defRPr>
            </a:lvl2pPr>
            <a:lvl3pPr>
              <a:defRPr sz="1350" b="0">
                <a:solidFill>
                  <a:srgbClr val="516273"/>
                </a:solidFill>
                <a:latin typeface="Arial"/>
                <a:ea typeface="Arial"/>
                <a:cs typeface="Arial"/>
              </a:defRPr>
            </a:lvl3pPr>
            <a:lvl4pPr>
              <a:defRPr sz="1350" b="0">
                <a:solidFill>
                  <a:srgbClr val="516273"/>
                </a:solidFill>
                <a:latin typeface="Arial"/>
                <a:ea typeface="Arial"/>
                <a:cs typeface="Arial"/>
              </a:defRPr>
            </a:lvl4pPr>
            <a:lvl5pPr>
              <a:defRPr sz="1350" b="0">
                <a:solidFill>
                  <a:srgbClr val="516273"/>
                </a:solidFill>
                <a:latin typeface="Arial"/>
                <a:ea typeface="Arial"/>
                <a:cs typeface="Arial"/>
              </a:defRPr>
            </a:lvl5pPr>
            <a:lvl6pPr>
              <a:defRPr sz="1350" b="0">
                <a:solidFill>
                  <a:srgbClr val="516273"/>
                </a:solidFill>
                <a:latin typeface="Arial"/>
                <a:ea typeface="Arial"/>
                <a:cs typeface="Arial"/>
              </a:defRPr>
            </a:lvl6pPr>
            <a:lvl7pPr>
              <a:defRPr sz="1350" b="0">
                <a:solidFill>
                  <a:srgbClr val="516273"/>
                </a:solidFill>
                <a:latin typeface="Arial"/>
                <a:ea typeface="Arial"/>
                <a:cs typeface="Arial"/>
              </a:defRPr>
            </a:lvl7pPr>
            <a:lvl8pPr>
              <a:defRPr sz="1350" b="0">
                <a:solidFill>
                  <a:srgbClr val="516273"/>
                </a:solidFill>
                <a:latin typeface="Arial"/>
                <a:ea typeface="Arial"/>
                <a:cs typeface="Arial"/>
              </a:defRPr>
            </a:lvl8pPr>
            <a:lvl9pPr>
              <a:defRPr sz="1350" b="0">
                <a:solidFill>
                  <a:srgbClr val="516273"/>
                </a:solidFill>
                <a:latin typeface="Arial"/>
                <a:ea typeface="Arial"/>
                <a:cs typeface="Arial"/>
              </a:defRPr>
            </a:lvl9pPr>
          </a:lstStyle>
          <a:p xmlns:a="http://schemas.openxmlformats.org/drawingml/2006/main">
            <a:pPr>
              <a:defRPr sz="1350" b="0">
                <a:solidFill>
                  <a:srgbClr val="516273"/>
                </a:solidFill>
                <a:latin typeface="Arial"/>
                <a:ea typeface="Arial"/>
                <a:cs typeface="Arial"/>
              </a:defRPr>
            </a:pPr>
            <a:r>
              <a:rPr sz="1350" b="0">
                <a:solidFill>
                  <a:srgbClr val="516273"/>
                </a:solidFill>
                <a:latin typeface="Arial"/>
                <a:ea typeface="Arial"/>
                <a:cs typeface="Arial"/>
              </a:rPr>
              <a:t>08</a:t>
            </a:r>
          </a:p>
        </p:txBody>
      </p:sp>
      <p:sp>
        <p:nvSpPr>
          <p:cNvPr id="4" name="text">
            <a:extLst xmlns:a="http://schemas.openxmlformats.org/drawingml/2006/main">
              <a:ext uri="{FF2B5EF4-FFF2-40B4-BE49-F238E27FC236}">
                <a16:creationId xmlns:a16="http://schemas.microsoft.com/office/drawing/2014/main" id="{406C1D53-E078-42E8-B0BF-BF6F450E71D8}"/>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087E8B"/>
                </a:solidFill>
                <a:latin typeface="Arial"/>
                <a:ea typeface="Arial"/>
                <a:cs typeface="Arial"/>
              </a:defRPr>
            </a:defPPr>
            <a:lvl1pPr>
              <a:defRPr sz="2850" b="1">
                <a:solidFill>
                  <a:srgbClr val="087E8B"/>
                </a:solidFill>
                <a:latin typeface="Arial"/>
                <a:ea typeface="Arial"/>
                <a:cs typeface="Arial"/>
              </a:defRPr>
            </a:lvl1pPr>
            <a:lvl2pPr>
              <a:defRPr sz="2850" b="1">
                <a:solidFill>
                  <a:srgbClr val="087E8B"/>
                </a:solidFill>
                <a:latin typeface="Arial"/>
                <a:ea typeface="Arial"/>
                <a:cs typeface="Arial"/>
              </a:defRPr>
            </a:lvl2pPr>
            <a:lvl3pPr>
              <a:defRPr sz="2850" b="1">
                <a:solidFill>
                  <a:srgbClr val="087E8B"/>
                </a:solidFill>
                <a:latin typeface="Arial"/>
                <a:ea typeface="Arial"/>
                <a:cs typeface="Arial"/>
              </a:defRPr>
            </a:lvl3pPr>
            <a:lvl4pPr>
              <a:defRPr sz="2850" b="1">
                <a:solidFill>
                  <a:srgbClr val="087E8B"/>
                </a:solidFill>
                <a:latin typeface="Arial"/>
                <a:ea typeface="Arial"/>
                <a:cs typeface="Arial"/>
              </a:defRPr>
            </a:lvl4pPr>
            <a:lvl5pPr>
              <a:defRPr sz="2850" b="1">
                <a:solidFill>
                  <a:srgbClr val="087E8B"/>
                </a:solidFill>
                <a:latin typeface="Arial"/>
                <a:ea typeface="Arial"/>
                <a:cs typeface="Arial"/>
              </a:defRPr>
            </a:lvl5pPr>
            <a:lvl6pPr>
              <a:defRPr sz="2850" b="1">
                <a:solidFill>
                  <a:srgbClr val="087E8B"/>
                </a:solidFill>
                <a:latin typeface="Arial"/>
                <a:ea typeface="Arial"/>
                <a:cs typeface="Arial"/>
              </a:defRPr>
            </a:lvl6pPr>
            <a:lvl7pPr>
              <a:defRPr sz="2850" b="1">
                <a:solidFill>
                  <a:srgbClr val="087E8B"/>
                </a:solidFill>
                <a:latin typeface="Arial"/>
                <a:ea typeface="Arial"/>
                <a:cs typeface="Arial"/>
              </a:defRPr>
            </a:lvl7pPr>
            <a:lvl8pPr>
              <a:defRPr sz="2850" b="1">
                <a:solidFill>
                  <a:srgbClr val="087E8B"/>
                </a:solidFill>
                <a:latin typeface="Arial"/>
                <a:ea typeface="Arial"/>
                <a:cs typeface="Arial"/>
              </a:defRPr>
            </a:lvl8pPr>
            <a:lvl9pPr>
              <a:defRPr sz="2850" b="1">
                <a:solidFill>
                  <a:srgbClr val="087E8B"/>
                </a:solidFill>
                <a:latin typeface="Arial"/>
                <a:ea typeface="Arial"/>
                <a:cs typeface="Arial"/>
              </a:defRPr>
            </a:lvl9pPr>
          </a:lstStyle>
          <a:p xmlns:a="http://schemas.openxmlformats.org/drawingml/2006/main">
            <a:pPr>
              <a:defRPr sz="2850" b="1">
                <a:solidFill>
                  <a:srgbClr val="087E8B"/>
                </a:solidFill>
                <a:latin typeface="Arial"/>
                <a:ea typeface="Arial"/>
                <a:cs typeface="Arial"/>
              </a:defRPr>
            </a:pPr>
            <a:r>
              <a:rPr sz="2850" b="1">
                <a:solidFill>
                  <a:srgbClr val="087E8B"/>
                </a:solidFill>
                <a:latin typeface="Arial"/>
                <a:ea typeface="Arial"/>
                <a:cs typeface="Arial"/>
              </a:rPr>
              <a:t>Giữ cấu hình 50 cây, depth 16, leaf 1</a:t>
            </a:r>
          </a:p>
        </p:txBody>
      </p:sp>
      <p:sp>
        <p:nvSpPr>
          <p:cNvPr id="5" name="text">
            <a:extLst xmlns:a="http://schemas.openxmlformats.org/drawingml/2006/main">
              <a:ext uri="{FF2B5EF4-FFF2-40B4-BE49-F238E27FC236}">
                <a16:creationId xmlns:a16="http://schemas.microsoft.com/office/drawing/2014/main" id="{AF44C19A-2090-43F4-898B-0B37796180F9}"/>
              </a:ext>
            </a:extLst>
          </p:cNvPr>
          <p:cNvSpPr>
            <a:spLocks xmlns:a="http://schemas.openxmlformats.org/drawingml/2006/main" noGrp="1"/>
          </p:cNvSpPr>
          <p:nvPr/>
        </p:nvSpPr>
        <p:spPr>
          <a:xfrm xmlns:a="http://schemas.openxmlformats.org/drawingml/2006/main">
            <a:off x="609600" y="2400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32D46"/>
                </a:solidFill>
                <a:latin typeface="Arial"/>
                <a:ea typeface="Arial"/>
                <a:cs typeface="Arial"/>
              </a:defRPr>
            </a:defPPr>
            <a:lvl1pPr>
              <a:defRPr sz="2250" b="0">
                <a:solidFill>
                  <a:srgbClr val="132D46"/>
                </a:solidFill>
                <a:latin typeface="Arial"/>
                <a:ea typeface="Arial"/>
                <a:cs typeface="Arial"/>
              </a:defRPr>
            </a:lvl1pPr>
            <a:lvl2pPr>
              <a:defRPr sz="2250" b="0">
                <a:solidFill>
                  <a:srgbClr val="132D46"/>
                </a:solidFill>
                <a:latin typeface="Arial"/>
                <a:ea typeface="Arial"/>
                <a:cs typeface="Arial"/>
              </a:defRPr>
            </a:lvl2pPr>
            <a:lvl3pPr>
              <a:defRPr sz="2250" b="0">
                <a:solidFill>
                  <a:srgbClr val="132D46"/>
                </a:solidFill>
                <a:latin typeface="Arial"/>
                <a:ea typeface="Arial"/>
                <a:cs typeface="Arial"/>
              </a:defRPr>
            </a:lvl3pPr>
            <a:lvl4pPr>
              <a:defRPr sz="2250" b="0">
                <a:solidFill>
                  <a:srgbClr val="132D46"/>
                </a:solidFill>
                <a:latin typeface="Arial"/>
                <a:ea typeface="Arial"/>
                <a:cs typeface="Arial"/>
              </a:defRPr>
            </a:lvl4pPr>
            <a:lvl5pPr>
              <a:defRPr sz="2250" b="0">
                <a:solidFill>
                  <a:srgbClr val="132D46"/>
                </a:solidFill>
                <a:latin typeface="Arial"/>
                <a:ea typeface="Arial"/>
                <a:cs typeface="Arial"/>
              </a:defRPr>
            </a:lvl5pPr>
            <a:lvl6pPr>
              <a:defRPr sz="2250" b="0">
                <a:solidFill>
                  <a:srgbClr val="132D46"/>
                </a:solidFill>
                <a:latin typeface="Arial"/>
                <a:ea typeface="Arial"/>
                <a:cs typeface="Arial"/>
              </a:defRPr>
            </a:lvl6pPr>
            <a:lvl7pPr>
              <a:defRPr sz="2250" b="0">
                <a:solidFill>
                  <a:srgbClr val="132D46"/>
                </a:solidFill>
                <a:latin typeface="Arial"/>
                <a:ea typeface="Arial"/>
                <a:cs typeface="Arial"/>
              </a:defRPr>
            </a:lvl7pPr>
            <a:lvl8pPr>
              <a:defRPr sz="2250" b="0">
                <a:solidFill>
                  <a:srgbClr val="132D46"/>
                </a:solidFill>
                <a:latin typeface="Arial"/>
                <a:ea typeface="Arial"/>
                <a:cs typeface="Arial"/>
              </a:defRPr>
            </a:lvl8pPr>
            <a:lvl9pPr>
              <a:defRPr sz="2250" b="0">
                <a:solidFill>
                  <a:srgbClr val="132D46"/>
                </a:solidFill>
                <a:latin typeface="Arial"/>
                <a:ea typeface="Arial"/>
                <a:cs typeface="Arial"/>
              </a:defRPr>
            </a:lvl9pPr>
          </a:lstStyle>
          <a:p xmlns:a="http://schemas.openxmlformats.org/drawingml/2006/main">
            <a:pPr>
              <a:defRPr sz="2250" b="0">
                <a:solidFill>
                  <a:srgbClr val="132D46"/>
                </a:solidFill>
                <a:latin typeface="Arial"/>
                <a:ea typeface="Arial"/>
                <a:cs typeface="Arial"/>
              </a:defRPr>
            </a:pPr>
            <a:r>
              <a:rPr sz="2250" b="0">
                <a:solidFill>
                  <a:srgbClr val="132D46"/>
                </a:solidFill>
                <a:latin typeface="Arial"/>
                <a:ea typeface="Arial"/>
                <a:cs typeface="Arial"/>
              </a:rPr>
              <a:t>CV AUC nhỉnh hơn, model ít cây hơn.</a:t>
            </a:r>
          </a:p>
          <a:p xmlns:a="http://schemas.openxmlformats.org/drawingml/2006/main">
            <a:pPr>
              <a:defRPr sz="2250" b="0">
                <a:solidFill>
                  <a:srgbClr val="132D46"/>
                </a:solidFill>
                <a:latin typeface="Arial"/>
                <a:ea typeface="Arial"/>
                <a:cs typeface="Arial"/>
              </a:defRPr>
            </a:pPr>
            <a:r>
              <a:rPr sz="2250" b="0">
                <a:solidFill>
                  <a:srgbClr val="132D46"/>
                </a:solidFill>
                <a:latin typeface="Arial"/>
                <a:ea typeface="Arial"/>
                <a:cs typeface="Arial"/>
              </a:rPr>
              <a:t>Test AUC tăng nhẹ; F1 và số mẫu sai không đổi.</a:t>
            </a:r>
          </a:p>
        </p:txBody>
      </p:sp>
      <p:sp>
        <p:nvSpPr>
          <p:cNvPr id="6" name="text">
            <a:extLst xmlns:a="http://schemas.openxmlformats.org/drawingml/2006/main">
              <a:ext uri="{FF2B5EF4-FFF2-40B4-BE49-F238E27FC236}">
                <a16:creationId xmlns:a16="http://schemas.microsoft.com/office/drawing/2014/main" id="{A6B16C90-8859-4A0A-9013-DF0F99613BEA}"/>
              </a:ext>
            </a:extLst>
          </p:cNvPr>
          <p:cNvSpPr>
            <a:spLocks xmlns:a="http://schemas.openxmlformats.org/drawingml/2006/main" noGrp="1"/>
          </p:cNvSpPr>
          <p:nvPr/>
        </p:nvSpPr>
        <p:spPr>
          <a:xfrm xmlns:a="http://schemas.openxmlformats.org/drawingml/2006/main">
            <a:off x="609600" y="37814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087E8B"/>
                </a:solidFill>
                <a:latin typeface="Arial"/>
                <a:ea typeface="Arial"/>
                <a:cs typeface="Arial"/>
              </a:defRPr>
            </a:defPPr>
            <a:lvl1pPr>
              <a:defRPr sz="2400" b="1">
                <a:solidFill>
                  <a:srgbClr val="087E8B"/>
                </a:solidFill>
                <a:latin typeface="Arial"/>
                <a:ea typeface="Arial"/>
                <a:cs typeface="Arial"/>
              </a:defRPr>
            </a:lvl1pPr>
            <a:lvl2pPr>
              <a:defRPr sz="2400" b="1">
                <a:solidFill>
                  <a:srgbClr val="087E8B"/>
                </a:solidFill>
                <a:latin typeface="Arial"/>
                <a:ea typeface="Arial"/>
                <a:cs typeface="Arial"/>
              </a:defRPr>
            </a:lvl2pPr>
            <a:lvl3pPr>
              <a:defRPr sz="2400" b="1">
                <a:solidFill>
                  <a:srgbClr val="087E8B"/>
                </a:solidFill>
                <a:latin typeface="Arial"/>
                <a:ea typeface="Arial"/>
                <a:cs typeface="Arial"/>
              </a:defRPr>
            </a:lvl3pPr>
            <a:lvl4pPr>
              <a:defRPr sz="2400" b="1">
                <a:solidFill>
                  <a:srgbClr val="087E8B"/>
                </a:solidFill>
                <a:latin typeface="Arial"/>
                <a:ea typeface="Arial"/>
                <a:cs typeface="Arial"/>
              </a:defRPr>
            </a:lvl4pPr>
            <a:lvl5pPr>
              <a:defRPr sz="2400" b="1">
                <a:solidFill>
                  <a:srgbClr val="087E8B"/>
                </a:solidFill>
                <a:latin typeface="Arial"/>
                <a:ea typeface="Arial"/>
                <a:cs typeface="Arial"/>
              </a:defRPr>
            </a:lvl5pPr>
            <a:lvl6pPr>
              <a:defRPr sz="2400" b="1">
                <a:solidFill>
                  <a:srgbClr val="087E8B"/>
                </a:solidFill>
                <a:latin typeface="Arial"/>
                <a:ea typeface="Arial"/>
                <a:cs typeface="Arial"/>
              </a:defRPr>
            </a:lvl6pPr>
            <a:lvl7pPr>
              <a:defRPr sz="2400" b="1">
                <a:solidFill>
                  <a:srgbClr val="087E8B"/>
                </a:solidFill>
                <a:latin typeface="Arial"/>
                <a:ea typeface="Arial"/>
                <a:cs typeface="Arial"/>
              </a:defRPr>
            </a:lvl7pPr>
            <a:lvl8pPr>
              <a:defRPr sz="2400" b="1">
                <a:solidFill>
                  <a:srgbClr val="087E8B"/>
                </a:solidFill>
                <a:latin typeface="Arial"/>
                <a:ea typeface="Arial"/>
                <a:cs typeface="Arial"/>
              </a:defRPr>
            </a:lvl8pPr>
            <a:lvl9pPr>
              <a:defRPr sz="2400" b="1">
                <a:solidFill>
                  <a:srgbClr val="087E8B"/>
                </a:solidFill>
                <a:latin typeface="Arial"/>
                <a:ea typeface="Arial"/>
                <a:cs typeface="Arial"/>
              </a:defRPr>
            </a:lvl9pPr>
          </a:lstStyle>
          <a:p xmlns:a="http://schemas.openxmlformats.org/drawingml/2006/main">
            <a:pPr>
              <a:defRPr sz="2400" b="1">
                <a:solidFill>
                  <a:srgbClr val="087E8B"/>
                </a:solidFill>
                <a:latin typeface="Arial"/>
                <a:ea typeface="Arial"/>
                <a:cs typeface="Arial"/>
              </a:defRPr>
            </a:pPr>
            <a:r>
              <a:rPr sz="2400" b="1">
                <a:solidFill>
                  <a:srgbClr val="087E8B"/>
                </a:solidFill>
                <a:latin typeface="Arial"/>
                <a:ea typeface="Arial"/>
                <a:cs typeface="Arial"/>
              </a:rPr>
              <a:t>Giới hạn</a:t>
            </a:r>
          </a:p>
        </p:txBody>
      </p:sp>
      <p:sp>
        <p:nvSpPr>
          <p:cNvPr id="7" name="text">
            <a:extLst xmlns:a="http://schemas.openxmlformats.org/drawingml/2006/main">
              <a:ext uri="{FF2B5EF4-FFF2-40B4-BE49-F238E27FC236}">
                <a16:creationId xmlns:a16="http://schemas.microsoft.com/office/drawing/2014/main" id="{AFED3D38-996B-44D4-A62E-B233ADCFDBB1}"/>
              </a:ext>
            </a:extLst>
          </p:cNvPr>
          <p:cNvSpPr>
            <a:spLocks xmlns:a="http://schemas.openxmlformats.org/drawingml/2006/main" noGrp="1"/>
          </p:cNvSpPr>
          <p:nvPr/>
        </p:nvSpPr>
        <p:spPr>
          <a:xfrm xmlns:a="http://schemas.openxmlformats.org/drawingml/2006/main">
            <a:off x="609600" y="4333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32D46"/>
                </a:solidFill>
                <a:latin typeface="Arial"/>
                <a:ea typeface="Arial"/>
                <a:cs typeface="Arial"/>
              </a:defRPr>
            </a:defPPr>
            <a:lvl1pPr>
              <a:defRPr sz="2175" b="0">
                <a:solidFill>
                  <a:srgbClr val="132D46"/>
                </a:solidFill>
                <a:latin typeface="Arial"/>
                <a:ea typeface="Arial"/>
                <a:cs typeface="Arial"/>
              </a:defRPr>
            </a:lvl1pPr>
            <a:lvl2pPr>
              <a:defRPr sz="2175" b="0">
                <a:solidFill>
                  <a:srgbClr val="132D46"/>
                </a:solidFill>
                <a:latin typeface="Arial"/>
                <a:ea typeface="Arial"/>
                <a:cs typeface="Arial"/>
              </a:defRPr>
            </a:lvl2pPr>
            <a:lvl3pPr>
              <a:defRPr sz="2175" b="0">
                <a:solidFill>
                  <a:srgbClr val="132D46"/>
                </a:solidFill>
                <a:latin typeface="Arial"/>
                <a:ea typeface="Arial"/>
                <a:cs typeface="Arial"/>
              </a:defRPr>
            </a:lvl3pPr>
            <a:lvl4pPr>
              <a:defRPr sz="2175" b="0">
                <a:solidFill>
                  <a:srgbClr val="132D46"/>
                </a:solidFill>
                <a:latin typeface="Arial"/>
                <a:ea typeface="Arial"/>
                <a:cs typeface="Arial"/>
              </a:defRPr>
            </a:lvl4pPr>
            <a:lvl5pPr>
              <a:defRPr sz="2175" b="0">
                <a:solidFill>
                  <a:srgbClr val="132D46"/>
                </a:solidFill>
                <a:latin typeface="Arial"/>
                <a:ea typeface="Arial"/>
                <a:cs typeface="Arial"/>
              </a:defRPr>
            </a:lvl5pPr>
            <a:lvl6pPr>
              <a:defRPr sz="2175" b="0">
                <a:solidFill>
                  <a:srgbClr val="132D46"/>
                </a:solidFill>
                <a:latin typeface="Arial"/>
                <a:ea typeface="Arial"/>
                <a:cs typeface="Arial"/>
              </a:defRPr>
            </a:lvl6pPr>
            <a:lvl7pPr>
              <a:defRPr sz="2175" b="0">
                <a:solidFill>
                  <a:srgbClr val="132D46"/>
                </a:solidFill>
                <a:latin typeface="Arial"/>
                <a:ea typeface="Arial"/>
                <a:cs typeface="Arial"/>
              </a:defRPr>
            </a:lvl7pPr>
            <a:lvl8pPr>
              <a:defRPr sz="2175" b="0">
                <a:solidFill>
                  <a:srgbClr val="132D46"/>
                </a:solidFill>
                <a:latin typeface="Arial"/>
                <a:ea typeface="Arial"/>
                <a:cs typeface="Arial"/>
              </a:defRPr>
            </a:lvl8pPr>
            <a:lvl9pPr>
              <a:defRPr sz="2175" b="0">
                <a:solidFill>
                  <a:srgbClr val="132D46"/>
                </a:solidFill>
                <a:latin typeface="Arial"/>
                <a:ea typeface="Arial"/>
                <a:cs typeface="Arial"/>
              </a:defRPr>
            </a:lvl9pPr>
          </a:lstStyle>
          <a:p xmlns:a="http://schemas.openxmlformats.org/drawingml/2006/main">
            <a:pPr>
              <a:defRPr sz="2175" b="0">
                <a:solidFill>
                  <a:srgbClr val="132D46"/>
                </a:solidFill>
                <a:latin typeface="Arial"/>
                <a:ea typeface="Arial"/>
                <a:cs typeface="Arial"/>
              </a:defRPr>
            </a:pPr>
            <a:r>
              <a:rPr sz="2175" b="0">
                <a:solidFill>
                  <a:srgbClr val="132D46"/>
                </a:solidFill>
                <a:latin typeface="Arial"/>
                <a:ea typeface="Arial"/>
                <a:cs typeface="Arial"/>
              </a:rPr>
              <a:t>Một dataset, một seed, holdout nhỏ và timing một lần.</a:t>
            </a:r>
          </a:p>
          <a:p xmlns:a="http://schemas.openxmlformats.org/drawingml/2006/main">
            <a:pPr>
              <a:defRPr sz="2175" b="0">
                <a:solidFill>
                  <a:srgbClr val="132D46"/>
                </a:solidFill>
                <a:latin typeface="Arial"/>
                <a:ea typeface="Arial"/>
                <a:cs typeface="Arial"/>
              </a:defRPr>
            </a:pPr>
            <a:r>
              <a:rPr sz="2175" b="0">
                <a:solidFill>
                  <a:srgbClr val="132D46"/>
                </a:solidFill>
                <a:latin typeface="Arial"/>
                <a:ea typeface="Arial"/>
                <a:cs typeface="Arial"/>
              </a:rPr>
              <a:t>Chưa chứng minh ưu thế thống kê hoặc ứng dụng lâm sàng.</a:t>
            </a:r>
          </a:p>
        </p:txBody>
      </p:sp>
      <p:sp>
        <p:nvSpPr>
          <p:cNvPr id="8" name="text">
            <a:extLst xmlns:a="http://schemas.openxmlformats.org/drawingml/2006/main">
              <a:ext uri="{FF2B5EF4-FFF2-40B4-BE49-F238E27FC236}">
                <a16:creationId xmlns:a16="http://schemas.microsoft.com/office/drawing/2014/main" id="{BAB181D0-569A-4F17-9248-39D6935896CB}"/>
              </a:ext>
            </a:extLst>
          </p:cNvPr>
          <p:cNvSpPr>
            <a:spLocks xmlns:a="http://schemas.openxmlformats.org/drawingml/2006/main" noGrp="1"/>
          </p:cNvSpPr>
          <p:nvPr/>
        </p:nvSpPr>
        <p:spPr>
          <a:xfrm xmlns:a="http://schemas.openxmlformats.org/drawingml/2006/main">
            <a:off x="609600" y="57435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32D46"/>
                </a:solidFill>
                <a:latin typeface="Arial"/>
                <a:ea typeface="Arial"/>
                <a:cs typeface="Arial"/>
              </a:defRPr>
            </a:defPPr>
            <a:lvl1pPr>
              <a:defRPr sz="1950" b="1">
                <a:solidFill>
                  <a:srgbClr val="132D46"/>
                </a:solidFill>
                <a:latin typeface="Arial"/>
                <a:ea typeface="Arial"/>
                <a:cs typeface="Arial"/>
              </a:defRPr>
            </a:lvl1pPr>
            <a:lvl2pPr>
              <a:defRPr sz="1950" b="1">
                <a:solidFill>
                  <a:srgbClr val="132D46"/>
                </a:solidFill>
                <a:latin typeface="Arial"/>
                <a:ea typeface="Arial"/>
                <a:cs typeface="Arial"/>
              </a:defRPr>
            </a:lvl2pPr>
            <a:lvl3pPr>
              <a:defRPr sz="1950" b="1">
                <a:solidFill>
                  <a:srgbClr val="132D46"/>
                </a:solidFill>
                <a:latin typeface="Arial"/>
                <a:ea typeface="Arial"/>
                <a:cs typeface="Arial"/>
              </a:defRPr>
            </a:lvl3pPr>
            <a:lvl4pPr>
              <a:defRPr sz="1950" b="1">
                <a:solidFill>
                  <a:srgbClr val="132D46"/>
                </a:solidFill>
                <a:latin typeface="Arial"/>
                <a:ea typeface="Arial"/>
                <a:cs typeface="Arial"/>
              </a:defRPr>
            </a:lvl4pPr>
            <a:lvl5pPr>
              <a:defRPr sz="1950" b="1">
                <a:solidFill>
                  <a:srgbClr val="132D46"/>
                </a:solidFill>
                <a:latin typeface="Arial"/>
                <a:ea typeface="Arial"/>
                <a:cs typeface="Arial"/>
              </a:defRPr>
            </a:lvl5pPr>
            <a:lvl6pPr>
              <a:defRPr sz="1950" b="1">
                <a:solidFill>
                  <a:srgbClr val="132D46"/>
                </a:solidFill>
                <a:latin typeface="Arial"/>
                <a:ea typeface="Arial"/>
                <a:cs typeface="Arial"/>
              </a:defRPr>
            </a:lvl6pPr>
            <a:lvl7pPr>
              <a:defRPr sz="1950" b="1">
                <a:solidFill>
                  <a:srgbClr val="132D46"/>
                </a:solidFill>
                <a:latin typeface="Arial"/>
                <a:ea typeface="Arial"/>
                <a:cs typeface="Arial"/>
              </a:defRPr>
            </a:lvl7pPr>
            <a:lvl8pPr>
              <a:defRPr sz="1950" b="1">
                <a:solidFill>
                  <a:srgbClr val="132D46"/>
                </a:solidFill>
                <a:latin typeface="Arial"/>
                <a:ea typeface="Arial"/>
                <a:cs typeface="Arial"/>
              </a:defRPr>
            </a:lvl8pPr>
            <a:lvl9pPr>
              <a:defRPr sz="1950" b="1">
                <a:solidFill>
                  <a:srgbClr val="132D46"/>
                </a:solidFill>
                <a:latin typeface="Arial"/>
                <a:ea typeface="Arial"/>
                <a:cs typeface="Arial"/>
              </a:defRPr>
            </a:lvl9pPr>
          </a:lstStyle>
          <a:p xmlns:a="http://schemas.openxmlformats.org/drawingml/2006/main">
            <a:pPr>
              <a:defRPr sz="1950" b="1">
                <a:solidFill>
                  <a:srgbClr val="132D46"/>
                </a:solidFill>
                <a:latin typeface="Arial"/>
                <a:ea typeface="Arial"/>
                <a:cs typeface="Arial"/>
              </a:defRPr>
            </a:pPr>
            <a:r>
              <a:rPr sz="1950" b="1">
                <a:solidFill>
                  <a:srgbClr val="132D46"/>
                </a:solidFill>
                <a:latin typeface="Arial"/>
                <a:ea typeface="Arial"/>
                <a:cs typeface="Arial"/>
              </a:rPr>
              <a:t>Demo tiếp theo   Smoke 3 trials, đọc log và sinh lại hình.</a:t>
            </a:r>
          </a:p>
        </p:txBody>
      </p:sp>
    </p:spTree>
    <p:extLst>
      <p:ext uri="{BB962C8B-B14F-4D97-AF65-F5344CB8AC3E}">
        <p14:creationId xmlns:p14="http://schemas.microsoft.com/office/powerpoint/2010/main" val="19070093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2026-10-30T00:00:55.1000000Z</dcterms:created>
  <dcterms:modified xsi:type="dcterms:W3CDTF">2026-10-30T00:00:55.1000000Z</dcterms:modified>
</coreProperties>
</file>